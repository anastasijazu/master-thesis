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06" r:id="rId2"/>
  </p:sldMasterIdLst>
  <p:notesMasterIdLst>
    <p:notesMasterId r:id="rId25"/>
  </p:notesMasterIdLst>
  <p:sldIdLst>
    <p:sldId id="257" r:id="rId3"/>
    <p:sldId id="262" r:id="rId4"/>
    <p:sldId id="266" r:id="rId5"/>
    <p:sldId id="267" r:id="rId6"/>
    <p:sldId id="268" r:id="rId7"/>
    <p:sldId id="271" r:id="rId8"/>
    <p:sldId id="272" r:id="rId9"/>
    <p:sldId id="298" r:id="rId10"/>
    <p:sldId id="273" r:id="rId11"/>
    <p:sldId id="289" r:id="rId12"/>
    <p:sldId id="284" r:id="rId13"/>
    <p:sldId id="283" r:id="rId14"/>
    <p:sldId id="275" r:id="rId15"/>
    <p:sldId id="285" r:id="rId16"/>
    <p:sldId id="294" r:id="rId17"/>
    <p:sldId id="291" r:id="rId18"/>
    <p:sldId id="293" r:id="rId19"/>
    <p:sldId id="296" r:id="rId20"/>
    <p:sldId id="278" r:id="rId21"/>
    <p:sldId id="279" r:id="rId22"/>
    <p:sldId id="297" r:id="rId23"/>
    <p:sldId id="28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3C7"/>
    <a:srgbClr val="6DA8DE"/>
    <a:srgbClr val="214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01" autoAdjust="0"/>
    <p:restoredTop sz="86612"/>
  </p:normalViewPr>
  <p:slideViewPr>
    <p:cSldViewPr snapToGrid="0">
      <p:cViewPr>
        <p:scale>
          <a:sx n="112" d="100"/>
          <a:sy n="112" d="100"/>
        </p:scale>
        <p:origin x="472" y="160"/>
      </p:cViewPr>
      <p:guideLst/>
    </p:cSldViewPr>
  </p:slideViewPr>
  <p:notesTextViewPr>
    <p:cViewPr>
      <p:scale>
        <a:sx n="1" d="1"/>
        <a:sy n="1" d="1"/>
      </p:scale>
      <p:origin x="0" y="0"/>
    </p:cViewPr>
  </p:notesTextViewPr>
  <p:notesViewPr>
    <p:cSldViewPr snapToGrid="0">
      <p:cViewPr varScale="1">
        <p:scale>
          <a:sx n="85" d="100"/>
          <a:sy n="85"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6513B-EBB8-49B6-BD8F-2652FE9ECEC6}" type="datetimeFigureOut">
              <a:rPr lang="en-GB" smtClean="0"/>
              <a:t>11/05/2026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6BB30-4C71-4D09-933A-B2F84F8C947D}" type="slidenum">
              <a:rPr lang="en-GB" smtClean="0"/>
              <a:t>‹#›</a:t>
            </a:fld>
            <a:endParaRPr lang="en-GB"/>
          </a:p>
        </p:txBody>
      </p:sp>
    </p:spTree>
    <p:extLst>
      <p:ext uri="{BB962C8B-B14F-4D97-AF65-F5344CB8AC3E}">
        <p14:creationId xmlns:p14="http://schemas.microsoft.com/office/powerpoint/2010/main" val="2166572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a:t>
            </a:fld>
            <a:endParaRPr lang="en-GB"/>
          </a:p>
        </p:txBody>
      </p:sp>
    </p:spTree>
    <p:extLst>
      <p:ext uri="{BB962C8B-B14F-4D97-AF65-F5344CB8AC3E}">
        <p14:creationId xmlns:p14="http://schemas.microsoft.com/office/powerpoint/2010/main" val="347575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Cooling is necessary in telecom central offices, but it is also an operational energy burden. At the same time, existing telecom analytics are much stronger in monitoring and diagnosis than in actual control-oriented decision support. This creates the motivation for the thesis: if cooling can be controlled more intelligently, efficiency may improve without compromising safety, but a realistic framework is needed because the available telemetry does not support full advanced control directly.</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3</a:t>
            </a:fld>
            <a:endParaRPr lang="en-GB"/>
          </a:p>
        </p:txBody>
      </p:sp>
    </p:spTree>
    <p:extLst>
      <p:ext uri="{BB962C8B-B14F-4D97-AF65-F5344CB8AC3E}">
        <p14:creationId xmlns:p14="http://schemas.microsoft.com/office/powerpoint/2010/main" val="4103691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literature shows an imbalance. In telecom environments, existing studies are relatively strong in monitoring, KPI design, and diagnostic analysis, but they are much weaker in control-oriented evaluation. At the same time, broader forecasting and advanced-control literature provides useful methodological ideas, yet these studies often assume richer state feedback, ready-made targets, or deployable control variables than are available in real telecom practice. This creates the central research gap of the thesis: there is still no integrated telecom-specific framework that links fragmented telemetry, expected-demand benchmarking, and context-aware intelligent cooling control under real operational constraints.</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4</a:t>
            </a:fld>
            <a:endParaRPr lang="en-GB"/>
          </a:p>
        </p:txBody>
      </p:sp>
    </p:spTree>
    <p:extLst>
      <p:ext uri="{BB962C8B-B14F-4D97-AF65-F5344CB8AC3E}">
        <p14:creationId xmlns:p14="http://schemas.microsoft.com/office/powerpoint/2010/main" val="24548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V" sz="1200" b="1" kern="1200" dirty="0">
                <a:solidFill>
                  <a:schemeClr val="tx1"/>
                </a:solidFill>
                <a:effectLst/>
                <a:latin typeface="+mn-lt"/>
                <a:ea typeface="+mn-ea"/>
                <a:cs typeface="+mn-cs"/>
              </a:rPr>
              <a:t>The aim of the thesis</a:t>
            </a:r>
            <a:r>
              <a:rPr lang="en-LV" sz="1200" kern="1200" dirty="0">
                <a:solidFill>
                  <a:schemeClr val="tx1"/>
                </a:solidFill>
                <a:effectLst/>
                <a:latin typeface="+mn-lt"/>
                <a:ea typeface="+mn-ea"/>
                <a:cs typeface="+mn-cs"/>
              </a:rPr>
              <a:t> is to develop predictive models for cooling energy use and evaluate intelligent control strategies based on real monitoring data from telecom central office environments. This aim is pursued through hourly target engineering from fragmented telemetry, short-term forecasting, benchmark-based assessment of actual versus expected cooling demand, and simulation of forecast-informed intelligent control strategies.</a:t>
            </a:r>
          </a:p>
          <a:p>
            <a:r>
              <a:rPr lang="en-LV" sz="1200" kern="1200" dirty="0">
                <a:solidFill>
                  <a:schemeClr val="tx1"/>
                </a:solidFill>
                <a:effectLst/>
                <a:latin typeface="+mn-lt"/>
                <a:ea typeface="+mn-ea"/>
                <a:cs typeface="+mn-cs"/>
              </a:rPr>
              <a:t>To achieve this aim, the thesis solves the following </a:t>
            </a:r>
            <a:r>
              <a:rPr lang="en-LV" sz="1200" b="1" kern="1200" dirty="0">
                <a:solidFill>
                  <a:schemeClr val="tx1"/>
                </a:solidFill>
                <a:effectLst/>
                <a:latin typeface="+mn-lt"/>
                <a:ea typeface="+mn-ea"/>
                <a:cs typeface="+mn-cs"/>
              </a:rPr>
              <a:t>research tasks</a:t>
            </a:r>
            <a:r>
              <a:rPr lang="en-LV" sz="1200" kern="1200" dirty="0">
                <a:solidFill>
                  <a:schemeClr val="tx1"/>
                </a:solidFill>
                <a:effectLst/>
                <a:latin typeface="+mn-lt"/>
                <a:ea typeface="+mn-ea"/>
                <a:cs typeface="+mn-cs"/>
              </a:rPr>
              <a:t>:</a:t>
            </a:r>
          </a:p>
          <a:p>
            <a:pPr lvl="0"/>
            <a:r>
              <a:rPr lang="en-LV" sz="1200" kern="1200" dirty="0">
                <a:solidFill>
                  <a:schemeClr val="tx1"/>
                </a:solidFill>
                <a:effectLst/>
                <a:latin typeface="+mn-lt"/>
                <a:ea typeface="+mn-ea"/>
                <a:cs typeface="+mn-cs"/>
              </a:rPr>
              <a:t>To conduct a literature review on predictive modelling, benchmark-based evaluation, and intelligent control strategies for cooling systems.</a:t>
            </a:r>
          </a:p>
          <a:p>
            <a:pPr lvl="0"/>
            <a:r>
              <a:rPr lang="en-LV" sz="1200" kern="1200" dirty="0">
                <a:solidFill>
                  <a:schemeClr val="tx1"/>
                </a:solidFill>
                <a:effectLst/>
                <a:latin typeface="+mn-lt"/>
                <a:ea typeface="+mn-ea"/>
                <a:cs typeface="+mn-cs"/>
              </a:rPr>
              <a:t>To explore, preprocess, and analyse real operational and environmental data, and to engineer an hourly cooling-demand target and analytical dataset from fragmented site telemetry. </a:t>
            </a:r>
          </a:p>
          <a:p>
            <a:pPr lvl="0"/>
            <a:r>
              <a:rPr lang="en-LV" sz="1200" kern="1200" dirty="0">
                <a:solidFill>
                  <a:schemeClr val="tx1"/>
                </a:solidFill>
                <a:effectLst/>
                <a:latin typeface="+mn-lt"/>
                <a:ea typeface="+mn-ea"/>
                <a:cs typeface="+mn-cs"/>
              </a:rPr>
              <a:t>To develop and compare short-term forecasting models for cooling energy use. </a:t>
            </a:r>
          </a:p>
          <a:p>
            <a:pPr lvl="0"/>
            <a:r>
              <a:rPr lang="en-LV" sz="1200" kern="1200" dirty="0">
                <a:solidFill>
                  <a:schemeClr val="tx1"/>
                </a:solidFill>
                <a:effectLst/>
                <a:latin typeface="+mn-lt"/>
                <a:ea typeface="+mn-ea"/>
                <a:cs typeface="+mn-cs"/>
              </a:rPr>
              <a:t>To analyse actual versus expected cooling demand using the selected forecasting model as a benchmark. </a:t>
            </a:r>
          </a:p>
          <a:p>
            <a:pPr lvl="0"/>
            <a:r>
              <a:rPr lang="en-LV" sz="1200" kern="1200" dirty="0">
                <a:solidFill>
                  <a:schemeClr val="tx1"/>
                </a:solidFill>
                <a:effectLst/>
                <a:latin typeface="+mn-lt"/>
                <a:ea typeface="+mn-ea"/>
                <a:cs typeface="+mn-cs"/>
              </a:rPr>
              <a:t>To design, simulate, and evaluate forecast-informed intelligent control strategies against historical operation.</a:t>
            </a:r>
            <a:r>
              <a:rPr lang="en-LV" sz="1200" b="1" kern="1200" dirty="0">
                <a:solidFill>
                  <a:schemeClr val="tx1"/>
                </a:solidFill>
                <a:effectLst/>
                <a:latin typeface="+mn-lt"/>
                <a:ea typeface="+mn-ea"/>
                <a:cs typeface="+mn-cs"/>
              </a:rPr>
              <a:t> </a:t>
            </a:r>
            <a:endParaRPr lang="en-LV"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LV" sz="1200" kern="1200" dirty="0">
              <a:solidFill>
                <a:schemeClr val="tx1"/>
              </a:solidFill>
              <a:effectLst/>
              <a:latin typeface="+mn-lt"/>
              <a:ea typeface="+mn-ea"/>
              <a:cs typeface="+mn-cs"/>
            </a:endParaRPr>
          </a:p>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5</a:t>
            </a:fld>
            <a:endParaRPr lang="en-GB"/>
          </a:p>
        </p:txBody>
      </p:sp>
    </p:spTree>
    <p:extLst>
      <p:ext uri="{BB962C8B-B14F-4D97-AF65-F5344CB8AC3E}">
        <p14:creationId xmlns:p14="http://schemas.microsoft.com/office/powerpoint/2010/main" val="357570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7</a:t>
            </a:fld>
            <a:endParaRPr lang="en-GB"/>
          </a:p>
        </p:txBody>
      </p:sp>
    </p:spTree>
    <p:extLst>
      <p:ext uri="{BB962C8B-B14F-4D97-AF65-F5344CB8AC3E}">
        <p14:creationId xmlns:p14="http://schemas.microsoft.com/office/powerpoint/2010/main" val="2679902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EF91-FC72-172F-F7DD-5EACC0BA8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772F7-1F61-93CC-58B8-9A7F91F46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216A9-5F15-11A7-55E7-125CD36C882A}"/>
              </a:ext>
            </a:extLst>
          </p:cNvPr>
          <p:cNvSpPr>
            <a:spLocks noGrp="1"/>
          </p:cNvSpPr>
          <p:nvPr>
            <p:ph type="body" idx="1"/>
          </p:nvPr>
        </p:nvSpPr>
        <p:spPr/>
        <p:txBody>
          <a:bodyPr/>
          <a:lstStyle/>
          <a:p>
            <a:endParaRPr lang="en-LV" dirty="0"/>
          </a:p>
        </p:txBody>
      </p:sp>
      <p:sp>
        <p:nvSpPr>
          <p:cNvPr id="4" name="Slide Number Placeholder 3">
            <a:extLst>
              <a:ext uri="{FF2B5EF4-FFF2-40B4-BE49-F238E27FC236}">
                <a16:creationId xmlns:a16="http://schemas.microsoft.com/office/drawing/2014/main" id="{FA855419-C6C3-9786-8ED5-8A22B2CC0F7E}"/>
              </a:ext>
            </a:extLst>
          </p:cNvPr>
          <p:cNvSpPr>
            <a:spLocks noGrp="1"/>
          </p:cNvSpPr>
          <p:nvPr>
            <p:ph type="sldNum" sz="quarter" idx="5"/>
          </p:nvPr>
        </p:nvSpPr>
        <p:spPr/>
        <p:txBody>
          <a:bodyPr/>
          <a:lstStyle/>
          <a:p>
            <a:fld id="{0136BB30-4C71-4D09-933A-B2F84F8C947D}" type="slidenum">
              <a:rPr lang="en-GB" smtClean="0"/>
              <a:t>8</a:t>
            </a:fld>
            <a:endParaRPr lang="en-GB"/>
          </a:p>
        </p:txBody>
      </p:sp>
    </p:spTree>
    <p:extLst>
      <p:ext uri="{BB962C8B-B14F-4D97-AF65-F5344CB8AC3E}">
        <p14:creationId xmlns:p14="http://schemas.microsoft.com/office/powerpoint/2010/main" val="40603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figure shows the overall logic of the thesis. Starting from the research problem and literature review, the study moves through three linked phases. First, I prepare the data by selecting the site, screening the signals, and engineering an hourly cooling-demand target from fragmented telemetry. Second, I compare forecasting models and select a defensible expected-demand benchmark. Third, I use that benchmark for expected-versus-actual assessment and for forecast-informed supervisory control simulation. The study remains methodologically bounded: it is retrospective, single-site, and based on historical telemetry, without actuator-level deployment or full MPC. The main contribution is therefore not one model in isolation, but an integrated analytical framework for telecom cooling analytics.</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9</a:t>
            </a:fld>
            <a:endParaRPr lang="en-GB"/>
          </a:p>
        </p:txBody>
      </p:sp>
    </p:spTree>
    <p:extLst>
      <p:ext uri="{BB962C8B-B14F-4D97-AF65-F5344CB8AC3E}">
        <p14:creationId xmlns:p14="http://schemas.microsoft.com/office/powerpoint/2010/main" val="1955850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391D-E001-7496-4A06-96616F3D0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152C2-D239-025B-7002-4D95E1C2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E3747-6089-C99A-CBEF-CA8D5C959309}"/>
              </a:ext>
            </a:extLst>
          </p:cNvPr>
          <p:cNvSpPr>
            <a:spLocks noGrp="1"/>
          </p:cNvSpPr>
          <p:nvPr>
            <p:ph type="body" idx="1"/>
          </p:nvPr>
        </p:nvSpPr>
        <p:spPr/>
        <p:txBody>
          <a:bodyPr/>
          <a:lstStyle/>
          <a:p>
            <a:r>
              <a:rPr lang="en-GB" dirty="0"/>
              <a:t>“This slide summarizes how supervisory control was designed in the study. First, I defined the control context using load proxy 179 and a thermal-context score, and then applied K-means clustering to identify recurring operating modes, which were interpreted as low-, medium-, and high-risk contexts. Second, these operating states were embedded into a rule-based supervisory workflow, where forecast residuals were filtered by season, persistence, and risk eligibility before any bounded control action was simulated.”</a:t>
            </a:r>
            <a:endParaRPr lang="en-LV" dirty="0"/>
          </a:p>
        </p:txBody>
      </p:sp>
      <p:sp>
        <p:nvSpPr>
          <p:cNvPr id="4" name="Slide Number Placeholder 3">
            <a:extLst>
              <a:ext uri="{FF2B5EF4-FFF2-40B4-BE49-F238E27FC236}">
                <a16:creationId xmlns:a16="http://schemas.microsoft.com/office/drawing/2014/main" id="{C4670222-8A2D-B6FE-45C3-E76CCA60E4FF}"/>
              </a:ext>
            </a:extLst>
          </p:cNvPr>
          <p:cNvSpPr>
            <a:spLocks noGrp="1"/>
          </p:cNvSpPr>
          <p:nvPr>
            <p:ph type="sldNum" sz="quarter" idx="5"/>
          </p:nvPr>
        </p:nvSpPr>
        <p:spPr/>
        <p:txBody>
          <a:bodyPr/>
          <a:lstStyle/>
          <a:p>
            <a:fld id="{0136BB30-4C71-4D09-933A-B2F84F8C947D}" type="slidenum">
              <a:rPr lang="en-GB" smtClean="0"/>
              <a:t>10</a:t>
            </a:fld>
            <a:endParaRPr lang="en-GB"/>
          </a:p>
        </p:txBody>
      </p:sp>
    </p:spTree>
    <p:extLst>
      <p:ext uri="{BB962C8B-B14F-4D97-AF65-F5344CB8AC3E}">
        <p14:creationId xmlns:p14="http://schemas.microsoft.com/office/powerpoint/2010/main" val="407350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empirical basis of the study. The analysis did not start from one ready-made modelling dataset. Instead, it started from read-only access to a reporting database that had to be explored and structured programmatically.”</a:t>
            </a:r>
          </a:p>
          <a:p>
            <a:r>
              <a:rPr lang="en-GB" dirty="0"/>
              <a:t>“The source environment consisted of three main parts. First, there was site-level and support information describing monitored sites and their reporting context. Second, there was signal metadata, which provided signal identifiers, descriptions, and measuring-point mappings. Third, there were timestamped measurement tables containing operational telemetry across sites.”</a:t>
            </a:r>
          </a:p>
          <a:p>
            <a:r>
              <a:rPr lang="en-GB" dirty="0"/>
              <a:t>“These layers had to be linked before any modelling could begin. On that basis, I applied a metadata-first screening procedure to identify candidate sites and score them by cooling- and energy-relevant signal richness.”</a:t>
            </a:r>
          </a:p>
          <a:p>
            <a:r>
              <a:rPr lang="en-GB" dirty="0"/>
              <a:t>“The result of this stage was a structured understanding of the source environment and the selection of one case-study site with sufficiently rich telemetry for target engineering, forecasting, and later benchmark-based analysis.”</a:t>
            </a:r>
          </a:p>
        </p:txBody>
      </p:sp>
      <p:sp>
        <p:nvSpPr>
          <p:cNvPr id="4" name="Slide Number Placeholder 3"/>
          <p:cNvSpPr>
            <a:spLocks noGrp="1"/>
          </p:cNvSpPr>
          <p:nvPr>
            <p:ph type="sldNum" sz="quarter" idx="5"/>
          </p:nvPr>
        </p:nvSpPr>
        <p:spPr/>
        <p:txBody>
          <a:bodyPr/>
          <a:lstStyle/>
          <a:p>
            <a:fld id="{0136BB30-4C71-4D09-933A-B2F84F8C947D}" type="slidenum">
              <a:rPr lang="en-GB" smtClean="0"/>
              <a:t>11</a:t>
            </a:fld>
            <a:endParaRPr lang="en-GB"/>
          </a:p>
        </p:txBody>
      </p:sp>
    </p:spTree>
    <p:extLst>
      <p:ext uri="{BB962C8B-B14F-4D97-AF65-F5344CB8AC3E}">
        <p14:creationId xmlns:p14="http://schemas.microsoft.com/office/powerpoint/2010/main" val="153090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restricted the analysis to calendar year 2025 because it provided the most complete and internally coherent annual window. The heatmap shows that 2025 was effectively complete, with only one moderate dip to 94 percent in August, whereas 2024 had clear disruptions and 2026 was still partial. This made 2025 the strongest basis for target engineering, forecasting validation, and benchmark-based analysis.”</a:t>
            </a:r>
          </a:p>
        </p:txBody>
      </p:sp>
      <p:sp>
        <p:nvSpPr>
          <p:cNvPr id="4" name="Slide Number Placeholder 3"/>
          <p:cNvSpPr>
            <a:spLocks noGrp="1"/>
          </p:cNvSpPr>
          <p:nvPr>
            <p:ph type="sldNum" sz="quarter" idx="5"/>
          </p:nvPr>
        </p:nvSpPr>
        <p:spPr/>
        <p:txBody>
          <a:bodyPr/>
          <a:lstStyle/>
          <a:p>
            <a:fld id="{0136BB30-4C71-4D09-933A-B2F84F8C947D}" type="slidenum">
              <a:rPr lang="en-GB" smtClean="0"/>
              <a:t>12</a:t>
            </a:fld>
            <a:endParaRPr lang="en-GB"/>
          </a:p>
        </p:txBody>
      </p:sp>
    </p:spTree>
    <p:extLst>
      <p:ext uri="{BB962C8B-B14F-4D97-AF65-F5344CB8AC3E}">
        <p14:creationId xmlns:p14="http://schemas.microsoft.com/office/powerpoint/2010/main" val="1118617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I had to engineer the target, because cooling demand was not directly available as a ready hourly variable. I shortlisted plausible cumulative cooling-related signals and retained 120, 230, 46, 49, and 78 because they jointly showed clear cooling semantics, strong hourly usability, non-trivial variability, coherent co-movement, and the most interpretable core cooling-distribution role.”</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13</a:t>
            </a:fld>
            <a:endParaRPr lang="en-GB"/>
          </a:p>
        </p:txBody>
      </p:sp>
    </p:spTree>
    <p:extLst>
      <p:ext uri="{BB962C8B-B14F-4D97-AF65-F5344CB8AC3E}">
        <p14:creationId xmlns:p14="http://schemas.microsoft.com/office/powerpoint/2010/main" val="4114134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AA9-EF24-9C0F-CFA2-6C5B1760C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003DF-0360-DCCB-E6F1-C76C6D7F5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96BBD-519F-D268-45BE-FDB746369FB2}"/>
              </a:ext>
            </a:extLst>
          </p:cNvPr>
          <p:cNvSpPr>
            <a:spLocks noGrp="1"/>
          </p:cNvSpPr>
          <p:nvPr>
            <p:ph type="body" idx="1"/>
          </p:nvPr>
        </p:nvSpPr>
        <p:spPr/>
        <p:txBody>
          <a:bodyPr/>
          <a:lstStyle/>
          <a:p>
            <a:r>
              <a:rPr lang="en-GB" dirty="0"/>
              <a:t>“Forecasting was evaluated under both chronological and rolling-origin validation. The final selection was based on pooled rolling-origin RMSE, where Gradient Boosting with lagged target features performed best overall, with Random Forest remaining very close. The final benchmark then achieved MAE 115.06, RMSE 161.79, CVRMSE 4.79 percent, and R-squared 0.9855.”</a:t>
            </a:r>
            <a:endParaRPr lang="en-LV" dirty="0"/>
          </a:p>
        </p:txBody>
      </p:sp>
      <p:sp>
        <p:nvSpPr>
          <p:cNvPr id="4" name="Slide Number Placeholder 3">
            <a:extLst>
              <a:ext uri="{FF2B5EF4-FFF2-40B4-BE49-F238E27FC236}">
                <a16:creationId xmlns:a16="http://schemas.microsoft.com/office/drawing/2014/main" id="{9FF83016-D7AA-A7E0-E7F7-245F335D6A49}"/>
              </a:ext>
            </a:extLst>
          </p:cNvPr>
          <p:cNvSpPr>
            <a:spLocks noGrp="1"/>
          </p:cNvSpPr>
          <p:nvPr>
            <p:ph type="sldNum" sz="quarter" idx="5"/>
          </p:nvPr>
        </p:nvSpPr>
        <p:spPr/>
        <p:txBody>
          <a:bodyPr/>
          <a:lstStyle/>
          <a:p>
            <a:fld id="{0136BB30-4C71-4D09-933A-B2F84F8C947D}" type="slidenum">
              <a:rPr lang="en-GB" smtClean="0"/>
              <a:t>14</a:t>
            </a:fld>
            <a:endParaRPr lang="en-GB"/>
          </a:p>
        </p:txBody>
      </p:sp>
    </p:spTree>
    <p:extLst>
      <p:ext uri="{BB962C8B-B14F-4D97-AF65-F5344CB8AC3E}">
        <p14:creationId xmlns:p14="http://schemas.microsoft.com/office/powerpoint/2010/main" val="3450309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0FB0-3B4B-9839-0B2C-743B3B1A8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9B98B-C2CE-7F2D-9B9A-C714B6F92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14F53-ABB5-CB29-87B6-CC3F7A6BBC56}"/>
              </a:ext>
            </a:extLst>
          </p:cNvPr>
          <p:cNvSpPr>
            <a:spLocks noGrp="1"/>
          </p:cNvSpPr>
          <p:nvPr>
            <p:ph type="body" idx="1"/>
          </p:nvPr>
        </p:nvSpPr>
        <p:spPr/>
        <p:txBody>
          <a:bodyPr/>
          <a:lstStyle/>
          <a:p>
            <a:r>
              <a:rPr lang="en-GB" dirty="0"/>
              <a:t>“This slide presents the main forecasting result. Under rolling-origin validation, Gradient Boosting with lagged target features achieved the best overall RMSE and was therefore selected as the final benchmark model. Random Forest remained very close, while naive persistence was still a strong baseline, which confirms that the process is strongly persistence-driven. The final selected benchmark then achieved MAE 115.06, RMSE 161.79, and R-squared 0.9855, which is strong enough to support expected-demand benchmarking rather than prediction alone.”</a:t>
            </a:r>
            <a:endParaRPr lang="en-LV" dirty="0"/>
          </a:p>
        </p:txBody>
      </p:sp>
      <p:sp>
        <p:nvSpPr>
          <p:cNvPr id="4" name="Slide Number Placeholder 3">
            <a:extLst>
              <a:ext uri="{FF2B5EF4-FFF2-40B4-BE49-F238E27FC236}">
                <a16:creationId xmlns:a16="http://schemas.microsoft.com/office/drawing/2014/main" id="{8454DD90-6AE3-BEFB-B061-7853D50F9AC8}"/>
              </a:ext>
            </a:extLst>
          </p:cNvPr>
          <p:cNvSpPr>
            <a:spLocks noGrp="1"/>
          </p:cNvSpPr>
          <p:nvPr>
            <p:ph type="sldNum" sz="quarter" idx="5"/>
          </p:nvPr>
        </p:nvSpPr>
        <p:spPr/>
        <p:txBody>
          <a:bodyPr/>
          <a:lstStyle/>
          <a:p>
            <a:fld id="{0136BB30-4C71-4D09-933A-B2F84F8C947D}" type="slidenum">
              <a:rPr lang="en-GB" smtClean="0"/>
              <a:t>15</a:t>
            </a:fld>
            <a:endParaRPr lang="en-GB"/>
          </a:p>
        </p:txBody>
      </p:sp>
    </p:spTree>
    <p:extLst>
      <p:ext uri="{BB962C8B-B14F-4D97-AF65-F5344CB8AC3E}">
        <p14:creationId xmlns:p14="http://schemas.microsoft.com/office/powerpoint/2010/main" val="1400480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BF61-57D1-8FF8-34E3-CF8A7743C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5E8E8-5A7E-5859-78D9-B7499CEE5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DC26B-C682-CE1A-6B70-574E215A0F9F}"/>
              </a:ext>
            </a:extLst>
          </p:cNvPr>
          <p:cNvSpPr>
            <a:spLocks noGrp="1"/>
          </p:cNvSpPr>
          <p:nvPr>
            <p:ph type="body" idx="1"/>
          </p:nvPr>
        </p:nvSpPr>
        <p:spPr/>
        <p:txBody>
          <a:bodyPr/>
          <a:lstStyle/>
          <a:p>
            <a:r>
              <a:rPr lang="en-GB" dirty="0"/>
              <a:t>“This slide presents the main forecasting result. Under rolling-origin validation, Gradient Boosting with lagged target features achieved the best overall RMSE and was therefore selected as the final benchmark model. Random Forest remained very close, while naive persistence was still a strong baseline, which confirms that the process is strongly persistence-driven. The final selected benchmark then achieved MAE 115.06, RMSE 161.79, and R-squared 0.9855, which is strong enough to support expected-demand benchmarking rather than prediction alone.”</a:t>
            </a:r>
            <a:endParaRPr lang="en-LV" dirty="0"/>
          </a:p>
        </p:txBody>
      </p:sp>
      <p:sp>
        <p:nvSpPr>
          <p:cNvPr id="4" name="Slide Number Placeholder 3">
            <a:extLst>
              <a:ext uri="{FF2B5EF4-FFF2-40B4-BE49-F238E27FC236}">
                <a16:creationId xmlns:a16="http://schemas.microsoft.com/office/drawing/2014/main" id="{FD40D869-6DC2-C800-57B8-95B5FE2ED8B0}"/>
              </a:ext>
            </a:extLst>
          </p:cNvPr>
          <p:cNvSpPr>
            <a:spLocks noGrp="1"/>
          </p:cNvSpPr>
          <p:nvPr>
            <p:ph type="sldNum" sz="quarter" idx="5"/>
          </p:nvPr>
        </p:nvSpPr>
        <p:spPr/>
        <p:txBody>
          <a:bodyPr/>
          <a:lstStyle/>
          <a:p>
            <a:fld id="{0136BB30-4C71-4D09-933A-B2F84F8C947D}" type="slidenum">
              <a:rPr lang="en-GB" smtClean="0"/>
              <a:t>16</a:t>
            </a:fld>
            <a:endParaRPr lang="en-GB"/>
          </a:p>
        </p:txBody>
      </p:sp>
    </p:spTree>
    <p:extLst>
      <p:ext uri="{BB962C8B-B14F-4D97-AF65-F5344CB8AC3E}">
        <p14:creationId xmlns:p14="http://schemas.microsoft.com/office/powerpoint/2010/main" val="3104034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FEB13-87F2-1ABC-0E82-BBE7DD260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4D6E-17AB-68F7-DD63-37AB57CBD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58F55-DF04-F17A-6AC7-A5E9DEEF54FE}"/>
              </a:ext>
            </a:extLst>
          </p:cNvPr>
          <p:cNvSpPr>
            <a:spLocks noGrp="1"/>
          </p:cNvSpPr>
          <p:nvPr>
            <p:ph type="body" idx="1"/>
          </p:nvPr>
        </p:nvSpPr>
        <p:spPr/>
        <p:txBody>
          <a:bodyPr/>
          <a:lstStyle/>
          <a:p>
            <a:r>
              <a:rPr lang="en-GB" dirty="0"/>
              <a:t>“The final result concerns forecast-informed control simulation. Once the benchmark residuals are filtered through conservative supervisory rules, the candidate set shrinks sharply from all warm-season hours to only 38 control-eligible hours. The strategy hierarchy is also clear: S1 is broader, S2 is stricter, and S3 is the most selective and context-aware. So the thesis does identify intervention opportunities, but they are small, bounded, and operationally conservative rather than large reducible waste.”</a:t>
            </a:r>
            <a:endParaRPr lang="en-LV" dirty="0"/>
          </a:p>
        </p:txBody>
      </p:sp>
      <p:sp>
        <p:nvSpPr>
          <p:cNvPr id="4" name="Slide Number Placeholder 3">
            <a:extLst>
              <a:ext uri="{FF2B5EF4-FFF2-40B4-BE49-F238E27FC236}">
                <a16:creationId xmlns:a16="http://schemas.microsoft.com/office/drawing/2014/main" id="{982CC219-74B5-00B1-7314-D14BACC0B2A0}"/>
              </a:ext>
            </a:extLst>
          </p:cNvPr>
          <p:cNvSpPr>
            <a:spLocks noGrp="1"/>
          </p:cNvSpPr>
          <p:nvPr>
            <p:ph type="sldNum" sz="quarter" idx="5"/>
          </p:nvPr>
        </p:nvSpPr>
        <p:spPr/>
        <p:txBody>
          <a:bodyPr/>
          <a:lstStyle/>
          <a:p>
            <a:fld id="{0136BB30-4C71-4D09-933A-B2F84F8C947D}" type="slidenum">
              <a:rPr lang="en-GB" smtClean="0"/>
              <a:t>17</a:t>
            </a:fld>
            <a:endParaRPr lang="en-GB"/>
          </a:p>
        </p:txBody>
      </p:sp>
    </p:spTree>
    <p:extLst>
      <p:ext uri="{BB962C8B-B14F-4D97-AF65-F5344CB8AC3E}">
        <p14:creationId xmlns:p14="http://schemas.microsoft.com/office/powerpoint/2010/main" val="3160543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D65-E312-06CC-00AF-4DDAF7F6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46E45-75C9-D7C2-BDD3-2CB1615D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6259E-D46C-FBB5-56E4-038D09092153}"/>
              </a:ext>
            </a:extLst>
          </p:cNvPr>
          <p:cNvSpPr>
            <a:spLocks noGrp="1"/>
          </p:cNvSpPr>
          <p:nvPr>
            <p:ph type="body" idx="1"/>
          </p:nvPr>
        </p:nvSpPr>
        <p:spPr/>
        <p:txBody>
          <a:bodyPr/>
          <a:lstStyle/>
          <a:p>
            <a:r>
              <a:rPr lang="en-GB" dirty="0"/>
              <a:t>“This slide shows why the stricter strategies are not just smaller, but safer. The control logic increasingly suppresses actions in riskier operating contexts. In the final validated version, S3 acts only in low-risk conditions, which is a strong supervisory result. So the main contribution is not aggressive reduction, but selective and risk-aware intervention logic.”</a:t>
            </a:r>
            <a:endParaRPr lang="en-LV" dirty="0"/>
          </a:p>
        </p:txBody>
      </p:sp>
      <p:sp>
        <p:nvSpPr>
          <p:cNvPr id="4" name="Slide Number Placeholder 3">
            <a:extLst>
              <a:ext uri="{FF2B5EF4-FFF2-40B4-BE49-F238E27FC236}">
                <a16:creationId xmlns:a16="http://schemas.microsoft.com/office/drawing/2014/main" id="{6FB819D2-B34D-96A8-0251-2AB5374B6C55}"/>
              </a:ext>
            </a:extLst>
          </p:cNvPr>
          <p:cNvSpPr>
            <a:spLocks noGrp="1"/>
          </p:cNvSpPr>
          <p:nvPr>
            <p:ph type="sldNum" sz="quarter" idx="5"/>
          </p:nvPr>
        </p:nvSpPr>
        <p:spPr/>
        <p:txBody>
          <a:bodyPr/>
          <a:lstStyle/>
          <a:p>
            <a:fld id="{0136BB30-4C71-4D09-933A-B2F84F8C947D}" type="slidenum">
              <a:rPr lang="en-GB" smtClean="0"/>
              <a:t>18</a:t>
            </a:fld>
            <a:endParaRPr lang="en-GB"/>
          </a:p>
        </p:txBody>
      </p:sp>
    </p:spTree>
    <p:extLst>
      <p:ext uri="{BB962C8B-B14F-4D97-AF65-F5344CB8AC3E}">
        <p14:creationId xmlns:p14="http://schemas.microsoft.com/office/powerpoint/2010/main" val="4054290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point is that the thesis does not claim large easy savings. Instead, it shows that possible control actions become much smaller and more selective when operating context is taken into account. I would say that the strongest result is the framework itself: it gives a practical way to analyse intelligent cooling control when the available telecom data are incomplete. At the same time, there are clear limitations. The results are benchmark-based, not based on full direct thermal measurements, and the study used one site with historical data only. So the framework is useful and realistic, but it still needs broader and more operational validation.</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19</a:t>
            </a:fld>
            <a:endParaRPr lang="en-GB"/>
          </a:p>
        </p:txBody>
      </p:sp>
    </p:spTree>
    <p:extLst>
      <p:ext uri="{BB962C8B-B14F-4D97-AF65-F5344CB8AC3E}">
        <p14:creationId xmlns:p14="http://schemas.microsoft.com/office/powerpoint/2010/main" val="3958788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conclude, the thesis achieved its aim. It showed that intelligent cooling control can be analysed in a telecom central office even when the available telemetry is incomplete. The work did not try to build live automatic control, but rather a bounded and context-aware analytical framework. All main tasks were completed, from literature review and analytical-basis construction to benchmark development, strategy design, and historical evaluation. The final outcome is an integrated framework that links fragmented telemetry, expected cooling demand, and intelligent control assessment.</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20</a:t>
            </a:fld>
            <a:endParaRPr lang="en-GB"/>
          </a:p>
        </p:txBody>
      </p:sp>
    </p:spTree>
    <p:extLst>
      <p:ext uri="{BB962C8B-B14F-4D97-AF65-F5344CB8AC3E}">
        <p14:creationId xmlns:p14="http://schemas.microsoft.com/office/powerpoint/2010/main" val="1787697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fragmented telecom telemetry could still support control-oriented analysis, but only after explicit engineering of the target and the control state. Overall, the thesis supports a benchmark-based and context-aware approach to intelligent cooling control.</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21</a:t>
            </a:fld>
            <a:endParaRPr lang="en-GB"/>
          </a:p>
        </p:txBody>
      </p:sp>
    </p:spTree>
    <p:extLst>
      <p:ext uri="{BB962C8B-B14F-4D97-AF65-F5344CB8AC3E}">
        <p14:creationId xmlns:p14="http://schemas.microsoft.com/office/powerpoint/2010/main" val="1765743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7200" b="0">
                <a:solidFill>
                  <a:schemeClr val="tx1">
                    <a:lumMod val="85000"/>
                    <a:lumOff val="15000"/>
                  </a:schemeClr>
                </a:solidFill>
              </a:defRPr>
            </a:lvl1pPr>
          </a:lstStyle>
          <a:p>
            <a:r>
              <a:rPr lang="en-US" dirty="0"/>
              <a:t>Paper Title</a:t>
            </a:r>
          </a:p>
        </p:txBody>
      </p:sp>
      <p:sp>
        <p:nvSpPr>
          <p:cNvPr id="3"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
        <p:nvSpPr>
          <p:cNvPr id="4" name="Date Placeholder 3"/>
          <p:cNvSpPr>
            <a:spLocks noGrp="1"/>
          </p:cNvSpPr>
          <p:nvPr>
            <p:ph type="dt" sz="half" idx="10"/>
          </p:nvPr>
        </p:nvSpPr>
        <p:spPr/>
        <p:txBody>
          <a:bodyPr/>
          <a:lstStyle/>
          <a:p>
            <a:fld id="{03F1FFC4-4BD7-4723-ABB8-1CA8FEEB2BEF}"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Affiliation</a:t>
            </a:r>
          </a:p>
        </p:txBody>
      </p:sp>
    </p:spTree>
    <p:extLst>
      <p:ext uri="{BB962C8B-B14F-4D97-AF65-F5344CB8AC3E}">
        <p14:creationId xmlns:p14="http://schemas.microsoft.com/office/powerpoint/2010/main" val="63026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6600" b="0">
                <a:solidFill>
                  <a:schemeClr val="tx1">
                    <a:lumMod val="85000"/>
                    <a:lumOff val="15000"/>
                  </a:schemeClr>
                </a:solidFill>
              </a:defRPr>
            </a:lvl1pPr>
          </a:lstStyle>
          <a:p>
            <a:r>
              <a:rPr lang="en-US" dirty="0"/>
              <a:t>Section title</a:t>
            </a:r>
          </a:p>
        </p:txBody>
      </p:sp>
      <p:sp>
        <p:nvSpPr>
          <p:cNvPr id="4" name="Date Placeholder 3"/>
          <p:cNvSpPr>
            <a:spLocks noGrp="1"/>
          </p:cNvSpPr>
          <p:nvPr>
            <p:ph type="dt" sz="half" idx="10"/>
          </p:nvPr>
        </p:nvSpPr>
        <p:spPr/>
        <p:txBody>
          <a:bodyPr/>
          <a:lstStyle/>
          <a:p>
            <a:fld id="{02EE4D8A-4AE0-44A1-A702-01B049E5D9F6}"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56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1153682"/>
            <a:ext cx="7558004" cy="3059395"/>
          </a:xfrm>
        </p:spPr>
        <p:txBody>
          <a:bodyPr/>
          <a:lstStyle>
            <a:lvl1pPr>
              <a:defRPr/>
            </a:lvl1pPr>
          </a:lstStyle>
          <a:p>
            <a:r>
              <a:rPr lang="en-US" dirty="0"/>
              <a:t>Thank you wording</a:t>
            </a:r>
            <a:endParaRPr lang="en-GB" dirty="0"/>
          </a:p>
        </p:txBody>
      </p:sp>
      <p:sp>
        <p:nvSpPr>
          <p:cNvPr id="3" name="Date Placeholder 2"/>
          <p:cNvSpPr>
            <a:spLocks noGrp="1"/>
          </p:cNvSpPr>
          <p:nvPr>
            <p:ph type="dt" sz="half" idx="10"/>
          </p:nvPr>
        </p:nvSpPr>
        <p:spPr/>
        <p:txBody>
          <a:bodyPr/>
          <a:lstStyle/>
          <a:p>
            <a:fld id="{A1C2DCDB-9721-4878-BF58-3FBA6895CED8}" type="datetime5">
              <a:rPr lang="en-GB" smtClean="0"/>
              <a:t>11-May-26</a:t>
            </a:fld>
            <a:endParaRPr lang="en-GB" dirty="0"/>
          </a:p>
        </p:txBody>
      </p:sp>
      <p:sp>
        <p:nvSpPr>
          <p:cNvPr id="4"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Contact information</a:t>
            </a:r>
          </a:p>
        </p:txBody>
      </p:sp>
      <p:sp>
        <p:nvSpPr>
          <p:cNvPr id="5"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Tree>
    <p:extLst>
      <p:ext uri="{BB962C8B-B14F-4D97-AF65-F5344CB8AC3E}">
        <p14:creationId xmlns:p14="http://schemas.microsoft.com/office/powerpoint/2010/main" val="408853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346273"/>
            <a:ext cx="9143998" cy="986719"/>
          </a:xfrm>
        </p:spPr>
        <p:txBody>
          <a:bodyPr/>
          <a:lstStyle>
            <a:lvl1pPr marL="111125" indent="0">
              <a:defRPr/>
            </a:lvl1pPr>
          </a:lstStyle>
          <a:p>
            <a:r>
              <a:rPr lang="en-US" dirty="0"/>
              <a:t>Click to edit title</a:t>
            </a:r>
          </a:p>
        </p:txBody>
      </p:sp>
      <p:sp>
        <p:nvSpPr>
          <p:cNvPr id="3" name="Content Placeholder 2"/>
          <p:cNvSpPr>
            <a:spLocks noGrp="1"/>
          </p:cNvSpPr>
          <p:nvPr>
            <p:ph idx="1"/>
          </p:nvPr>
        </p:nvSpPr>
        <p:spPr/>
        <p:txBody>
          <a:bodyPr>
            <a:normAutofit/>
          </a:bodyPr>
          <a:lstStyle>
            <a:lvl1pPr marL="230188" indent="-230188">
              <a:lnSpc>
                <a:spcPct val="150000"/>
              </a:lnSpc>
              <a:buFont typeface="Arial" panose="020B0604020202020204" pitchFamily="34" charset="0"/>
              <a:buChar char="•"/>
              <a:defRPr sz="2400"/>
            </a:lvl1pPr>
            <a:lvl2pPr marL="461963" indent="-231775">
              <a:lnSpc>
                <a:spcPct val="150000"/>
              </a:lnSpc>
              <a:buClr>
                <a:schemeClr val="accent2"/>
              </a:buClr>
              <a:defRPr sz="2400"/>
            </a:lvl2pPr>
            <a:lvl3pPr marL="684213" indent="-225425">
              <a:lnSpc>
                <a:spcPct val="150000"/>
              </a:lnSpc>
              <a:buClr>
                <a:schemeClr val="accent2"/>
              </a:buClr>
              <a:defRPr sz="2400"/>
            </a:lvl3pPr>
            <a:lvl4pPr marL="914400" indent="-230188">
              <a:lnSpc>
                <a:spcPct val="150000"/>
              </a:lnSpc>
              <a:buClr>
                <a:schemeClr val="accent2"/>
              </a:buClr>
              <a:defRPr sz="2400"/>
            </a:lvl4pPr>
            <a:lvl5pPr marL="1144588" indent="-230188">
              <a:lnSpc>
                <a:spcPct val="150000"/>
              </a:lnSpc>
              <a:buClr>
                <a:schemeClr val="accent2"/>
              </a:buCl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1"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4"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
        <p:nvSpPr>
          <p:cNvPr id="15" name="Text Placeholder 13"/>
          <p:cNvSpPr>
            <a:spLocks noGrp="1"/>
          </p:cNvSpPr>
          <p:nvPr>
            <p:ph type="body" sz="quarter" idx="14" hasCustomPrompt="1"/>
          </p:nvPr>
        </p:nvSpPr>
        <p:spPr>
          <a:xfrm>
            <a:off x="1" y="2203"/>
            <a:ext cx="4571999"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6" name="Text Placeholder 13"/>
          <p:cNvSpPr>
            <a:spLocks noGrp="1"/>
          </p:cNvSpPr>
          <p:nvPr>
            <p:ph type="body" sz="quarter" idx="15" hasCustomPrompt="1"/>
          </p:nvPr>
        </p:nvSpPr>
        <p:spPr>
          <a:xfrm>
            <a:off x="4572000" y="2203"/>
            <a:ext cx="4571999"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Tree>
    <p:extLst>
      <p:ext uri="{BB962C8B-B14F-4D97-AF65-F5344CB8AC3E}">
        <p14:creationId xmlns:p14="http://schemas.microsoft.com/office/powerpoint/2010/main" val="123919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title</a:t>
            </a:r>
          </a:p>
        </p:txBody>
      </p:sp>
      <p:sp>
        <p:nvSpPr>
          <p:cNvPr id="9"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0"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1"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2"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8"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3880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021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8053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p:cNvSpPr>
            <a:spLocks noGrp="1"/>
          </p:cNvSpPr>
          <p:nvPr>
            <p:ph type="title" hasCustomPrompt="1"/>
          </p:nvPr>
        </p:nvSpPr>
        <p:spPr>
          <a:xfrm>
            <a:off x="1" y="260966"/>
            <a:ext cx="9143998" cy="986719"/>
          </a:xfrm>
        </p:spPr>
        <p:txBody>
          <a:bodyPr/>
          <a:lstStyle/>
          <a:p>
            <a:r>
              <a:rPr lang="en-US" dirty="0"/>
              <a:t>Click to edit title</a:t>
            </a:r>
          </a:p>
        </p:txBody>
      </p:sp>
      <p:sp>
        <p:nvSpPr>
          <p:cNvPr id="14"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5"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6"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7"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0"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4138607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4568390" y="6606655"/>
            <a:ext cx="4575609" cy="252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p:nvSpPr>
        <p:spPr>
          <a:xfrm>
            <a:off x="1" y="6605899"/>
            <a:ext cx="4568390" cy="252101"/>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1" y="286604"/>
            <a:ext cx="9143998" cy="986719"/>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p:cNvSpPr>
            <a:spLocks noGrp="1"/>
          </p:cNvSpPr>
          <p:nvPr>
            <p:ph type="dt" sz="half" idx="2"/>
          </p:nvPr>
        </p:nvSpPr>
        <p:spPr>
          <a:xfrm>
            <a:off x="-2368" y="6602872"/>
            <a:ext cx="1113322" cy="246841"/>
          </a:xfrm>
          <a:prstGeom prst="rect">
            <a:avLst/>
          </a:prstGeom>
        </p:spPr>
        <p:txBody>
          <a:bodyPr vert="horz" lIns="91440" tIns="45720" rIns="91440" bIns="45720" rtlCol="0" anchor="ctr"/>
          <a:lstStyle>
            <a:lvl1pPr algn="l">
              <a:defRPr sz="1300">
                <a:solidFill>
                  <a:srgbClr val="FFFFFF"/>
                </a:solidFill>
              </a:defRPr>
            </a:lvl1pPr>
          </a:lstStyle>
          <a:p>
            <a:fld id="{66BE9E39-D550-4951-9818-55D401126FCD}" type="datetime5">
              <a:rPr lang="en-GB" smtClean="0"/>
              <a:t>11-May-26</a:t>
            </a:fld>
            <a:endParaRPr lang="en-GB" dirty="0"/>
          </a:p>
        </p:txBody>
      </p:sp>
      <p:sp>
        <p:nvSpPr>
          <p:cNvPr id="14" name="Text Placeholder 14"/>
          <p:cNvSpPr txBox="1">
            <a:spLocks/>
          </p:cNvSpPr>
          <p:nvPr userDrawn="1"/>
        </p:nvSpPr>
        <p:spPr>
          <a:xfrm>
            <a:off x="4568391" y="6602872"/>
            <a:ext cx="4575609" cy="255128"/>
          </a:xfrm>
          <a:prstGeom prst="rect">
            <a:avLst/>
          </a:prstGeom>
        </p:spPr>
        <p:txBody>
          <a:bodyPr anchor="ctr"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b="0" i="0" kern="1200" dirty="0">
                <a:solidFill>
                  <a:schemeClr val="bg1"/>
                </a:solidFill>
                <a:effectLst/>
                <a:latin typeface="+mn-lt"/>
                <a:ea typeface="+mn-ea"/>
                <a:cs typeface="+mn-cs"/>
              </a:rPr>
              <a:t>Research and Technology – Step into the Future</a:t>
            </a:r>
            <a:endParaRPr lang="en-GB" sz="1300" dirty="0"/>
          </a:p>
        </p:txBody>
      </p:sp>
      <p:sp>
        <p:nvSpPr>
          <p:cNvPr id="21" name="Text Placeholder 14"/>
          <p:cNvSpPr txBox="1">
            <a:spLocks/>
          </p:cNvSpPr>
          <p:nvPr userDrawn="1"/>
        </p:nvSpPr>
        <p:spPr>
          <a:xfrm>
            <a:off x="1110954" y="6602872"/>
            <a:ext cx="3457437" cy="253615"/>
          </a:xfrm>
          <a:prstGeom prst="rect">
            <a:avLst/>
          </a:prstGeom>
        </p:spPr>
        <p:txBody>
          <a:bodyPr anchor="ctr" anchorCtr="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dirty="0"/>
              <a:t>Riga,</a:t>
            </a:r>
            <a:r>
              <a:rPr lang="en-US" baseline="0" dirty="0"/>
              <a:t> Latvia</a:t>
            </a:r>
            <a:endParaRPr lang="en-GB" dirty="0"/>
          </a:p>
        </p:txBody>
      </p:sp>
    </p:spTree>
    <p:extLst>
      <p:ext uri="{BB962C8B-B14F-4D97-AF65-F5344CB8AC3E}">
        <p14:creationId xmlns:p14="http://schemas.microsoft.com/office/powerpoint/2010/main" val="3823026427"/>
      </p:ext>
    </p:extLst>
  </p:cSld>
  <p:clrMap bg1="lt1" tx1="dk1" bg2="lt2" tx2="dk2" accent1="accent1" accent2="accent2" accent3="accent3" accent4="accent4" accent5="accent5" accent6="accent6" hlink="hlink" folHlink="folHlink"/>
  <p:sldLayoutIdLst>
    <p:sldLayoutId id="2147483729" r:id="rId1"/>
    <p:sldLayoutId id="2147483731" r:id="rId2"/>
    <p:sldLayoutId id="2147483730" r:id="rId3"/>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4568391" y="6601968"/>
            <a:ext cx="457931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userDrawn="1"/>
        </p:nvSpPr>
        <p:spPr>
          <a:xfrm>
            <a:off x="1" y="6601968"/>
            <a:ext cx="456839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2" y="329031"/>
            <a:ext cx="9143998" cy="1012659"/>
          </a:xfrm>
          <a:prstGeom prst="rect">
            <a:avLst/>
          </a:prstGeom>
        </p:spPr>
        <p:txBody>
          <a:bodyPr vert="horz" lIns="91440" tIns="45720" rIns="91440" bIns="45720" rtlCol="0" anchor="t" anchorCtr="0">
            <a:normAutofit/>
          </a:bodyPr>
          <a:lstStyle/>
          <a:p>
            <a:r>
              <a:rPr lang="en-US" dirty="0"/>
              <a:t>Click to edit title</a:t>
            </a:r>
          </a:p>
        </p:txBody>
      </p:sp>
      <p:sp>
        <p:nvSpPr>
          <p:cNvPr id="3" name="Text Placeholder 2"/>
          <p:cNvSpPr>
            <a:spLocks noGrp="1"/>
          </p:cNvSpPr>
          <p:nvPr>
            <p:ph type="body" idx="1"/>
          </p:nvPr>
        </p:nvSpPr>
        <p:spPr>
          <a:xfrm>
            <a:off x="276027" y="1418301"/>
            <a:ext cx="8568869" cy="5033773"/>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601968"/>
            <a:ext cx="1097280" cy="248412"/>
          </a:xfrm>
          <a:prstGeom prst="rect">
            <a:avLst/>
          </a:prstGeom>
        </p:spPr>
        <p:txBody>
          <a:bodyPr vert="horz" lIns="91440" tIns="45720" rIns="91440" bIns="45720" rtlCol="0" anchor="ctr"/>
          <a:lstStyle>
            <a:lvl1pPr algn="l">
              <a:defRPr sz="1300">
                <a:solidFill>
                  <a:srgbClr val="FFFFFF"/>
                </a:solidFill>
              </a:defRPr>
            </a:lvl1pPr>
          </a:lstStyle>
          <a:p>
            <a:fld id="{8AEAAFD9-E057-47C0-9571-8C4815721903}" type="datetime5">
              <a:rPr lang="en-GB" smtClean="0"/>
              <a:t>11-May-26</a:t>
            </a:fld>
            <a:endParaRPr lang="en-GB" dirty="0"/>
          </a:p>
        </p:txBody>
      </p:sp>
      <p:sp>
        <p:nvSpPr>
          <p:cNvPr id="6" name="Slide Number Placeholder 5"/>
          <p:cNvSpPr>
            <a:spLocks noGrp="1"/>
          </p:cNvSpPr>
          <p:nvPr>
            <p:ph type="sldNum" sz="quarter" idx="4"/>
          </p:nvPr>
        </p:nvSpPr>
        <p:spPr>
          <a:xfrm>
            <a:off x="8534825" y="6601968"/>
            <a:ext cx="598206" cy="248412"/>
          </a:xfrm>
          <a:prstGeom prst="rect">
            <a:avLst/>
          </a:prstGeom>
        </p:spPr>
        <p:txBody>
          <a:bodyPr vert="horz" lIns="91440" tIns="45720" rIns="91440" bIns="45720" rtlCol="0" anchor="ctr"/>
          <a:lstStyle>
            <a:lvl1pPr algn="r">
              <a:defRPr sz="2000" b="1">
                <a:solidFill>
                  <a:srgbClr val="FFFFFF"/>
                </a:solidFill>
              </a:defRPr>
            </a:lvl1pPr>
          </a:lstStyle>
          <a:p>
            <a:fld id="{CC7D8618-F20C-406E-B464-04F15D14577A}" type="slidenum">
              <a:rPr lang="en-GB" smtClean="0"/>
              <a:pPr/>
              <a:t>‹#›</a:t>
            </a:fld>
            <a:endParaRPr lang="en-GB" dirty="0"/>
          </a:p>
        </p:txBody>
      </p:sp>
      <p:sp>
        <p:nvSpPr>
          <p:cNvPr id="14" name="Text Placeholder 14"/>
          <p:cNvSpPr txBox="1">
            <a:spLocks/>
          </p:cNvSpPr>
          <p:nvPr userDrawn="1"/>
        </p:nvSpPr>
        <p:spPr>
          <a:xfrm>
            <a:off x="4568391" y="6601968"/>
            <a:ext cx="3951765" cy="256032"/>
          </a:xfrm>
          <a:prstGeom prst="rect">
            <a:avLst/>
          </a:prstGeom>
        </p:spPr>
        <p:txBody>
          <a:bodyPr anchor="ctr" anchorCtr="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dirty="0" err="1"/>
              <a:t>RaTSiF</a:t>
            </a:r>
            <a:r>
              <a:rPr lang="en-US" sz="1300" dirty="0"/>
              <a:t>,</a:t>
            </a:r>
            <a:r>
              <a:rPr lang="en-US" sz="1300" baseline="0" dirty="0"/>
              <a:t> Riga, Latvia</a:t>
            </a:r>
            <a:endParaRPr lang="en-GB" sz="1300" dirty="0"/>
          </a:p>
        </p:txBody>
      </p:sp>
      <p:sp>
        <p:nvSpPr>
          <p:cNvPr id="16" name="Rectangle 15"/>
          <p:cNvSpPr/>
          <p:nvPr userDrawn="1"/>
        </p:nvSpPr>
        <p:spPr>
          <a:xfrm>
            <a:off x="0" y="0"/>
            <a:ext cx="457200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7" name="Rectangle 16"/>
          <p:cNvSpPr/>
          <p:nvPr userDrawn="1"/>
        </p:nvSpPr>
        <p:spPr>
          <a:xfrm>
            <a:off x="4572000" y="0"/>
            <a:ext cx="457200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Tree>
    <p:extLst>
      <p:ext uri="{BB962C8B-B14F-4D97-AF65-F5344CB8AC3E}">
        <p14:creationId xmlns:p14="http://schemas.microsoft.com/office/powerpoint/2010/main" val="3348536158"/>
      </p:ext>
    </p:extLst>
  </p:cSld>
  <p:clrMap bg1="lt1" tx1="dk1" bg2="lt2" tx2="dk2" accent1="accent1" accent2="accent2" accent3="accent3" accent4="accent4" accent5="accent5" accent6="accent6" hlink="hlink" folHlink="folHlink"/>
  <p:sldLayoutIdLst>
    <p:sldLayoutId id="2147483708" r:id="rId1"/>
    <p:sldLayoutId id="2147483712" r:id="rId2"/>
    <p:sldLayoutId id="2147483710" r:id="rId3"/>
  </p:sldLayoutIdLst>
  <p:hf hdr="0" ftr="0"/>
  <p:txStyles>
    <p:titleStyle>
      <a:lvl1pPr marL="111125" indent="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a:bodyPr>
          <a:lstStyle/>
          <a:p>
            <a:r>
              <a:rPr lang="en-GB" sz="4800" dirty="0"/>
              <a:t>DATA-DRIVEN PREDICTION AND ANALYSIS OF COOLING ENERGY USE IN TELECOM CENTRAL OFFICE ENVIRONMENTS</a:t>
            </a:r>
          </a:p>
        </p:txBody>
      </p:sp>
      <p:sp>
        <p:nvSpPr>
          <p:cNvPr id="20" name="Text Placeholder 19"/>
          <p:cNvSpPr>
            <a:spLocks noGrp="1"/>
          </p:cNvSpPr>
          <p:nvPr>
            <p:ph type="body" idx="1"/>
          </p:nvPr>
        </p:nvSpPr>
        <p:spPr/>
        <p:txBody>
          <a:bodyPr>
            <a:normAutofit fontScale="92500" lnSpcReduction="10000"/>
          </a:bodyPr>
          <a:lstStyle/>
          <a:p>
            <a:r>
              <a:rPr lang="en-GB" b="1" dirty="0"/>
              <a:t>Anastasija Zubkova</a:t>
            </a:r>
          </a:p>
        </p:txBody>
      </p:sp>
      <p:sp>
        <p:nvSpPr>
          <p:cNvPr id="4" name="Date Placeholder 3"/>
          <p:cNvSpPr>
            <a:spLocks noGrp="1"/>
          </p:cNvSpPr>
          <p:nvPr>
            <p:ph type="dt" sz="half" idx="10"/>
          </p:nvPr>
        </p:nvSpPr>
        <p:spPr/>
        <p:txBody>
          <a:bodyPr/>
          <a:lstStyle/>
          <a:p>
            <a:r>
              <a:rPr lang="en-GB" dirty="0"/>
              <a:t>12-May-26</a:t>
            </a:r>
          </a:p>
        </p:txBody>
      </p:sp>
      <p:sp>
        <p:nvSpPr>
          <p:cNvPr id="21" name="Text Placeholder 20"/>
          <p:cNvSpPr>
            <a:spLocks noGrp="1"/>
          </p:cNvSpPr>
          <p:nvPr>
            <p:ph type="body" idx="11"/>
          </p:nvPr>
        </p:nvSpPr>
        <p:spPr/>
        <p:txBody>
          <a:bodyPr/>
          <a:lstStyle/>
          <a:p>
            <a:r>
              <a:rPr lang="en-GB" dirty="0"/>
              <a:t>M.Sc. student in Computer Science: Data Analytics and Artificial Intelligence</a:t>
            </a:r>
          </a:p>
          <a:p>
            <a:r>
              <a:rPr lang="en-GB" dirty="0"/>
              <a:t>Supervisor: </a:t>
            </a:r>
            <a:r>
              <a:rPr lang="en-GB" b="1" dirty="0" err="1"/>
              <a:t>Dr.sc.ing</a:t>
            </a:r>
            <a:r>
              <a:rPr lang="en-GB" b="1" dirty="0"/>
              <a:t>., Professor Dmitry Pavlyuk</a:t>
            </a:r>
            <a:r>
              <a:rPr lang="en-GB" dirty="0"/>
              <a:t> </a:t>
            </a:r>
          </a:p>
        </p:txBody>
      </p:sp>
      <p:sp>
        <p:nvSpPr>
          <p:cNvPr id="5" name="TextBox 4">
            <a:extLst>
              <a:ext uri="{FF2B5EF4-FFF2-40B4-BE49-F238E27FC236}">
                <a16:creationId xmlns:a16="http://schemas.microsoft.com/office/drawing/2014/main" id="{A44D693F-009B-E9FA-781B-F7A872F7F038}"/>
              </a:ext>
            </a:extLst>
          </p:cNvPr>
          <p:cNvSpPr txBox="1"/>
          <p:nvPr/>
        </p:nvSpPr>
        <p:spPr>
          <a:xfrm flipH="1">
            <a:off x="5680710" y="6572403"/>
            <a:ext cx="3611880" cy="307777"/>
          </a:xfrm>
          <a:prstGeom prst="rect">
            <a:avLst/>
          </a:prstGeom>
          <a:noFill/>
        </p:spPr>
        <p:txBody>
          <a:bodyPr wrap="square" rtlCol="0">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80411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GB" dirty="0"/>
          </a:p>
        </p:txBody>
      </p:sp>
      <p:sp>
        <p:nvSpPr>
          <p:cNvPr id="4" name="Content Placeholder 3"/>
          <p:cNvSpPr>
            <a:spLocks noGrp="1"/>
          </p:cNvSpPr>
          <p:nvPr>
            <p:ph idx="1"/>
          </p:nvPr>
        </p:nvSpPr>
        <p:spPr/>
        <p:txBody>
          <a:bodyPr/>
          <a:lstStyle/>
          <a:p>
            <a:r>
              <a:rPr lang="en-GB" dirty="0"/>
              <a:t>Research motivation and gap in telecom cooling analytics</a:t>
            </a:r>
          </a:p>
          <a:p>
            <a:r>
              <a:rPr lang="en-GB" dirty="0"/>
              <a:t>Target engineering from fragmented operational telemetry</a:t>
            </a:r>
          </a:p>
          <a:p>
            <a:r>
              <a:rPr lang="en-GB" dirty="0"/>
              <a:t>Forecasting methodology and expected-demand benchmarking</a:t>
            </a:r>
          </a:p>
          <a:p>
            <a:r>
              <a:rPr lang="en-GB" dirty="0"/>
              <a:t>Forecast-informed supervisory control simulation and results</a:t>
            </a:r>
          </a:p>
          <a:p>
            <a:r>
              <a:rPr lang="en-GB" dirty="0"/>
              <a:t>Conclusions, contribution, novelty</a:t>
            </a:r>
          </a:p>
        </p:txBody>
      </p:sp>
      <p:sp>
        <p:nvSpPr>
          <p:cNvPr id="3" name="Date Placeholder 2"/>
          <p:cNvSpPr>
            <a:spLocks noGrp="1"/>
          </p:cNvSpPr>
          <p:nvPr>
            <p:ph type="dt" sz="half" idx="10"/>
          </p:nvPr>
        </p:nvSpPr>
        <p:spPr/>
        <p:txBody>
          <a:bodyPr/>
          <a:lstStyle/>
          <a:p>
            <a:r>
              <a:rPr lang="en-GB" dirty="0"/>
              <a:t>12-May-26</a:t>
            </a:r>
          </a:p>
        </p:txBody>
      </p:sp>
      <p:sp>
        <p:nvSpPr>
          <p:cNvPr id="5" name="Slide Number Placeholder 4"/>
          <p:cNvSpPr>
            <a:spLocks noGrp="1"/>
          </p:cNvSpPr>
          <p:nvPr>
            <p:ph type="sldNum" sz="quarter" idx="12"/>
          </p:nvPr>
        </p:nvSpPr>
        <p:spPr/>
        <p:txBody>
          <a:bodyPr/>
          <a:lstStyle/>
          <a:p>
            <a:fld id="{CC7D8618-F20C-406E-B464-04F15D14577A}" type="slidenum">
              <a:rPr lang="en-GB" smtClean="0"/>
              <a:pPr/>
              <a:t>2</a:t>
            </a:fld>
            <a:endParaRPr lang="en-GB" dirty="0"/>
          </a:p>
        </p:txBody>
      </p:sp>
      <p:sp>
        <p:nvSpPr>
          <p:cNvPr id="10" name="Text Placeholder 9"/>
          <p:cNvSpPr>
            <a:spLocks noGrp="1"/>
          </p:cNvSpPr>
          <p:nvPr>
            <p:ph type="body" sz="quarter" idx="13"/>
          </p:nvPr>
        </p:nvSpPr>
        <p:spPr/>
        <p:txBody>
          <a:bodyPr/>
          <a:lstStyle/>
          <a:p>
            <a:r>
              <a:rPr lang="en-GB" dirty="0"/>
              <a:t>Anastasija Zubkova</a:t>
            </a:r>
          </a:p>
        </p:txBody>
      </p:sp>
      <p:sp>
        <p:nvSpPr>
          <p:cNvPr id="11" name="Text Placeholder 10"/>
          <p:cNvSpPr>
            <a:spLocks noGrp="1"/>
          </p:cNvSpPr>
          <p:nvPr>
            <p:ph type="body" sz="quarter" idx="14"/>
          </p:nvPr>
        </p:nvSpPr>
        <p:spPr/>
        <p:txBody>
          <a:bodyPr/>
          <a:lstStyle/>
          <a:p>
            <a:endParaRPr lang="en-GB" dirty="0"/>
          </a:p>
        </p:txBody>
      </p:sp>
      <p:sp>
        <p:nvSpPr>
          <p:cNvPr id="12" name="Text Placeholder 11"/>
          <p:cNvSpPr>
            <a:spLocks noGrp="1"/>
          </p:cNvSpPr>
          <p:nvPr>
            <p:ph type="body" sz="quarter" idx="15"/>
          </p:nvPr>
        </p:nvSpPr>
        <p:spPr/>
        <p:txBody>
          <a:bodyPr/>
          <a:lstStyle/>
          <a:p>
            <a:endParaRPr lang="en-GB"/>
          </a:p>
        </p:txBody>
      </p:sp>
      <p:sp>
        <p:nvSpPr>
          <p:cNvPr id="9" name="TextBox 8">
            <a:extLst>
              <a:ext uri="{FF2B5EF4-FFF2-40B4-BE49-F238E27FC236}">
                <a16:creationId xmlns:a16="http://schemas.microsoft.com/office/drawing/2014/main" id="{6ECB4F89-58EB-EF95-9064-51127665C695}"/>
              </a:ext>
            </a:extLst>
          </p:cNvPr>
          <p:cNvSpPr txBox="1"/>
          <p:nvPr/>
        </p:nvSpPr>
        <p:spPr>
          <a:xfrm>
            <a:off x="4874894" y="6582249"/>
            <a:ext cx="417195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54842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605-0DA8-9C8E-5313-107F399C111B}"/>
              </a:ext>
            </a:extLst>
          </p:cNvPr>
          <p:cNvSpPr>
            <a:spLocks noGrp="1"/>
          </p:cNvSpPr>
          <p:nvPr>
            <p:ph type="title"/>
          </p:nvPr>
        </p:nvSpPr>
        <p:spPr/>
        <p:txBody>
          <a:bodyPr>
            <a:normAutofit/>
          </a:bodyPr>
          <a:lstStyle/>
          <a:p>
            <a:r>
              <a:rPr lang="en-GB" sz="4000" dirty="0"/>
              <a:t>Problem and motivation</a:t>
            </a:r>
            <a:endParaRPr lang="en-LV" sz="4000" dirty="0"/>
          </a:p>
        </p:txBody>
      </p:sp>
      <p:sp>
        <p:nvSpPr>
          <p:cNvPr id="3" name="Content Placeholder 2">
            <a:extLst>
              <a:ext uri="{FF2B5EF4-FFF2-40B4-BE49-F238E27FC236}">
                <a16:creationId xmlns:a16="http://schemas.microsoft.com/office/drawing/2014/main" id="{BBDB459F-66FF-4493-6234-72E4C98D633F}"/>
              </a:ext>
            </a:extLst>
          </p:cNvPr>
          <p:cNvSpPr>
            <a:spLocks noGrp="1"/>
          </p:cNvSpPr>
          <p:nvPr>
            <p:ph idx="1"/>
          </p:nvPr>
        </p:nvSpPr>
        <p:spPr>
          <a:xfrm>
            <a:off x="276028" y="1052541"/>
            <a:ext cx="8568869" cy="5033773"/>
          </a:xfrm>
        </p:spPr>
        <p:txBody>
          <a:bodyPr>
            <a:noAutofit/>
          </a:bodyPr>
          <a:lstStyle/>
          <a:p>
            <a:r>
              <a:rPr lang="en-GB" sz="2200" dirty="0"/>
              <a:t>Telecom central offices require continuous cooling for reliable operation of sensitive equipment</a:t>
            </a:r>
          </a:p>
          <a:p>
            <a:r>
              <a:rPr lang="en-GB" sz="2200" dirty="0"/>
              <a:t>Existing telecom analytics are stronger in monitoring and diagnosis than in control-oriented decision support</a:t>
            </a:r>
          </a:p>
          <a:p>
            <a:r>
              <a:rPr lang="en-GB" sz="2200" dirty="0"/>
              <a:t>More intelligent cooling control could improve efficiency without compromising operational safety, but full advanced control is difficult under available telemetry constraints</a:t>
            </a:r>
          </a:p>
          <a:p>
            <a:r>
              <a:rPr lang="en-GB" sz="2200" dirty="0"/>
              <a:t>The thesis therefore develops an intelligent, control-oriented framework for real telecom operating conditions.</a:t>
            </a:r>
            <a:endParaRPr lang="en-LV" sz="2200" dirty="0"/>
          </a:p>
        </p:txBody>
      </p:sp>
      <p:sp>
        <p:nvSpPr>
          <p:cNvPr id="4" name="Date Placeholder 3">
            <a:extLst>
              <a:ext uri="{FF2B5EF4-FFF2-40B4-BE49-F238E27FC236}">
                <a16:creationId xmlns:a16="http://schemas.microsoft.com/office/drawing/2014/main" id="{319C5D0C-BA1F-FA02-0FEA-B348C529736C}"/>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B28EF451-C46A-D73F-64E0-304C460C3B8C}"/>
              </a:ext>
            </a:extLst>
          </p:cNvPr>
          <p:cNvSpPr>
            <a:spLocks noGrp="1"/>
          </p:cNvSpPr>
          <p:nvPr>
            <p:ph type="sldNum" sz="quarter" idx="12"/>
          </p:nvPr>
        </p:nvSpPr>
        <p:spPr/>
        <p:txBody>
          <a:bodyPr/>
          <a:lstStyle/>
          <a:p>
            <a:fld id="{CC7D8618-F20C-406E-B464-04F15D14577A}" type="slidenum">
              <a:rPr lang="en-GB" smtClean="0"/>
              <a:pPr/>
              <a:t>3</a:t>
            </a:fld>
            <a:endParaRPr lang="en-GB" dirty="0"/>
          </a:p>
        </p:txBody>
      </p:sp>
      <p:sp>
        <p:nvSpPr>
          <p:cNvPr id="6" name="Text Placeholder 5">
            <a:extLst>
              <a:ext uri="{FF2B5EF4-FFF2-40B4-BE49-F238E27FC236}">
                <a16:creationId xmlns:a16="http://schemas.microsoft.com/office/drawing/2014/main" id="{603BE3F9-C22A-5F15-FCC5-C9438890A02B}"/>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DC7E5454-CFEB-DBBE-9EC7-39BE23061F72}"/>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E41834E9-B88E-7446-30E8-ABB8AD2055CF}"/>
              </a:ext>
            </a:extLst>
          </p:cNvPr>
          <p:cNvSpPr>
            <a:spLocks noGrp="1"/>
          </p:cNvSpPr>
          <p:nvPr>
            <p:ph type="body" sz="quarter" idx="15"/>
          </p:nvPr>
        </p:nvSpPr>
        <p:spPr/>
        <p:txBody>
          <a:bodyPr/>
          <a:lstStyle/>
          <a:p>
            <a:endParaRPr lang="en-LV"/>
          </a:p>
        </p:txBody>
      </p:sp>
      <p:sp>
        <p:nvSpPr>
          <p:cNvPr id="11" name="TextBox 10">
            <a:extLst>
              <a:ext uri="{FF2B5EF4-FFF2-40B4-BE49-F238E27FC236}">
                <a16:creationId xmlns:a16="http://schemas.microsoft.com/office/drawing/2014/main" id="{4E0BC049-737C-7957-CB45-1C75071ED3A0}"/>
              </a:ext>
            </a:extLst>
          </p:cNvPr>
          <p:cNvSpPr txBox="1"/>
          <p:nvPr/>
        </p:nvSpPr>
        <p:spPr>
          <a:xfrm>
            <a:off x="4995149" y="6597052"/>
            <a:ext cx="3725700" cy="584775"/>
          </a:xfrm>
          <a:prstGeom prst="rect">
            <a:avLst/>
          </a:prstGeom>
          <a:noFill/>
        </p:spPr>
        <p:txBody>
          <a:bodyPr wrap="none" rtlCol="0">
            <a:spAutoFit/>
          </a:bodyPr>
          <a:lstStyle/>
          <a:p>
            <a:r>
              <a:rPr lang="en-LV" sz="1400" dirty="0">
                <a:solidFill>
                  <a:srgbClr val="2683C7"/>
                </a:solidFill>
                <a:highlight>
                  <a:srgbClr val="2683C7"/>
                </a:highlight>
              </a:rPr>
              <a:t>ccccccccccccccccccccccccccccccccccccccccccccccc</a:t>
            </a:r>
          </a:p>
          <a:p>
            <a:endParaRPr lang="en-LV" dirty="0"/>
          </a:p>
        </p:txBody>
      </p:sp>
    </p:spTree>
    <p:extLst>
      <p:ext uri="{BB962C8B-B14F-4D97-AF65-F5344CB8AC3E}">
        <p14:creationId xmlns:p14="http://schemas.microsoft.com/office/powerpoint/2010/main" val="333120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E166-03AF-2DF9-886D-C06DF4C1A639}"/>
              </a:ext>
            </a:extLst>
          </p:cNvPr>
          <p:cNvSpPr>
            <a:spLocks noGrp="1"/>
          </p:cNvSpPr>
          <p:nvPr>
            <p:ph type="title"/>
          </p:nvPr>
        </p:nvSpPr>
        <p:spPr>
          <a:xfrm>
            <a:off x="2" y="346274"/>
            <a:ext cx="9143998" cy="729492"/>
          </a:xfrm>
        </p:spPr>
        <p:txBody>
          <a:bodyPr>
            <a:normAutofit/>
          </a:bodyPr>
          <a:lstStyle/>
          <a:p>
            <a:r>
              <a:rPr lang="en-GB" sz="4000" dirty="0"/>
              <a:t>Research gap and literature background</a:t>
            </a:r>
            <a:endParaRPr lang="en-LV" sz="4000" dirty="0"/>
          </a:p>
        </p:txBody>
      </p:sp>
      <p:sp>
        <p:nvSpPr>
          <p:cNvPr id="3" name="Content Placeholder 2">
            <a:extLst>
              <a:ext uri="{FF2B5EF4-FFF2-40B4-BE49-F238E27FC236}">
                <a16:creationId xmlns:a16="http://schemas.microsoft.com/office/drawing/2014/main" id="{4A40B0F1-7808-574C-3535-D2D5958D0DF2}"/>
              </a:ext>
            </a:extLst>
          </p:cNvPr>
          <p:cNvSpPr>
            <a:spLocks noGrp="1"/>
          </p:cNvSpPr>
          <p:nvPr>
            <p:ph idx="1"/>
          </p:nvPr>
        </p:nvSpPr>
        <p:spPr>
          <a:xfrm>
            <a:off x="227744" y="1239202"/>
            <a:ext cx="8568869" cy="5033773"/>
          </a:xfrm>
        </p:spPr>
        <p:txBody>
          <a:bodyPr anchor="ctr">
            <a:noAutofit/>
          </a:bodyPr>
          <a:lstStyle/>
          <a:p>
            <a:pPr>
              <a:lnSpc>
                <a:spcPct val="100000"/>
              </a:lnSpc>
            </a:pPr>
            <a:r>
              <a:rPr lang="en-GB" dirty="0"/>
              <a:t>Telecom studies are relatively strong in monitoring, KPI design, and diagnosis</a:t>
            </a:r>
          </a:p>
          <a:p>
            <a:pPr>
              <a:lnSpc>
                <a:spcPct val="100000"/>
              </a:lnSpc>
            </a:pPr>
            <a:r>
              <a:rPr lang="en-GB" dirty="0"/>
              <a:t>Real cooling telemetry is often not directly suitable for control-oriented analysis and may require reconstruction of a defensible analytical basis</a:t>
            </a:r>
          </a:p>
          <a:p>
            <a:pPr>
              <a:lnSpc>
                <a:spcPct val="100000"/>
              </a:lnSpc>
            </a:pPr>
            <a:r>
              <a:rPr lang="en-GB" dirty="0"/>
              <a:t>Literature provide useful methods, but often assume ready targets, richer state feedback than are available</a:t>
            </a:r>
          </a:p>
          <a:p>
            <a:pPr marL="0" indent="0">
              <a:lnSpc>
                <a:spcPct val="100000"/>
              </a:lnSpc>
              <a:buNone/>
            </a:pPr>
            <a:endParaRPr lang="en-GB" dirty="0"/>
          </a:p>
          <a:p>
            <a:pPr marL="0" indent="0">
              <a:lnSpc>
                <a:spcPct val="100000"/>
              </a:lnSpc>
              <a:buNone/>
            </a:pPr>
            <a:r>
              <a:rPr lang="en-GB" b="1" dirty="0"/>
              <a:t>Research gap:</a:t>
            </a:r>
            <a:r>
              <a:rPr lang="en-GB" dirty="0"/>
              <a:t> no integrated telecom framework from target engineering to forecasting, benchmarking, and supervisory control under real telemetry constraints</a:t>
            </a:r>
          </a:p>
          <a:p>
            <a:pPr marL="0" indent="0">
              <a:lnSpc>
                <a:spcPct val="100000"/>
              </a:lnSpc>
              <a:buNone/>
            </a:pPr>
            <a:r>
              <a:rPr lang="en-GB" sz="1200" i="1" dirty="0"/>
              <a:t>Sorrentino et al. (2024); D’Aniello et al. (2018); Malafronte et al. (2021); Fan et al. (2021); Ji et al. (2017); Killian and Kozek (2016); </a:t>
            </a:r>
            <a:r>
              <a:rPr lang="en-GB" sz="1200" i="1" dirty="0" err="1"/>
              <a:t>Drgoňa</a:t>
            </a:r>
            <a:r>
              <a:rPr lang="en-GB" sz="1200" i="1" dirty="0"/>
              <a:t> et al. (2020); Xin et al. (2024)</a:t>
            </a:r>
            <a:endParaRPr lang="en-LV" sz="1200" i="1" dirty="0"/>
          </a:p>
        </p:txBody>
      </p:sp>
      <p:sp>
        <p:nvSpPr>
          <p:cNvPr id="4" name="Date Placeholder 3">
            <a:extLst>
              <a:ext uri="{FF2B5EF4-FFF2-40B4-BE49-F238E27FC236}">
                <a16:creationId xmlns:a16="http://schemas.microsoft.com/office/drawing/2014/main" id="{A1642CAB-BAE2-8398-61BB-55EDB4C3B9CE}"/>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02F45F-C6C7-B4F1-7252-E9D1C77697EF}"/>
              </a:ext>
            </a:extLst>
          </p:cNvPr>
          <p:cNvSpPr>
            <a:spLocks noGrp="1"/>
          </p:cNvSpPr>
          <p:nvPr>
            <p:ph type="sldNum" sz="quarter" idx="12"/>
          </p:nvPr>
        </p:nvSpPr>
        <p:spPr/>
        <p:txBody>
          <a:bodyPr/>
          <a:lstStyle/>
          <a:p>
            <a:fld id="{CC7D8618-F20C-406E-B464-04F15D14577A}" type="slidenum">
              <a:rPr lang="en-GB" smtClean="0"/>
              <a:pPr/>
              <a:t>4</a:t>
            </a:fld>
            <a:endParaRPr lang="en-GB" dirty="0"/>
          </a:p>
        </p:txBody>
      </p:sp>
      <p:sp>
        <p:nvSpPr>
          <p:cNvPr id="6" name="Text Placeholder 5">
            <a:extLst>
              <a:ext uri="{FF2B5EF4-FFF2-40B4-BE49-F238E27FC236}">
                <a16:creationId xmlns:a16="http://schemas.microsoft.com/office/drawing/2014/main" id="{B29450E1-0FBC-0A9F-5CA9-AEFD50D2F940}"/>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BCC56643-9ABC-4740-4541-99003B5A9C5A}"/>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4E9B035F-5609-42E9-E798-D44D7E5A5095}"/>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E1B5468D-C40B-C038-1B49-A3A241E1597D}"/>
              </a:ext>
            </a:extLst>
          </p:cNvPr>
          <p:cNvSpPr txBox="1"/>
          <p:nvPr/>
        </p:nvSpPr>
        <p:spPr>
          <a:xfrm>
            <a:off x="5083493" y="654802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401740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B7D2-E305-7B54-0D48-4B5C9ADBE5E6}"/>
              </a:ext>
            </a:extLst>
          </p:cNvPr>
          <p:cNvSpPr>
            <a:spLocks noGrp="1"/>
          </p:cNvSpPr>
          <p:nvPr>
            <p:ph type="title"/>
          </p:nvPr>
        </p:nvSpPr>
        <p:spPr/>
        <p:txBody>
          <a:bodyPr>
            <a:normAutofit/>
          </a:bodyPr>
          <a:lstStyle/>
          <a:p>
            <a:r>
              <a:rPr lang="en-GB" sz="4000" dirty="0"/>
              <a:t>Research aim and objectives</a:t>
            </a:r>
            <a:endParaRPr lang="en-LV" sz="4000" dirty="0"/>
          </a:p>
        </p:txBody>
      </p:sp>
      <p:sp>
        <p:nvSpPr>
          <p:cNvPr id="3" name="Content Placeholder 2">
            <a:extLst>
              <a:ext uri="{FF2B5EF4-FFF2-40B4-BE49-F238E27FC236}">
                <a16:creationId xmlns:a16="http://schemas.microsoft.com/office/drawing/2014/main" id="{F49C4979-D561-1365-E4A1-701063072CBF}"/>
              </a:ext>
            </a:extLst>
          </p:cNvPr>
          <p:cNvSpPr>
            <a:spLocks noGrp="1"/>
          </p:cNvSpPr>
          <p:nvPr>
            <p:ph idx="1"/>
          </p:nvPr>
        </p:nvSpPr>
        <p:spPr>
          <a:xfrm>
            <a:off x="276028" y="1262288"/>
            <a:ext cx="8568869" cy="5249439"/>
          </a:xfrm>
        </p:spPr>
        <p:txBody>
          <a:bodyPr>
            <a:noAutofit/>
          </a:bodyPr>
          <a:lstStyle/>
          <a:p>
            <a:pPr marL="0" indent="0">
              <a:lnSpc>
                <a:spcPct val="100000"/>
              </a:lnSpc>
              <a:buNone/>
            </a:pPr>
            <a:r>
              <a:rPr lang="en-GB" b="1" dirty="0"/>
              <a:t>Aim: </a:t>
            </a:r>
            <a:r>
              <a:rPr lang="en-LV" dirty="0"/>
              <a:t>Develop аnd еvаluаtе intеlligеnt control strаtеgiеs for cooling еnеrgy usе in tеlеcom cеntrаl officе еnvironmеnts using rеаl monitoring dаtа</a:t>
            </a:r>
          </a:p>
          <a:p>
            <a:pPr marL="0" indent="0">
              <a:lnSpc>
                <a:spcPct val="100000"/>
              </a:lnSpc>
              <a:buNone/>
            </a:pPr>
            <a:endParaRPr lang="en-LV" dirty="0"/>
          </a:p>
          <a:p>
            <a:pPr marL="0" indent="0">
              <a:lnSpc>
                <a:spcPct val="100000"/>
              </a:lnSpc>
              <a:buNone/>
            </a:pPr>
            <a:r>
              <a:rPr lang="en-GB" b="1" dirty="0"/>
              <a:t>Research tasks:</a:t>
            </a:r>
            <a:endParaRPr lang="en-GB" dirty="0"/>
          </a:p>
          <a:p>
            <a:pPr marL="457200" indent="-457200">
              <a:lnSpc>
                <a:spcPct val="100000"/>
              </a:lnSpc>
              <a:buFont typeface="+mj-lt"/>
              <a:buAutoNum type="arabicPeriod"/>
            </a:pPr>
            <a:r>
              <a:rPr lang="en-GB" dirty="0"/>
              <a:t>Review relevant literature</a:t>
            </a:r>
          </a:p>
          <a:p>
            <a:pPr marL="457200" indent="-457200">
              <a:lnSpc>
                <a:spcPct val="100000"/>
              </a:lnSpc>
              <a:buFont typeface="+mj-lt"/>
              <a:buAutoNum type="arabicPeriod"/>
            </a:pPr>
            <a:r>
              <a:rPr lang="en-GB" dirty="0"/>
              <a:t>Prepare the control-oriented dataset</a:t>
            </a:r>
          </a:p>
          <a:p>
            <a:pPr marL="457200" indent="-457200">
              <a:lnSpc>
                <a:spcPct val="100000"/>
              </a:lnSpc>
              <a:buFont typeface="+mj-lt"/>
              <a:buAutoNum type="arabicPeriod"/>
            </a:pPr>
            <a:r>
              <a:rPr lang="en-GB" dirty="0"/>
              <a:t>Develop the cooling-demand benchmark</a:t>
            </a:r>
          </a:p>
          <a:p>
            <a:pPr marL="457200" indent="-457200">
              <a:lnSpc>
                <a:spcPct val="100000"/>
              </a:lnSpc>
              <a:buFont typeface="+mj-lt"/>
              <a:buAutoNum type="arabicPeriod"/>
            </a:pPr>
            <a:r>
              <a:rPr lang="en-GB" dirty="0"/>
              <a:t>Design context-aware control strategies</a:t>
            </a:r>
          </a:p>
          <a:p>
            <a:pPr marL="457200" indent="-457200">
              <a:lnSpc>
                <a:spcPct val="100000"/>
              </a:lnSpc>
              <a:buFont typeface="+mj-lt"/>
              <a:buAutoNum type="arabicPeriod"/>
            </a:pPr>
            <a:r>
              <a:rPr lang="en-GB" dirty="0"/>
              <a:t>Evaluate control performance historically</a:t>
            </a:r>
          </a:p>
        </p:txBody>
      </p:sp>
      <p:sp>
        <p:nvSpPr>
          <p:cNvPr id="4" name="Date Placeholder 3">
            <a:extLst>
              <a:ext uri="{FF2B5EF4-FFF2-40B4-BE49-F238E27FC236}">
                <a16:creationId xmlns:a16="http://schemas.microsoft.com/office/drawing/2014/main" id="{0A065C50-9D56-002A-FCE4-EC5D0657AE85}"/>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34316D-4EEC-9486-D721-4D36F9C9E48C}"/>
              </a:ext>
            </a:extLst>
          </p:cNvPr>
          <p:cNvSpPr>
            <a:spLocks noGrp="1"/>
          </p:cNvSpPr>
          <p:nvPr>
            <p:ph type="sldNum" sz="quarter" idx="12"/>
          </p:nvPr>
        </p:nvSpPr>
        <p:spPr/>
        <p:txBody>
          <a:bodyPr/>
          <a:lstStyle/>
          <a:p>
            <a:fld id="{CC7D8618-F20C-406E-B464-04F15D14577A}" type="slidenum">
              <a:rPr lang="en-GB" smtClean="0"/>
              <a:pPr/>
              <a:t>5</a:t>
            </a:fld>
            <a:endParaRPr lang="en-GB" dirty="0"/>
          </a:p>
        </p:txBody>
      </p:sp>
      <p:sp>
        <p:nvSpPr>
          <p:cNvPr id="6" name="Text Placeholder 5">
            <a:extLst>
              <a:ext uri="{FF2B5EF4-FFF2-40B4-BE49-F238E27FC236}">
                <a16:creationId xmlns:a16="http://schemas.microsoft.com/office/drawing/2014/main" id="{6F506522-8C68-CEC6-DAA6-099B7CE17837}"/>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1FBE878-2F98-CAEE-DF0B-72FC66F8ECA1}"/>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86C82F47-0E74-F87D-F07F-5A6E9EF1D934}"/>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1E6C32E8-E26E-8842-54FE-1A598F77778F}"/>
              </a:ext>
            </a:extLst>
          </p:cNvPr>
          <p:cNvSpPr txBox="1"/>
          <p:nvPr/>
        </p:nvSpPr>
        <p:spPr>
          <a:xfrm>
            <a:off x="5052061" y="6597052"/>
            <a:ext cx="468630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353049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3EEF-78EE-7D20-E7B5-5E01F976FE7D}"/>
              </a:ext>
            </a:extLst>
          </p:cNvPr>
          <p:cNvSpPr>
            <a:spLocks noGrp="1"/>
          </p:cNvSpPr>
          <p:nvPr>
            <p:ph type="title"/>
          </p:nvPr>
        </p:nvSpPr>
        <p:spPr/>
        <p:txBody>
          <a:bodyPr>
            <a:normAutofit/>
          </a:bodyPr>
          <a:lstStyle/>
          <a:p>
            <a:r>
              <a:rPr lang="en-LV" sz="4000" dirty="0"/>
              <a:t>Research questions</a:t>
            </a:r>
          </a:p>
        </p:txBody>
      </p:sp>
      <p:sp>
        <p:nvSpPr>
          <p:cNvPr id="3" name="Content Placeholder 2">
            <a:extLst>
              <a:ext uri="{FF2B5EF4-FFF2-40B4-BE49-F238E27FC236}">
                <a16:creationId xmlns:a16="http://schemas.microsoft.com/office/drawing/2014/main" id="{6EF832F2-1E1A-C59D-CCE8-988A756B2E9D}"/>
              </a:ext>
            </a:extLst>
          </p:cNvPr>
          <p:cNvSpPr>
            <a:spLocks noGrp="1"/>
          </p:cNvSpPr>
          <p:nvPr>
            <p:ph idx="1"/>
          </p:nvPr>
        </p:nvSpPr>
        <p:spPr>
          <a:xfrm>
            <a:off x="276028" y="1088644"/>
            <a:ext cx="8568869" cy="5033773"/>
          </a:xfrm>
        </p:spPr>
        <p:txBody>
          <a:bodyPr/>
          <a:lstStyle/>
          <a:p>
            <a:pPr marL="457200" lvl="0" indent="-457200">
              <a:buFont typeface="+mj-lt"/>
              <a:buAutoNum type="arabicPeriod"/>
            </a:pPr>
            <a:r>
              <a:rPr lang="en-LV" dirty="0"/>
              <a:t>To whаt еxtеnt cаn intеlligеnt cooling control strаtеgiеs idеntify opportunitiеs to improvе cooling еnеrgy usе in tеlеcom cеntrаl officе еnvironmеnts?</a:t>
            </a:r>
          </a:p>
          <a:p>
            <a:pPr marL="457200" lvl="0" indent="-457200">
              <a:buFont typeface="+mj-lt"/>
              <a:buAutoNum type="arabicPeriod"/>
            </a:pPr>
            <a:r>
              <a:rPr lang="en-LV" dirty="0"/>
              <a:t>Which forеcаsting аpproаch providеs thе most rеliаblе еstimаtе of еxpеctеd cooling dеmаnd for intеlligеnt cooling control?</a:t>
            </a:r>
          </a:p>
          <a:p>
            <a:pPr marL="457200" lvl="0" indent="-457200">
              <a:buFont typeface="+mj-lt"/>
              <a:buAutoNum type="arabicPeriod"/>
            </a:pPr>
            <a:r>
              <a:rPr lang="en-LV" dirty="0"/>
              <a:t>Which opеrаtionаl аnd еnvironmеntаl vаriаblеs аrе most rеlеvаnt for constructing а control-oriеntеd аnаlyticаl bаsis for intеlligеnt cooling control?</a:t>
            </a:r>
          </a:p>
        </p:txBody>
      </p:sp>
      <p:sp>
        <p:nvSpPr>
          <p:cNvPr id="4" name="Date Placeholder 3">
            <a:extLst>
              <a:ext uri="{FF2B5EF4-FFF2-40B4-BE49-F238E27FC236}">
                <a16:creationId xmlns:a16="http://schemas.microsoft.com/office/drawing/2014/main" id="{986B0369-AFA6-CE27-3B56-19C61D1D9DE9}"/>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105873B2-15D2-302E-0B44-FE1C724ACC47}"/>
              </a:ext>
            </a:extLst>
          </p:cNvPr>
          <p:cNvSpPr>
            <a:spLocks noGrp="1"/>
          </p:cNvSpPr>
          <p:nvPr>
            <p:ph type="sldNum" sz="quarter" idx="12"/>
          </p:nvPr>
        </p:nvSpPr>
        <p:spPr/>
        <p:txBody>
          <a:bodyPr/>
          <a:lstStyle/>
          <a:p>
            <a:fld id="{CC7D8618-F20C-406E-B464-04F15D14577A}" type="slidenum">
              <a:rPr lang="en-GB" smtClean="0"/>
              <a:pPr/>
              <a:t>6</a:t>
            </a:fld>
            <a:endParaRPr lang="en-GB" dirty="0"/>
          </a:p>
        </p:txBody>
      </p:sp>
      <p:sp>
        <p:nvSpPr>
          <p:cNvPr id="6" name="Text Placeholder 5">
            <a:extLst>
              <a:ext uri="{FF2B5EF4-FFF2-40B4-BE49-F238E27FC236}">
                <a16:creationId xmlns:a16="http://schemas.microsoft.com/office/drawing/2014/main" id="{83B34C08-3AC5-6057-90F8-0FED7CC6182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00B6741-717F-6C2F-02C2-A6F099A0928B}"/>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2B86A4C0-39E4-DF81-9D74-18FD35D3E963}"/>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A51B2703-2356-3345-E2AC-7B44229EDA75}"/>
              </a:ext>
            </a:extLst>
          </p:cNvPr>
          <p:cNvSpPr txBox="1"/>
          <p:nvPr/>
        </p:nvSpPr>
        <p:spPr>
          <a:xfrm>
            <a:off x="4894898" y="6597052"/>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247449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A7B-186F-8458-E8BC-92D79763B4AF}"/>
              </a:ext>
            </a:extLst>
          </p:cNvPr>
          <p:cNvSpPr>
            <a:spLocks noGrp="1"/>
          </p:cNvSpPr>
          <p:nvPr>
            <p:ph type="title"/>
          </p:nvPr>
        </p:nvSpPr>
        <p:spPr/>
        <p:txBody>
          <a:bodyPr>
            <a:noAutofit/>
          </a:bodyPr>
          <a:lstStyle/>
          <a:p>
            <a:r>
              <a:rPr lang="en-GB" sz="4000" dirty="0"/>
              <a:t>Object and subject of research</a:t>
            </a:r>
            <a:endParaRPr lang="en-LV" sz="4000" dirty="0"/>
          </a:p>
        </p:txBody>
      </p:sp>
      <p:sp>
        <p:nvSpPr>
          <p:cNvPr id="3" name="Content Placeholder 2">
            <a:extLst>
              <a:ext uri="{FF2B5EF4-FFF2-40B4-BE49-F238E27FC236}">
                <a16:creationId xmlns:a16="http://schemas.microsoft.com/office/drawing/2014/main" id="{E82F4B9E-A650-9F3D-C908-90E3C47D60D6}"/>
              </a:ext>
            </a:extLst>
          </p:cNvPr>
          <p:cNvSpPr>
            <a:spLocks noGrp="1"/>
          </p:cNvSpPr>
          <p:nvPr>
            <p:ph idx="1"/>
          </p:nvPr>
        </p:nvSpPr>
        <p:spPr/>
        <p:txBody>
          <a:bodyPr>
            <a:normAutofit/>
          </a:bodyPr>
          <a:lstStyle/>
          <a:p>
            <a:r>
              <a:rPr lang="en-LV" b="1" dirty="0"/>
              <a:t>The object of the research</a:t>
            </a:r>
            <a:r>
              <a:rPr lang="en-LV" dirty="0"/>
              <a:t> is cooling energy use in telecom central office technical infrastructure.</a:t>
            </a:r>
          </a:p>
          <a:p>
            <a:r>
              <a:rPr lang="en-LV" b="1" dirty="0"/>
              <a:t>The subject of the research </a:t>
            </a:r>
            <a:r>
              <a:rPr lang="en-LV" dirty="0"/>
              <a:t>is</a:t>
            </a:r>
            <a:r>
              <a:rPr lang="en-LV" b="1" dirty="0"/>
              <a:t> </a:t>
            </a:r>
            <a:r>
              <a:rPr lang="en-LV" dirty="0"/>
              <a:t>intеlligеnt cooling control in tеlеcom cеntrаl officе еnvironmеnts undеr rеаl opеrаtionаl tеlеmеtry constrаints</a:t>
            </a:r>
          </a:p>
        </p:txBody>
      </p:sp>
      <p:sp>
        <p:nvSpPr>
          <p:cNvPr id="4" name="Date Placeholder 3">
            <a:extLst>
              <a:ext uri="{FF2B5EF4-FFF2-40B4-BE49-F238E27FC236}">
                <a16:creationId xmlns:a16="http://schemas.microsoft.com/office/drawing/2014/main" id="{0697DB2D-2554-8B74-714D-A5AE4F9AED1F}"/>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4FA10C87-A659-6977-7475-1CA8A7712D17}"/>
              </a:ext>
            </a:extLst>
          </p:cNvPr>
          <p:cNvSpPr>
            <a:spLocks noGrp="1"/>
          </p:cNvSpPr>
          <p:nvPr>
            <p:ph type="sldNum" sz="quarter" idx="12"/>
          </p:nvPr>
        </p:nvSpPr>
        <p:spPr/>
        <p:txBody>
          <a:bodyPr/>
          <a:lstStyle/>
          <a:p>
            <a:fld id="{CC7D8618-F20C-406E-B464-04F15D14577A}" type="slidenum">
              <a:rPr lang="en-GB" smtClean="0"/>
              <a:pPr/>
              <a:t>7</a:t>
            </a:fld>
            <a:endParaRPr lang="en-GB" dirty="0"/>
          </a:p>
        </p:txBody>
      </p:sp>
      <p:sp>
        <p:nvSpPr>
          <p:cNvPr id="6" name="Text Placeholder 5">
            <a:extLst>
              <a:ext uri="{FF2B5EF4-FFF2-40B4-BE49-F238E27FC236}">
                <a16:creationId xmlns:a16="http://schemas.microsoft.com/office/drawing/2014/main" id="{E4C2F553-4C65-68EF-8E9E-7CD42BC61C9C}"/>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9446C8D8-6713-7A32-2397-06D2DAFE29DA}"/>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23571148-DAE2-3E62-0B4C-5280EB264AED}"/>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F35334C3-02EA-6026-40AE-7950310765A1}"/>
              </a:ext>
            </a:extLst>
          </p:cNvPr>
          <p:cNvSpPr txBox="1"/>
          <p:nvPr/>
        </p:nvSpPr>
        <p:spPr>
          <a:xfrm>
            <a:off x="492918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5957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8E73-3A28-7880-A249-9AA65B7C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99BE0-DBE3-3989-8703-063C9FA0ECC3}"/>
              </a:ext>
            </a:extLst>
          </p:cNvPr>
          <p:cNvSpPr>
            <a:spLocks noGrp="1"/>
          </p:cNvSpPr>
          <p:nvPr>
            <p:ph type="title"/>
          </p:nvPr>
        </p:nvSpPr>
        <p:spPr/>
        <p:txBody>
          <a:bodyPr>
            <a:noAutofit/>
          </a:bodyPr>
          <a:lstStyle/>
          <a:p>
            <a:r>
              <a:rPr lang="en-GB" sz="4000"/>
              <a:t>Analytical framework</a:t>
            </a:r>
            <a:endParaRPr lang="en-LV" sz="4000" dirty="0"/>
          </a:p>
        </p:txBody>
      </p:sp>
      <p:sp>
        <p:nvSpPr>
          <p:cNvPr id="3" name="Content Placeholder 2">
            <a:extLst>
              <a:ext uri="{FF2B5EF4-FFF2-40B4-BE49-F238E27FC236}">
                <a16:creationId xmlns:a16="http://schemas.microsoft.com/office/drawing/2014/main" id="{9C2644ED-FC44-6B56-9880-C226CB5856FE}"/>
              </a:ext>
            </a:extLst>
          </p:cNvPr>
          <p:cNvSpPr>
            <a:spLocks noGrp="1"/>
          </p:cNvSpPr>
          <p:nvPr>
            <p:ph idx="1"/>
          </p:nvPr>
        </p:nvSpPr>
        <p:spPr/>
        <p:txBody>
          <a:bodyPr>
            <a:normAutofit/>
          </a:bodyPr>
          <a:lstStyle/>
          <a:p>
            <a:r>
              <a:rPr lang="en-LV" b="1" dirty="0"/>
              <a:t>The object of the research</a:t>
            </a:r>
            <a:r>
              <a:rPr lang="en-LV" dirty="0"/>
              <a:t> is cooling energy use in telecom central office technical infrastructure.</a:t>
            </a:r>
          </a:p>
          <a:p>
            <a:r>
              <a:rPr lang="en-LV" b="1" dirty="0"/>
              <a:t>The subject of the research </a:t>
            </a:r>
            <a:r>
              <a:rPr lang="en-LV" dirty="0"/>
              <a:t>is</a:t>
            </a:r>
            <a:r>
              <a:rPr lang="en-LV" b="1" dirty="0"/>
              <a:t> </a:t>
            </a:r>
            <a:r>
              <a:rPr lang="en-LV" dirty="0"/>
              <a:t>intеlligеnt cooling control in tеlеcom cеntrаl officе еnvironmеnts undеr rеаl opеrаtionаl tеlеmеtry constrаints</a:t>
            </a:r>
          </a:p>
        </p:txBody>
      </p:sp>
      <p:sp>
        <p:nvSpPr>
          <p:cNvPr id="4" name="Date Placeholder 3">
            <a:extLst>
              <a:ext uri="{FF2B5EF4-FFF2-40B4-BE49-F238E27FC236}">
                <a16:creationId xmlns:a16="http://schemas.microsoft.com/office/drawing/2014/main" id="{6A11F85B-23FE-E56F-6D6F-517CA130ED3D}"/>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1DA55D71-7620-F3A4-F7C6-5B67B1BD35A7}"/>
              </a:ext>
            </a:extLst>
          </p:cNvPr>
          <p:cNvSpPr>
            <a:spLocks noGrp="1"/>
          </p:cNvSpPr>
          <p:nvPr>
            <p:ph type="sldNum" sz="quarter" idx="12"/>
          </p:nvPr>
        </p:nvSpPr>
        <p:spPr/>
        <p:txBody>
          <a:bodyPr/>
          <a:lstStyle/>
          <a:p>
            <a:fld id="{CC7D8618-F20C-406E-B464-04F15D14577A}" type="slidenum">
              <a:rPr lang="en-GB" smtClean="0"/>
              <a:pPr/>
              <a:t>8</a:t>
            </a:fld>
            <a:endParaRPr lang="en-GB" dirty="0"/>
          </a:p>
        </p:txBody>
      </p:sp>
      <p:sp>
        <p:nvSpPr>
          <p:cNvPr id="6" name="Text Placeholder 5">
            <a:extLst>
              <a:ext uri="{FF2B5EF4-FFF2-40B4-BE49-F238E27FC236}">
                <a16:creationId xmlns:a16="http://schemas.microsoft.com/office/drawing/2014/main" id="{16C6DF5E-93A6-D77F-F39C-6E538905885E}"/>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FCDD72E0-B777-B2E0-A11B-66E11EC2C336}"/>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8AB0B85F-9041-1022-DDAE-A76A04AEBF20}"/>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AB699AEB-8B22-780C-451D-95D7D080A7DD}"/>
              </a:ext>
            </a:extLst>
          </p:cNvPr>
          <p:cNvSpPr txBox="1"/>
          <p:nvPr/>
        </p:nvSpPr>
        <p:spPr>
          <a:xfrm>
            <a:off x="492918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304304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Content Placeholder 24" descr="A diagram of research process&#10;&#10;AI-generated content may be incorrect.">
            <a:extLst>
              <a:ext uri="{FF2B5EF4-FFF2-40B4-BE49-F238E27FC236}">
                <a16:creationId xmlns:a16="http://schemas.microsoft.com/office/drawing/2014/main" id="{5C24EEF1-4724-4F85-DF8D-EBF9E54F38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1197" y="940182"/>
            <a:ext cx="8761605" cy="4928400"/>
          </a:xfrm>
          <a:noFill/>
        </p:spPr>
      </p:pic>
      <p:sp>
        <p:nvSpPr>
          <p:cNvPr id="4" name="Date Placeholder 3">
            <a:extLst>
              <a:ext uri="{FF2B5EF4-FFF2-40B4-BE49-F238E27FC236}">
                <a16:creationId xmlns:a16="http://schemas.microsoft.com/office/drawing/2014/main" id="{4B732CB1-9FD5-BF1B-98BC-7D8E1F9D53E6}"/>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24-Apr-26</a:t>
            </a:r>
          </a:p>
        </p:txBody>
      </p:sp>
      <p:sp>
        <p:nvSpPr>
          <p:cNvPr id="5" name="Slide Number Placeholder 4">
            <a:extLst>
              <a:ext uri="{FF2B5EF4-FFF2-40B4-BE49-F238E27FC236}">
                <a16:creationId xmlns:a16="http://schemas.microsoft.com/office/drawing/2014/main" id="{D76F2BAB-B2C2-8E02-3213-5AE7ABAD3DA6}"/>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mtClean="0"/>
              <a:pPr>
                <a:lnSpc>
                  <a:spcPct val="90000"/>
                </a:lnSpc>
                <a:spcAft>
                  <a:spcPts val="600"/>
                </a:spcAft>
              </a:pPr>
              <a:t>9</a:t>
            </a:fld>
            <a:endParaRPr lang="en-GB" dirty="0"/>
          </a:p>
        </p:txBody>
      </p:sp>
      <p:sp>
        <p:nvSpPr>
          <p:cNvPr id="6" name="Text Placeholder 5">
            <a:extLst>
              <a:ext uri="{FF2B5EF4-FFF2-40B4-BE49-F238E27FC236}">
                <a16:creationId xmlns:a16="http://schemas.microsoft.com/office/drawing/2014/main" id="{E5246BBD-4E5C-7A30-7474-85A33E809144}"/>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a:t>Anastasija Zubkova</a:t>
            </a:r>
          </a:p>
        </p:txBody>
      </p:sp>
      <p:sp>
        <p:nvSpPr>
          <p:cNvPr id="30" name="Text Placeholder 6">
            <a:extLst>
              <a:ext uri="{FF2B5EF4-FFF2-40B4-BE49-F238E27FC236}">
                <a16:creationId xmlns:a16="http://schemas.microsoft.com/office/drawing/2014/main" id="{F6872C24-A209-DAF3-5618-2A65E2DF1DD2}"/>
              </a:ext>
            </a:extLst>
          </p:cNvPr>
          <p:cNvSpPr>
            <a:spLocks noGrp="1"/>
          </p:cNvSpPr>
          <p:nvPr>
            <p:ph type="body" sz="quarter" idx="14"/>
          </p:nvPr>
        </p:nvSpPr>
        <p:spPr>
          <a:xfrm>
            <a:off x="1" y="2203"/>
            <a:ext cx="4571999" cy="258763"/>
          </a:xfrm>
        </p:spPr>
        <p:txBody>
          <a:bodyPr/>
          <a:lstStyle/>
          <a:p>
            <a:r>
              <a:rPr lang="en-LV" dirty="0"/>
              <a:t>RЕSЕАRCH DЕSIGN, DАTА АND MЕTHODS</a:t>
            </a:r>
            <a:endParaRPr lang="en-US" dirty="0"/>
          </a:p>
        </p:txBody>
      </p:sp>
      <p:sp>
        <p:nvSpPr>
          <p:cNvPr id="32" name="Text Placeholder 7">
            <a:extLst>
              <a:ext uri="{FF2B5EF4-FFF2-40B4-BE49-F238E27FC236}">
                <a16:creationId xmlns:a16="http://schemas.microsoft.com/office/drawing/2014/main" id="{AEF5B241-0764-3D90-669E-4CC440321AAC}"/>
              </a:ext>
            </a:extLst>
          </p:cNvPr>
          <p:cNvSpPr>
            <a:spLocks noGrp="1"/>
          </p:cNvSpPr>
          <p:nvPr>
            <p:ph type="body" sz="quarter" idx="15"/>
          </p:nvPr>
        </p:nvSpPr>
        <p:spPr>
          <a:xfrm>
            <a:off x="4572000" y="2203"/>
            <a:ext cx="4571999" cy="258763"/>
          </a:xfrm>
        </p:spPr>
        <p:txBody>
          <a:bodyPr/>
          <a:lstStyle/>
          <a:p>
            <a:endParaRPr lang="en-US"/>
          </a:p>
        </p:txBody>
      </p:sp>
      <p:sp>
        <p:nvSpPr>
          <p:cNvPr id="7" name="TextBox 6">
            <a:extLst>
              <a:ext uri="{FF2B5EF4-FFF2-40B4-BE49-F238E27FC236}">
                <a16:creationId xmlns:a16="http://schemas.microsoft.com/office/drawing/2014/main" id="{A3EDF94E-C730-E51C-B270-717490150581}"/>
              </a:ext>
            </a:extLst>
          </p:cNvPr>
          <p:cNvSpPr txBox="1"/>
          <p:nvPr/>
        </p:nvSpPr>
        <p:spPr>
          <a:xfrm>
            <a:off x="522636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
        <p:nvSpPr>
          <p:cNvPr id="9" name="TextBox 8">
            <a:extLst>
              <a:ext uri="{FF2B5EF4-FFF2-40B4-BE49-F238E27FC236}">
                <a16:creationId xmlns:a16="http://schemas.microsoft.com/office/drawing/2014/main" id="{21594C66-F1AA-F4F6-C075-3C73032BE24A}"/>
              </a:ext>
            </a:extLst>
          </p:cNvPr>
          <p:cNvSpPr txBox="1"/>
          <p:nvPr/>
        </p:nvSpPr>
        <p:spPr>
          <a:xfrm>
            <a:off x="265748" y="281532"/>
            <a:ext cx="4960620" cy="707886"/>
          </a:xfrm>
          <a:prstGeom prst="rect">
            <a:avLst/>
          </a:prstGeom>
          <a:noFill/>
        </p:spPr>
        <p:txBody>
          <a:bodyPr wrap="square">
            <a:spAutoFit/>
          </a:bodyPr>
          <a:lstStyle/>
          <a:p>
            <a:r>
              <a:rPr lang="en-GB" sz="4000" dirty="0"/>
              <a:t>Analytical framework</a:t>
            </a:r>
            <a:endParaRPr lang="en-LV" sz="4000" dirty="0"/>
          </a:p>
        </p:txBody>
      </p:sp>
    </p:spTree>
    <p:extLst>
      <p:ext uri="{BB962C8B-B14F-4D97-AF65-F5344CB8AC3E}">
        <p14:creationId xmlns:p14="http://schemas.microsoft.com/office/powerpoint/2010/main" val="403235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5A12-6756-DE64-418B-4B4C6DACF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44FDF-8EE9-7D2B-2F72-0194BFFAD7F0}"/>
              </a:ext>
            </a:extLst>
          </p:cNvPr>
          <p:cNvSpPr>
            <a:spLocks noGrp="1"/>
          </p:cNvSpPr>
          <p:nvPr>
            <p:ph type="title"/>
          </p:nvPr>
        </p:nvSpPr>
        <p:spPr>
          <a:xfrm>
            <a:off x="0" y="346273"/>
            <a:ext cx="9143998" cy="930983"/>
          </a:xfrm>
        </p:spPr>
        <p:txBody>
          <a:bodyPr>
            <a:normAutofit/>
          </a:bodyPr>
          <a:lstStyle/>
          <a:p>
            <a:r>
              <a:rPr lang="en-GB" sz="4000" dirty="0"/>
              <a:t>Intelligent control strategy</a:t>
            </a:r>
            <a:endParaRPr lang="en-LV" sz="4000" dirty="0"/>
          </a:p>
        </p:txBody>
      </p:sp>
      <p:sp>
        <p:nvSpPr>
          <p:cNvPr id="4" name="Date Placeholder 3">
            <a:extLst>
              <a:ext uri="{FF2B5EF4-FFF2-40B4-BE49-F238E27FC236}">
                <a16:creationId xmlns:a16="http://schemas.microsoft.com/office/drawing/2014/main" id="{3A03B473-CD1D-D5BC-7F2E-DDBCA6C05FD4}"/>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E4D7676A-9E6F-AE4E-B15D-5F909D3BCE23}"/>
              </a:ext>
            </a:extLst>
          </p:cNvPr>
          <p:cNvSpPr>
            <a:spLocks noGrp="1"/>
          </p:cNvSpPr>
          <p:nvPr>
            <p:ph type="sldNum" sz="quarter" idx="12"/>
          </p:nvPr>
        </p:nvSpPr>
        <p:spPr/>
        <p:txBody>
          <a:bodyPr/>
          <a:lstStyle/>
          <a:p>
            <a:fld id="{CC7D8618-F20C-406E-B464-04F15D14577A}" type="slidenum">
              <a:rPr lang="en-GB" smtClean="0"/>
              <a:pPr/>
              <a:t>10</a:t>
            </a:fld>
            <a:endParaRPr lang="en-GB" dirty="0"/>
          </a:p>
        </p:txBody>
      </p:sp>
      <p:sp>
        <p:nvSpPr>
          <p:cNvPr id="6" name="Text Placeholder 5">
            <a:extLst>
              <a:ext uri="{FF2B5EF4-FFF2-40B4-BE49-F238E27FC236}">
                <a16:creationId xmlns:a16="http://schemas.microsoft.com/office/drawing/2014/main" id="{365E2A91-DEF8-BB1A-AB0A-FF1891D37317}"/>
              </a:ext>
            </a:extLst>
          </p:cNvPr>
          <p:cNvSpPr>
            <a:spLocks noGrp="1"/>
          </p:cNvSpPr>
          <p:nvPr>
            <p:ph type="body" sz="quarter" idx="13"/>
          </p:nvPr>
        </p:nvSpPr>
        <p:spPr/>
        <p:txBody>
          <a:bodyPr/>
          <a:lstStyle/>
          <a:p>
            <a:r>
              <a:rPr lang="en-GB" dirty="0"/>
              <a:t>Anastasija Zubkova</a:t>
            </a:r>
            <a:endParaRPr lang="en-LV" dirty="0"/>
          </a:p>
        </p:txBody>
      </p:sp>
      <p:sp>
        <p:nvSpPr>
          <p:cNvPr id="7" name="Text Placeholder 6">
            <a:extLst>
              <a:ext uri="{FF2B5EF4-FFF2-40B4-BE49-F238E27FC236}">
                <a16:creationId xmlns:a16="http://schemas.microsoft.com/office/drawing/2014/main" id="{F66FDD02-4990-6FB5-2020-690A89B232C2}"/>
              </a:ext>
            </a:extLst>
          </p:cNvPr>
          <p:cNvSpPr>
            <a:spLocks noGrp="1"/>
          </p:cNvSpPr>
          <p:nvPr>
            <p:ph type="body" sz="quarter" idx="14"/>
          </p:nvPr>
        </p:nvSpPr>
        <p:spPr/>
        <p:txBody>
          <a:bodyPr/>
          <a:lstStyle/>
          <a:p>
            <a:r>
              <a:rPr lang="en-LV" dirty="0"/>
              <a:t>RЕSЕАRCH DЕSIGN, DАTА АND MЕTHODS</a:t>
            </a:r>
          </a:p>
        </p:txBody>
      </p:sp>
      <p:sp>
        <p:nvSpPr>
          <p:cNvPr id="8" name="Text Placeholder 7">
            <a:extLst>
              <a:ext uri="{FF2B5EF4-FFF2-40B4-BE49-F238E27FC236}">
                <a16:creationId xmlns:a16="http://schemas.microsoft.com/office/drawing/2014/main" id="{7D1BBA2E-285A-C0F5-6655-7100E3DDDBD6}"/>
              </a:ext>
            </a:extLst>
          </p:cNvPr>
          <p:cNvSpPr>
            <a:spLocks noGrp="1"/>
          </p:cNvSpPr>
          <p:nvPr>
            <p:ph type="body" sz="quarter" idx="15"/>
          </p:nvPr>
        </p:nvSpPr>
        <p:spPr/>
        <p:txBody>
          <a:bodyPr/>
          <a:lstStyle/>
          <a:p>
            <a:endParaRPr lang="en-LV"/>
          </a:p>
        </p:txBody>
      </p:sp>
      <p:pic>
        <p:nvPicPr>
          <p:cNvPr id="17" name="Content Placeholder 16" descr="A diagram of a diagram&#10;&#10;AI-generated content may be incorrect.">
            <a:extLst>
              <a:ext uri="{FF2B5EF4-FFF2-40B4-BE49-F238E27FC236}">
                <a16:creationId xmlns:a16="http://schemas.microsoft.com/office/drawing/2014/main" id="{E6BB7DB1-6563-EA05-A14F-B82456E8E33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7337" y="1012142"/>
            <a:ext cx="8569325" cy="4833715"/>
          </a:xfrm>
        </p:spPr>
      </p:pic>
      <p:sp>
        <p:nvSpPr>
          <p:cNvPr id="9" name="TextBox 8">
            <a:extLst>
              <a:ext uri="{FF2B5EF4-FFF2-40B4-BE49-F238E27FC236}">
                <a16:creationId xmlns:a16="http://schemas.microsoft.com/office/drawing/2014/main" id="{20DDDF29-2E67-BB20-0563-E98AE2EEB6AB}"/>
              </a:ext>
            </a:extLst>
          </p:cNvPr>
          <p:cNvSpPr txBox="1"/>
          <p:nvPr/>
        </p:nvSpPr>
        <p:spPr>
          <a:xfrm>
            <a:off x="5072063" y="654802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723907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9149-32EE-85B6-1598-33CA4D0A6A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B67715-AFB8-F29D-6BB4-254BED3D488B}"/>
              </a:ext>
            </a:extLst>
          </p:cNvPr>
          <p:cNvSpPr>
            <a:spLocks noGrp="1"/>
          </p:cNvSpPr>
          <p:nvPr>
            <p:ph type="title"/>
          </p:nvPr>
        </p:nvSpPr>
        <p:spPr>
          <a:xfrm>
            <a:off x="2" y="346273"/>
            <a:ext cx="9143998" cy="986719"/>
          </a:xfrm>
        </p:spPr>
        <p:txBody>
          <a:bodyPr anchor="t">
            <a:noAutofit/>
          </a:bodyPr>
          <a:lstStyle/>
          <a:p>
            <a:r>
              <a:rPr lang="en-GB" sz="4000" dirty="0"/>
              <a:t>7. Data and case-study context: </a:t>
            </a:r>
            <a:br>
              <a:rPr lang="en-GB" sz="4000" dirty="0"/>
            </a:br>
            <a:r>
              <a:rPr lang="en-GB" sz="4000" dirty="0"/>
              <a:t>Data access and source environment</a:t>
            </a:r>
            <a:endParaRPr lang="en-LV" sz="4000" dirty="0"/>
          </a:p>
        </p:txBody>
      </p:sp>
      <p:pic>
        <p:nvPicPr>
          <p:cNvPr id="16" name="Content Placeholder 15" descr="A screenshot of a computer screen&#10;&#10;AI-generated content may be incorrect.">
            <a:extLst>
              <a:ext uri="{FF2B5EF4-FFF2-40B4-BE49-F238E27FC236}">
                <a16:creationId xmlns:a16="http://schemas.microsoft.com/office/drawing/2014/main" id="{4B38338E-F1D5-1EE4-86BD-271E190C697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2547" y="1418299"/>
            <a:ext cx="8758905" cy="4926881"/>
          </a:xfrm>
          <a:noFill/>
        </p:spPr>
      </p:pic>
      <p:sp>
        <p:nvSpPr>
          <p:cNvPr id="7" name="Date Placeholder 6">
            <a:extLst>
              <a:ext uri="{FF2B5EF4-FFF2-40B4-BE49-F238E27FC236}">
                <a16:creationId xmlns:a16="http://schemas.microsoft.com/office/drawing/2014/main" id="{0B9043EB-596D-07AB-E73E-8D3E315658AD}"/>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24-Apr-26</a:t>
            </a:r>
          </a:p>
        </p:txBody>
      </p:sp>
      <p:sp>
        <p:nvSpPr>
          <p:cNvPr id="8" name="Slide Number Placeholder 7">
            <a:extLst>
              <a:ext uri="{FF2B5EF4-FFF2-40B4-BE49-F238E27FC236}">
                <a16:creationId xmlns:a16="http://schemas.microsoft.com/office/drawing/2014/main" id="{91DB1573-BD2D-E6B4-8DA5-958176AE67EC}"/>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mtClean="0"/>
              <a:pPr>
                <a:lnSpc>
                  <a:spcPct val="90000"/>
                </a:lnSpc>
                <a:spcAft>
                  <a:spcPts val="600"/>
                </a:spcAft>
              </a:pPr>
              <a:t>11</a:t>
            </a:fld>
            <a:endParaRPr lang="en-GB"/>
          </a:p>
        </p:txBody>
      </p:sp>
      <p:sp>
        <p:nvSpPr>
          <p:cNvPr id="9" name="Text Placeholder 8">
            <a:extLst>
              <a:ext uri="{FF2B5EF4-FFF2-40B4-BE49-F238E27FC236}">
                <a16:creationId xmlns:a16="http://schemas.microsoft.com/office/drawing/2014/main" id="{CBE2D4B7-D710-72FC-BE29-628CFAD29AA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a:t>Anastasija Zubkova</a:t>
            </a:r>
          </a:p>
        </p:txBody>
      </p:sp>
      <p:sp>
        <p:nvSpPr>
          <p:cNvPr id="21" name="Text Placeholder 6">
            <a:extLst>
              <a:ext uri="{FF2B5EF4-FFF2-40B4-BE49-F238E27FC236}">
                <a16:creationId xmlns:a16="http://schemas.microsoft.com/office/drawing/2014/main" id="{7E2E2C44-646A-4722-17FF-21D4284FA5BC}"/>
              </a:ext>
            </a:extLst>
          </p:cNvPr>
          <p:cNvSpPr>
            <a:spLocks noGrp="1"/>
          </p:cNvSpPr>
          <p:nvPr>
            <p:ph type="body" sz="quarter" idx="14"/>
          </p:nvPr>
        </p:nvSpPr>
        <p:spPr>
          <a:xfrm>
            <a:off x="1" y="2203"/>
            <a:ext cx="4571999" cy="258763"/>
          </a:xfrm>
        </p:spPr>
        <p:txBody>
          <a:bodyPr/>
          <a:lstStyle/>
          <a:p>
            <a:r>
              <a:rPr lang="en-LV" dirty="0"/>
              <a:t>RЕSЕАRCH DЕSIGN, DАTА АND MЕTHODS</a:t>
            </a:r>
            <a:endParaRPr lang="en-US" dirty="0"/>
          </a:p>
        </p:txBody>
      </p:sp>
      <p:sp>
        <p:nvSpPr>
          <p:cNvPr id="23" name="Text Placeholder 7">
            <a:extLst>
              <a:ext uri="{FF2B5EF4-FFF2-40B4-BE49-F238E27FC236}">
                <a16:creationId xmlns:a16="http://schemas.microsoft.com/office/drawing/2014/main" id="{4FD89C38-D505-4CA9-5D9E-4A1F46D491E2}"/>
              </a:ext>
            </a:extLst>
          </p:cNvPr>
          <p:cNvSpPr>
            <a:spLocks noGrp="1"/>
          </p:cNvSpPr>
          <p:nvPr>
            <p:ph type="body" sz="quarter" idx="15"/>
          </p:nvPr>
        </p:nvSpPr>
        <p:spPr>
          <a:xfrm>
            <a:off x="4572000" y="2203"/>
            <a:ext cx="4571999" cy="258763"/>
          </a:xfrm>
        </p:spPr>
        <p:txBody>
          <a:bodyPr/>
          <a:lstStyle/>
          <a:p>
            <a:endParaRPr lang="en-US"/>
          </a:p>
        </p:txBody>
      </p:sp>
      <p:sp>
        <p:nvSpPr>
          <p:cNvPr id="3" name="TextBox 2">
            <a:extLst>
              <a:ext uri="{FF2B5EF4-FFF2-40B4-BE49-F238E27FC236}">
                <a16:creationId xmlns:a16="http://schemas.microsoft.com/office/drawing/2014/main" id="{BD309C76-0589-3627-CE17-7F8893068814}"/>
              </a:ext>
            </a:extLst>
          </p:cNvPr>
          <p:cNvSpPr txBox="1"/>
          <p:nvPr/>
        </p:nvSpPr>
        <p:spPr>
          <a:xfrm>
            <a:off x="4877753" y="6550223"/>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553954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478E42-F04A-FE78-E54C-6C45026BE93F}"/>
              </a:ext>
            </a:extLst>
          </p:cNvPr>
          <p:cNvSpPr>
            <a:spLocks noGrp="1"/>
          </p:cNvSpPr>
          <p:nvPr>
            <p:ph sz="half" idx="1"/>
          </p:nvPr>
        </p:nvSpPr>
        <p:spPr>
          <a:xfrm>
            <a:off x="181017" y="1506448"/>
            <a:ext cx="8662323" cy="3788987"/>
          </a:xfrm>
        </p:spPr>
        <p:txBody>
          <a:bodyPr>
            <a:noAutofit/>
          </a:bodyPr>
          <a:lstStyle/>
          <a:p>
            <a:pPr>
              <a:lnSpc>
                <a:spcPct val="100000"/>
              </a:lnSpc>
            </a:pPr>
            <a:r>
              <a:rPr lang="en-GB" sz="2200" dirty="0"/>
              <a:t>The data covered more than one year, but the analysis was restricted to </a:t>
            </a:r>
            <a:r>
              <a:rPr lang="en-GB" sz="2200" b="1" dirty="0"/>
              <a:t>year 2025</a:t>
            </a:r>
          </a:p>
          <a:p>
            <a:pPr>
              <a:lnSpc>
                <a:spcPct val="100000"/>
              </a:lnSpc>
            </a:pPr>
            <a:r>
              <a:rPr lang="en-GB" sz="2200" dirty="0"/>
              <a:t>2025 is </a:t>
            </a:r>
            <a:r>
              <a:rPr lang="en-GB" sz="2200" b="1" dirty="0"/>
              <a:t>complete and internally coherent</a:t>
            </a:r>
            <a:r>
              <a:rPr lang="en-GB" sz="2200" dirty="0"/>
              <a:t> annual window</a:t>
            </a:r>
          </a:p>
          <a:p>
            <a:pPr>
              <a:lnSpc>
                <a:spcPct val="100000"/>
              </a:lnSpc>
            </a:pPr>
            <a:r>
              <a:rPr lang="en-GB" sz="2200" dirty="0"/>
              <a:t>Monthly continuity in 2025 remained effectively complete, only one dip to </a:t>
            </a:r>
            <a:r>
              <a:rPr lang="en-GB" sz="2200" b="1" dirty="0"/>
              <a:t>94% in August</a:t>
            </a:r>
          </a:p>
        </p:txBody>
      </p:sp>
      <p:sp>
        <p:nvSpPr>
          <p:cNvPr id="4" name="Title 3">
            <a:extLst>
              <a:ext uri="{FF2B5EF4-FFF2-40B4-BE49-F238E27FC236}">
                <a16:creationId xmlns:a16="http://schemas.microsoft.com/office/drawing/2014/main" id="{1E7C6D31-0047-8DBA-9677-6ACC1BB2C938}"/>
              </a:ext>
            </a:extLst>
          </p:cNvPr>
          <p:cNvSpPr>
            <a:spLocks noGrp="1"/>
          </p:cNvSpPr>
          <p:nvPr>
            <p:ph type="title"/>
          </p:nvPr>
        </p:nvSpPr>
        <p:spPr/>
        <p:txBody>
          <a:bodyPr>
            <a:noAutofit/>
          </a:bodyPr>
          <a:lstStyle/>
          <a:p>
            <a:r>
              <a:rPr lang="en-GB" sz="4000" dirty="0"/>
              <a:t>7. Data and case-study context:</a:t>
            </a:r>
            <a:br>
              <a:rPr lang="en-GB" sz="4000" dirty="0"/>
            </a:br>
            <a:r>
              <a:rPr lang="en-GB" sz="4000" dirty="0"/>
              <a:t>Study period and temporal continuity</a:t>
            </a:r>
            <a:endParaRPr lang="en-LV" sz="4000" dirty="0"/>
          </a:p>
        </p:txBody>
      </p:sp>
      <p:sp>
        <p:nvSpPr>
          <p:cNvPr id="5" name="Text Placeholder 4">
            <a:extLst>
              <a:ext uri="{FF2B5EF4-FFF2-40B4-BE49-F238E27FC236}">
                <a16:creationId xmlns:a16="http://schemas.microsoft.com/office/drawing/2014/main" id="{754F9542-99BD-D200-61AA-4A7D5CC426FE}"/>
              </a:ext>
            </a:extLst>
          </p:cNvPr>
          <p:cNvSpPr>
            <a:spLocks noGrp="1"/>
          </p:cNvSpPr>
          <p:nvPr>
            <p:ph type="body" sz="quarter" idx="14"/>
          </p:nvPr>
        </p:nvSpPr>
        <p:spPr/>
        <p:txBody>
          <a:bodyPr/>
          <a:lstStyle/>
          <a:p>
            <a:r>
              <a:rPr lang="en-LV" dirty="0"/>
              <a:t>RЕSЕАRCH DЕSIGN, DАTА АND MЕTHODS</a:t>
            </a:r>
          </a:p>
        </p:txBody>
      </p:sp>
      <p:sp>
        <p:nvSpPr>
          <p:cNvPr id="6" name="Text Placeholder 5">
            <a:extLst>
              <a:ext uri="{FF2B5EF4-FFF2-40B4-BE49-F238E27FC236}">
                <a16:creationId xmlns:a16="http://schemas.microsoft.com/office/drawing/2014/main" id="{6C471CC1-0866-DD55-03A7-8861F8C84DF9}"/>
              </a:ext>
            </a:extLst>
          </p:cNvPr>
          <p:cNvSpPr>
            <a:spLocks noGrp="1"/>
          </p:cNvSpPr>
          <p:nvPr>
            <p:ph type="body" sz="quarter" idx="15"/>
          </p:nvPr>
        </p:nvSpPr>
        <p:spPr/>
        <p:txBody>
          <a:bodyPr/>
          <a:lstStyle/>
          <a:p>
            <a:endParaRPr lang="en-LV"/>
          </a:p>
        </p:txBody>
      </p:sp>
      <p:sp>
        <p:nvSpPr>
          <p:cNvPr id="7" name="Date Placeholder 6">
            <a:extLst>
              <a:ext uri="{FF2B5EF4-FFF2-40B4-BE49-F238E27FC236}">
                <a16:creationId xmlns:a16="http://schemas.microsoft.com/office/drawing/2014/main" id="{A48AD528-4477-C31A-B0A9-4BA972243060}"/>
              </a:ext>
            </a:extLst>
          </p:cNvPr>
          <p:cNvSpPr>
            <a:spLocks noGrp="1"/>
          </p:cNvSpPr>
          <p:nvPr>
            <p:ph type="dt" sz="half" idx="10"/>
          </p:nvPr>
        </p:nvSpPr>
        <p:spPr/>
        <p:txBody>
          <a:bodyPr/>
          <a:lstStyle/>
          <a:p>
            <a:r>
              <a:rPr lang="en-GB" dirty="0"/>
              <a:t>24-Apr-26</a:t>
            </a:r>
          </a:p>
        </p:txBody>
      </p:sp>
      <p:sp>
        <p:nvSpPr>
          <p:cNvPr id="8" name="Slide Number Placeholder 7">
            <a:extLst>
              <a:ext uri="{FF2B5EF4-FFF2-40B4-BE49-F238E27FC236}">
                <a16:creationId xmlns:a16="http://schemas.microsoft.com/office/drawing/2014/main" id="{9EF00521-9363-5CCD-ADEC-27173C6A8288}"/>
              </a:ext>
            </a:extLst>
          </p:cNvPr>
          <p:cNvSpPr>
            <a:spLocks noGrp="1"/>
          </p:cNvSpPr>
          <p:nvPr>
            <p:ph type="sldNum" sz="quarter" idx="12"/>
          </p:nvPr>
        </p:nvSpPr>
        <p:spPr/>
        <p:txBody>
          <a:bodyPr/>
          <a:lstStyle/>
          <a:p>
            <a:fld id="{CC7D8618-F20C-406E-B464-04F15D14577A}" type="slidenum">
              <a:rPr lang="en-GB" smtClean="0"/>
              <a:pPr/>
              <a:t>12</a:t>
            </a:fld>
            <a:endParaRPr lang="en-GB" dirty="0"/>
          </a:p>
        </p:txBody>
      </p:sp>
      <p:sp>
        <p:nvSpPr>
          <p:cNvPr id="9" name="Text Placeholder 8">
            <a:extLst>
              <a:ext uri="{FF2B5EF4-FFF2-40B4-BE49-F238E27FC236}">
                <a16:creationId xmlns:a16="http://schemas.microsoft.com/office/drawing/2014/main" id="{F319A138-A419-8620-19F3-8D43B3C75A7F}"/>
              </a:ext>
            </a:extLst>
          </p:cNvPr>
          <p:cNvSpPr>
            <a:spLocks noGrp="1"/>
          </p:cNvSpPr>
          <p:nvPr>
            <p:ph type="body" sz="quarter" idx="13"/>
          </p:nvPr>
        </p:nvSpPr>
        <p:spPr/>
        <p:txBody>
          <a:bodyPr/>
          <a:lstStyle/>
          <a:p>
            <a:r>
              <a:rPr lang="en-GB" dirty="0"/>
              <a:t>Anastasija Zubkova</a:t>
            </a:r>
          </a:p>
        </p:txBody>
      </p:sp>
      <p:pic>
        <p:nvPicPr>
          <p:cNvPr id="10" name="Content Placeholder 9" descr="A graph of a number of blue squares&#10;&#10;AI-generated content may be incorrect.">
            <a:extLst>
              <a:ext uri="{FF2B5EF4-FFF2-40B4-BE49-F238E27FC236}">
                <a16:creationId xmlns:a16="http://schemas.microsoft.com/office/drawing/2014/main" id="{8F7E7884-F900-17F9-3C15-A842469DA416}"/>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882451" y="3617014"/>
            <a:ext cx="7379097" cy="2980020"/>
          </a:xfrm>
          <a:prstGeom prst="rect">
            <a:avLst/>
          </a:prstGeom>
        </p:spPr>
      </p:pic>
      <p:sp>
        <p:nvSpPr>
          <p:cNvPr id="11" name="TextBox 10">
            <a:extLst>
              <a:ext uri="{FF2B5EF4-FFF2-40B4-BE49-F238E27FC236}">
                <a16:creationId xmlns:a16="http://schemas.microsoft.com/office/drawing/2014/main" id="{237655B4-50E8-4AB4-3400-A108CA94530F}"/>
              </a:ext>
            </a:extLst>
          </p:cNvPr>
          <p:cNvSpPr txBox="1"/>
          <p:nvPr/>
        </p:nvSpPr>
        <p:spPr>
          <a:xfrm>
            <a:off x="5026343" y="657288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3599786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CDDB-3492-5C4F-2772-83DC41314E69}"/>
              </a:ext>
            </a:extLst>
          </p:cNvPr>
          <p:cNvSpPr>
            <a:spLocks noGrp="1"/>
          </p:cNvSpPr>
          <p:nvPr>
            <p:ph type="title"/>
          </p:nvPr>
        </p:nvSpPr>
        <p:spPr>
          <a:xfrm>
            <a:off x="2" y="346274"/>
            <a:ext cx="9143998" cy="755522"/>
          </a:xfrm>
        </p:spPr>
        <p:txBody>
          <a:bodyPr>
            <a:normAutofit/>
          </a:bodyPr>
          <a:lstStyle/>
          <a:p>
            <a:r>
              <a:rPr lang="en-GB" sz="4000" dirty="0"/>
              <a:t>8. Methodology: Target engineering</a:t>
            </a:r>
            <a:endParaRPr lang="en-LV" sz="4000" dirty="0"/>
          </a:p>
        </p:txBody>
      </p:sp>
      <p:sp>
        <p:nvSpPr>
          <p:cNvPr id="3" name="Content Placeholder 2">
            <a:extLst>
              <a:ext uri="{FF2B5EF4-FFF2-40B4-BE49-F238E27FC236}">
                <a16:creationId xmlns:a16="http://schemas.microsoft.com/office/drawing/2014/main" id="{E19A72C4-D702-29D4-4BCC-8360EB02F44A}"/>
              </a:ext>
            </a:extLst>
          </p:cNvPr>
          <p:cNvSpPr>
            <a:spLocks noGrp="1"/>
          </p:cNvSpPr>
          <p:nvPr>
            <p:ph idx="1"/>
          </p:nvPr>
        </p:nvSpPr>
        <p:spPr>
          <a:xfrm>
            <a:off x="276028" y="1332537"/>
            <a:ext cx="8568869" cy="5033773"/>
          </a:xfrm>
        </p:spPr>
        <p:txBody>
          <a:bodyPr>
            <a:normAutofit/>
          </a:bodyPr>
          <a:lstStyle/>
          <a:p>
            <a:pPr>
              <a:lnSpc>
                <a:spcPct val="100000"/>
              </a:lnSpc>
            </a:pPr>
            <a:r>
              <a:rPr lang="en-GB" sz="2000" dirty="0"/>
              <a:t>Cooling demand was </a:t>
            </a:r>
            <a:r>
              <a:rPr lang="en-GB" sz="2000" b="1" dirty="0"/>
              <a:t>not available as a ready hourly target</a:t>
            </a:r>
          </a:p>
          <a:p>
            <a:pPr>
              <a:lnSpc>
                <a:spcPct val="100000"/>
              </a:lnSpc>
            </a:pPr>
            <a:r>
              <a:rPr lang="en-GB" sz="2000" dirty="0"/>
              <a:t>Candidate cumulative cooling signals were screened</a:t>
            </a:r>
          </a:p>
          <a:p>
            <a:r>
              <a:rPr lang="en-GB" sz="2000" dirty="0"/>
              <a:t>Hourly target built by alignment, differencing, clipping, and aggregation</a:t>
            </a:r>
          </a:p>
        </p:txBody>
      </p:sp>
      <p:sp>
        <p:nvSpPr>
          <p:cNvPr id="4" name="Date Placeholder 3">
            <a:extLst>
              <a:ext uri="{FF2B5EF4-FFF2-40B4-BE49-F238E27FC236}">
                <a16:creationId xmlns:a16="http://schemas.microsoft.com/office/drawing/2014/main" id="{4FA34148-F29D-78A3-F205-F6ACE339B010}"/>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8CC5CF84-DE44-E72A-C973-5912917088AF}"/>
              </a:ext>
            </a:extLst>
          </p:cNvPr>
          <p:cNvSpPr>
            <a:spLocks noGrp="1"/>
          </p:cNvSpPr>
          <p:nvPr>
            <p:ph type="sldNum" sz="quarter" idx="12"/>
          </p:nvPr>
        </p:nvSpPr>
        <p:spPr/>
        <p:txBody>
          <a:bodyPr/>
          <a:lstStyle/>
          <a:p>
            <a:fld id="{CC7D8618-F20C-406E-B464-04F15D14577A}" type="slidenum">
              <a:rPr lang="en-GB" smtClean="0"/>
              <a:pPr/>
              <a:t>13</a:t>
            </a:fld>
            <a:endParaRPr lang="en-GB" dirty="0"/>
          </a:p>
        </p:txBody>
      </p:sp>
      <p:sp>
        <p:nvSpPr>
          <p:cNvPr id="6" name="Text Placeholder 5">
            <a:extLst>
              <a:ext uri="{FF2B5EF4-FFF2-40B4-BE49-F238E27FC236}">
                <a16:creationId xmlns:a16="http://schemas.microsoft.com/office/drawing/2014/main" id="{9D700473-8375-68FD-6B50-9B0FEA88F97F}"/>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0849CA9E-28E4-68B9-CF7F-875F758713E4}"/>
              </a:ext>
            </a:extLst>
          </p:cNvPr>
          <p:cNvSpPr>
            <a:spLocks noGrp="1"/>
          </p:cNvSpPr>
          <p:nvPr>
            <p:ph type="body" sz="quarter" idx="14"/>
          </p:nvPr>
        </p:nvSpPr>
        <p:spPr/>
        <p:txBody>
          <a:bodyPr/>
          <a:lstStyle/>
          <a:p>
            <a:r>
              <a:rPr lang="en-LV" dirty="0"/>
              <a:t>RЕSЕАRCH DЕSIGN, DАTА АND MЕTHODS</a:t>
            </a:r>
          </a:p>
        </p:txBody>
      </p:sp>
      <p:sp>
        <p:nvSpPr>
          <p:cNvPr id="8" name="Text Placeholder 7">
            <a:extLst>
              <a:ext uri="{FF2B5EF4-FFF2-40B4-BE49-F238E27FC236}">
                <a16:creationId xmlns:a16="http://schemas.microsoft.com/office/drawing/2014/main" id="{4DCE3F73-9859-78A4-2B31-553861D5C703}"/>
              </a:ext>
            </a:extLst>
          </p:cNvPr>
          <p:cNvSpPr>
            <a:spLocks noGrp="1"/>
          </p:cNvSpPr>
          <p:nvPr>
            <p:ph type="body" sz="quarter" idx="15"/>
          </p:nvPr>
        </p:nvSpPr>
        <p:spPr/>
        <p:txBody>
          <a:bodyPr/>
          <a:lstStyle/>
          <a:p>
            <a:endParaRPr lang="en-LV"/>
          </a:p>
        </p:txBody>
      </p:sp>
      <p:pic>
        <p:nvPicPr>
          <p:cNvPr id="10" name="Picture 9">
            <a:extLst>
              <a:ext uri="{FF2B5EF4-FFF2-40B4-BE49-F238E27FC236}">
                <a16:creationId xmlns:a16="http://schemas.microsoft.com/office/drawing/2014/main" id="{08BB38E8-39DE-DEC5-FD56-E7E17510728E}"/>
              </a:ext>
            </a:extLst>
          </p:cNvPr>
          <p:cNvPicPr>
            <a:picLocks noChangeAspect="1"/>
          </p:cNvPicPr>
          <p:nvPr/>
        </p:nvPicPr>
        <p:blipFill>
          <a:blip r:embed="rId3"/>
          <a:stretch>
            <a:fillRect/>
          </a:stretch>
        </p:blipFill>
        <p:spPr>
          <a:xfrm>
            <a:off x="411443" y="3429000"/>
            <a:ext cx="8201471" cy="2692402"/>
          </a:xfrm>
          <a:prstGeom prst="rect">
            <a:avLst/>
          </a:prstGeom>
        </p:spPr>
      </p:pic>
    </p:spTree>
    <p:extLst>
      <p:ext uri="{BB962C8B-B14F-4D97-AF65-F5344CB8AC3E}">
        <p14:creationId xmlns:p14="http://schemas.microsoft.com/office/powerpoint/2010/main" val="3124782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4461-E212-F0E6-DF27-2F004DF50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9D564-37E1-B9DE-0676-260947A173DF}"/>
              </a:ext>
            </a:extLst>
          </p:cNvPr>
          <p:cNvSpPr>
            <a:spLocks noGrp="1"/>
          </p:cNvSpPr>
          <p:nvPr>
            <p:ph type="title"/>
          </p:nvPr>
        </p:nvSpPr>
        <p:spPr>
          <a:xfrm>
            <a:off x="2" y="346274"/>
            <a:ext cx="9143998" cy="755522"/>
          </a:xfrm>
        </p:spPr>
        <p:txBody>
          <a:bodyPr>
            <a:normAutofit/>
          </a:bodyPr>
          <a:lstStyle/>
          <a:p>
            <a:r>
              <a:rPr lang="en-GB" sz="4000" dirty="0"/>
              <a:t>8. Methodology: Forecasting and validation</a:t>
            </a:r>
            <a:endParaRPr lang="en-LV" sz="4000" dirty="0"/>
          </a:p>
        </p:txBody>
      </p:sp>
      <p:sp>
        <p:nvSpPr>
          <p:cNvPr id="3" name="Content Placeholder 2">
            <a:extLst>
              <a:ext uri="{FF2B5EF4-FFF2-40B4-BE49-F238E27FC236}">
                <a16:creationId xmlns:a16="http://schemas.microsoft.com/office/drawing/2014/main" id="{C89E550D-31AE-4056-1347-F82BAF75F8D8}"/>
              </a:ext>
            </a:extLst>
          </p:cNvPr>
          <p:cNvSpPr>
            <a:spLocks noGrp="1"/>
          </p:cNvSpPr>
          <p:nvPr>
            <p:ph idx="1"/>
          </p:nvPr>
        </p:nvSpPr>
        <p:spPr>
          <a:xfrm>
            <a:off x="261732" y="1101796"/>
            <a:ext cx="8882266" cy="5033773"/>
          </a:xfrm>
        </p:spPr>
        <p:txBody>
          <a:bodyPr>
            <a:normAutofit/>
          </a:bodyPr>
          <a:lstStyle/>
          <a:p>
            <a:pPr>
              <a:lnSpc>
                <a:spcPct val="100000"/>
              </a:lnSpc>
            </a:pPr>
            <a:r>
              <a:rPr lang="en-GB" sz="2000" dirty="0"/>
              <a:t>Models compared: naive, linear regression, RF, GB, SARIMAX, LSTM</a:t>
            </a:r>
          </a:p>
          <a:p>
            <a:pPr>
              <a:lnSpc>
                <a:spcPct val="100000"/>
              </a:lnSpc>
            </a:pPr>
            <a:r>
              <a:rPr lang="en-GB" sz="2000" dirty="0"/>
              <a:t>Final lag set: </a:t>
            </a:r>
            <a:r>
              <a:rPr lang="en-GB" sz="2000" b="1" dirty="0"/>
              <a:t>1, 2, 3, 6, 12, 24, 48, 168 hours</a:t>
            </a:r>
          </a:p>
          <a:p>
            <a:pPr>
              <a:lnSpc>
                <a:spcPct val="100000"/>
              </a:lnSpc>
            </a:pPr>
            <a:r>
              <a:rPr lang="en-GB" sz="2000" dirty="0"/>
              <a:t>Metrics: </a:t>
            </a:r>
            <a:r>
              <a:rPr lang="en-GB" sz="2000" b="1" dirty="0"/>
              <a:t>MAE, RMSE, R²</a:t>
            </a:r>
          </a:p>
          <a:p>
            <a:pPr>
              <a:lnSpc>
                <a:spcPct val="100000"/>
              </a:lnSpc>
            </a:pPr>
            <a:r>
              <a:rPr lang="en-GB" sz="2000" dirty="0"/>
              <a:t>Validation: </a:t>
            </a:r>
            <a:r>
              <a:rPr lang="en-GB" sz="2000" b="1" dirty="0"/>
              <a:t>chronological split + rolling-origin</a:t>
            </a:r>
          </a:p>
        </p:txBody>
      </p:sp>
      <p:sp>
        <p:nvSpPr>
          <p:cNvPr id="4" name="Date Placeholder 3">
            <a:extLst>
              <a:ext uri="{FF2B5EF4-FFF2-40B4-BE49-F238E27FC236}">
                <a16:creationId xmlns:a16="http://schemas.microsoft.com/office/drawing/2014/main" id="{8A5441D6-7FC1-C614-80FE-06DB891736E5}"/>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9F5962EB-D98D-F072-2C5C-E6461A84FC49}"/>
              </a:ext>
            </a:extLst>
          </p:cNvPr>
          <p:cNvSpPr>
            <a:spLocks noGrp="1"/>
          </p:cNvSpPr>
          <p:nvPr>
            <p:ph type="sldNum" sz="quarter" idx="12"/>
          </p:nvPr>
        </p:nvSpPr>
        <p:spPr/>
        <p:txBody>
          <a:bodyPr/>
          <a:lstStyle/>
          <a:p>
            <a:fld id="{CC7D8618-F20C-406E-B464-04F15D14577A}" type="slidenum">
              <a:rPr lang="en-GB" smtClean="0"/>
              <a:pPr/>
              <a:t>14</a:t>
            </a:fld>
            <a:endParaRPr lang="en-GB" dirty="0"/>
          </a:p>
        </p:txBody>
      </p:sp>
      <p:sp>
        <p:nvSpPr>
          <p:cNvPr id="6" name="Text Placeholder 5">
            <a:extLst>
              <a:ext uri="{FF2B5EF4-FFF2-40B4-BE49-F238E27FC236}">
                <a16:creationId xmlns:a16="http://schemas.microsoft.com/office/drawing/2014/main" id="{DC099B95-0E50-868C-2B9A-9019621E705A}"/>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203E74D5-7F9A-A3B9-9BCA-631E18D337A0}"/>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658D7AC1-E5DB-F254-B0B9-6D4BDFA6911F}"/>
              </a:ext>
            </a:extLst>
          </p:cNvPr>
          <p:cNvSpPr>
            <a:spLocks noGrp="1"/>
          </p:cNvSpPr>
          <p:nvPr>
            <p:ph type="body" sz="quarter" idx="15"/>
          </p:nvPr>
        </p:nvSpPr>
        <p:spPr/>
        <p:txBody>
          <a:bodyPr/>
          <a:lstStyle/>
          <a:p>
            <a:endParaRPr lang="en-LV"/>
          </a:p>
        </p:txBody>
      </p:sp>
      <p:pic>
        <p:nvPicPr>
          <p:cNvPr id="8194" name="Picture 2" descr="Rolling origin forecast cross-validation principle. Figure adopted from Oliveira and Ramos (2019).">
            <a:extLst>
              <a:ext uri="{FF2B5EF4-FFF2-40B4-BE49-F238E27FC236}">
                <a16:creationId xmlns:a16="http://schemas.microsoft.com/office/drawing/2014/main" id="{E25D0771-F593-6DB6-8407-DDA059AFE9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80" y="3351167"/>
            <a:ext cx="8027398" cy="244584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070BA4F-76C6-0BB3-B0A4-B259601227AF}"/>
              </a:ext>
            </a:extLst>
          </p:cNvPr>
          <p:cNvSpPr txBox="1"/>
          <p:nvPr/>
        </p:nvSpPr>
        <p:spPr>
          <a:xfrm>
            <a:off x="401916" y="5797015"/>
            <a:ext cx="8340168" cy="338554"/>
          </a:xfrm>
          <a:prstGeom prst="rect">
            <a:avLst/>
          </a:prstGeom>
          <a:noFill/>
        </p:spPr>
        <p:txBody>
          <a:bodyPr wrap="none" rtlCol="0">
            <a:spAutoFit/>
          </a:bodyPr>
          <a:lstStyle/>
          <a:p>
            <a:r>
              <a:rPr lang="en-GB" sz="1600" dirty="0"/>
              <a:t>Rolling origin forecast cross-validation principle. Figure adopted from Oliveira and Ramos (2019)</a:t>
            </a:r>
            <a:endParaRPr lang="en-LV" sz="1600" dirty="0"/>
          </a:p>
        </p:txBody>
      </p:sp>
    </p:spTree>
    <p:extLst>
      <p:ext uri="{BB962C8B-B14F-4D97-AF65-F5344CB8AC3E}">
        <p14:creationId xmlns:p14="http://schemas.microsoft.com/office/powerpoint/2010/main" val="331145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145F-EB99-7824-B67B-6BABB0DE6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BDF95-2A36-FC56-05A4-E1550DB0E692}"/>
              </a:ext>
            </a:extLst>
          </p:cNvPr>
          <p:cNvSpPr>
            <a:spLocks noGrp="1"/>
          </p:cNvSpPr>
          <p:nvPr>
            <p:ph type="title"/>
          </p:nvPr>
        </p:nvSpPr>
        <p:spPr>
          <a:xfrm>
            <a:off x="2" y="346273"/>
            <a:ext cx="9143998" cy="1072028"/>
          </a:xfrm>
        </p:spPr>
        <p:txBody>
          <a:bodyPr>
            <a:noAutofit/>
          </a:bodyPr>
          <a:lstStyle/>
          <a:p>
            <a:r>
              <a:rPr lang="en-GB" sz="4000" dirty="0"/>
              <a:t>9. Results: Forecasting performance and final model selection</a:t>
            </a:r>
            <a:endParaRPr lang="en-LV" sz="4000" dirty="0"/>
          </a:p>
        </p:txBody>
      </p:sp>
      <p:sp>
        <p:nvSpPr>
          <p:cNvPr id="3" name="Content Placeholder 2">
            <a:extLst>
              <a:ext uri="{FF2B5EF4-FFF2-40B4-BE49-F238E27FC236}">
                <a16:creationId xmlns:a16="http://schemas.microsoft.com/office/drawing/2014/main" id="{AA6D5316-08EE-2FB3-CE9F-163557D814E8}"/>
              </a:ext>
            </a:extLst>
          </p:cNvPr>
          <p:cNvSpPr>
            <a:spLocks noGrp="1"/>
          </p:cNvSpPr>
          <p:nvPr>
            <p:ph idx="1"/>
          </p:nvPr>
        </p:nvSpPr>
        <p:spPr>
          <a:xfrm>
            <a:off x="116167" y="1530673"/>
            <a:ext cx="4107286" cy="4698728"/>
          </a:xfrm>
        </p:spPr>
        <p:txBody>
          <a:bodyPr>
            <a:normAutofit/>
          </a:bodyPr>
          <a:lstStyle/>
          <a:p>
            <a:pPr>
              <a:lnSpc>
                <a:spcPct val="100000"/>
              </a:lnSpc>
            </a:pPr>
            <a:r>
              <a:rPr lang="en-GB" sz="2000" dirty="0"/>
              <a:t>Best model: </a:t>
            </a:r>
            <a:r>
              <a:rPr lang="en-GB" sz="2000" b="1" dirty="0"/>
              <a:t>Gradient Boosting + lags</a:t>
            </a:r>
          </a:p>
          <a:p>
            <a:pPr>
              <a:lnSpc>
                <a:spcPct val="100000"/>
              </a:lnSpc>
            </a:pPr>
            <a:r>
              <a:rPr lang="en-GB" sz="2000" dirty="0"/>
              <a:t>Strong secondary benchmark: </a:t>
            </a:r>
            <a:r>
              <a:rPr lang="en-GB" sz="2000" b="1" dirty="0"/>
              <a:t>Random Forest + lags</a:t>
            </a:r>
          </a:p>
          <a:p>
            <a:pPr>
              <a:lnSpc>
                <a:spcPct val="100000"/>
              </a:lnSpc>
            </a:pPr>
            <a:r>
              <a:rPr lang="en-GB" sz="2000" dirty="0"/>
              <a:t>Final benchmark quality: </a:t>
            </a:r>
            <a:r>
              <a:rPr lang="en-GB" sz="2000" b="1" dirty="0"/>
              <a:t>MAE 115.06, RMSE 161.79, R² 0.9855</a:t>
            </a:r>
            <a:endParaRPr lang="en-LV" sz="2000" dirty="0"/>
          </a:p>
        </p:txBody>
      </p:sp>
      <p:sp>
        <p:nvSpPr>
          <p:cNvPr id="4" name="Date Placeholder 3">
            <a:extLst>
              <a:ext uri="{FF2B5EF4-FFF2-40B4-BE49-F238E27FC236}">
                <a16:creationId xmlns:a16="http://schemas.microsoft.com/office/drawing/2014/main" id="{F4A4BDCC-5BD9-E12E-F5F4-5719D5D2635C}"/>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8707080F-F732-7086-E602-AF0DC3B96FF5}"/>
              </a:ext>
            </a:extLst>
          </p:cNvPr>
          <p:cNvSpPr>
            <a:spLocks noGrp="1"/>
          </p:cNvSpPr>
          <p:nvPr>
            <p:ph type="sldNum" sz="quarter" idx="12"/>
          </p:nvPr>
        </p:nvSpPr>
        <p:spPr/>
        <p:txBody>
          <a:bodyPr/>
          <a:lstStyle/>
          <a:p>
            <a:fld id="{CC7D8618-F20C-406E-B464-04F15D14577A}" type="slidenum">
              <a:rPr lang="en-GB" smtClean="0"/>
              <a:pPr/>
              <a:t>15</a:t>
            </a:fld>
            <a:endParaRPr lang="en-GB" dirty="0"/>
          </a:p>
        </p:txBody>
      </p:sp>
      <p:sp>
        <p:nvSpPr>
          <p:cNvPr id="6" name="Text Placeholder 5">
            <a:extLst>
              <a:ext uri="{FF2B5EF4-FFF2-40B4-BE49-F238E27FC236}">
                <a16:creationId xmlns:a16="http://schemas.microsoft.com/office/drawing/2014/main" id="{2E4A4093-7639-7975-1997-AF2D791A63B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EF0EB281-C942-BAC2-DCC2-932586D0E0E3}"/>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AB465D15-53E0-5449-A56C-5873DA220F35}"/>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2E690512-67C6-4071-311D-EF8BA5A213B4}"/>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125710E9-6D6A-FB81-7951-EBA6F99B1A44}"/>
              </a:ext>
            </a:extLst>
          </p:cNvPr>
          <p:cNvPicPr>
            <a:picLocks noChangeAspect="1"/>
          </p:cNvPicPr>
          <p:nvPr/>
        </p:nvPicPr>
        <p:blipFill>
          <a:blip r:embed="rId3"/>
          <a:stretch>
            <a:fillRect/>
          </a:stretch>
        </p:blipFill>
        <p:spPr>
          <a:xfrm>
            <a:off x="4223453" y="1418301"/>
            <a:ext cx="4920546" cy="2440352"/>
          </a:xfrm>
          <a:prstGeom prst="rect">
            <a:avLst/>
          </a:prstGeom>
        </p:spPr>
      </p:pic>
      <p:pic>
        <p:nvPicPr>
          <p:cNvPr id="10" name="Picture 9">
            <a:extLst>
              <a:ext uri="{FF2B5EF4-FFF2-40B4-BE49-F238E27FC236}">
                <a16:creationId xmlns:a16="http://schemas.microsoft.com/office/drawing/2014/main" id="{D6D82B13-B487-39EF-5320-84F59B2A7781}"/>
              </a:ext>
            </a:extLst>
          </p:cNvPr>
          <p:cNvPicPr>
            <a:picLocks noChangeAspect="1"/>
          </p:cNvPicPr>
          <p:nvPr/>
        </p:nvPicPr>
        <p:blipFill>
          <a:blip r:embed="rId4"/>
          <a:stretch>
            <a:fillRect/>
          </a:stretch>
        </p:blipFill>
        <p:spPr>
          <a:xfrm>
            <a:off x="733929" y="3936272"/>
            <a:ext cx="7556500" cy="2476500"/>
          </a:xfrm>
          <a:prstGeom prst="rect">
            <a:avLst/>
          </a:prstGeom>
        </p:spPr>
      </p:pic>
    </p:spTree>
    <p:extLst>
      <p:ext uri="{BB962C8B-B14F-4D97-AF65-F5344CB8AC3E}">
        <p14:creationId xmlns:p14="http://schemas.microsoft.com/office/powerpoint/2010/main" val="485864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BD8C-A13D-62F3-54E3-F7E4BAF8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E02D7-3A41-C4F1-201B-1ACA04247204}"/>
              </a:ext>
            </a:extLst>
          </p:cNvPr>
          <p:cNvSpPr>
            <a:spLocks noGrp="1"/>
          </p:cNvSpPr>
          <p:nvPr>
            <p:ph type="title"/>
          </p:nvPr>
        </p:nvSpPr>
        <p:spPr>
          <a:xfrm>
            <a:off x="2" y="346273"/>
            <a:ext cx="9143998" cy="1072028"/>
          </a:xfrm>
        </p:spPr>
        <p:txBody>
          <a:bodyPr>
            <a:normAutofit fontScale="90000"/>
          </a:bodyPr>
          <a:lstStyle/>
          <a:p>
            <a:r>
              <a:rPr lang="en-GB" dirty="0"/>
              <a:t>9. Results: Benchmarking actual vs expected cooling</a:t>
            </a:r>
            <a:endParaRPr lang="en-LV" dirty="0"/>
          </a:p>
        </p:txBody>
      </p:sp>
      <p:sp>
        <p:nvSpPr>
          <p:cNvPr id="3" name="Content Placeholder 2">
            <a:extLst>
              <a:ext uri="{FF2B5EF4-FFF2-40B4-BE49-F238E27FC236}">
                <a16:creationId xmlns:a16="http://schemas.microsoft.com/office/drawing/2014/main" id="{FE06E04C-001A-24C1-877D-29948D1BE252}"/>
              </a:ext>
            </a:extLst>
          </p:cNvPr>
          <p:cNvSpPr>
            <a:spLocks noGrp="1"/>
          </p:cNvSpPr>
          <p:nvPr>
            <p:ph idx="1"/>
          </p:nvPr>
        </p:nvSpPr>
        <p:spPr>
          <a:xfrm>
            <a:off x="276028" y="1657858"/>
            <a:ext cx="8568869" cy="4698728"/>
          </a:xfrm>
        </p:spPr>
        <p:txBody>
          <a:bodyPr/>
          <a:lstStyle/>
          <a:p>
            <a:pPr>
              <a:lnSpc>
                <a:spcPct val="100000"/>
              </a:lnSpc>
            </a:pPr>
            <a:r>
              <a:rPr lang="en-GB" dirty="0"/>
              <a:t>Full-year </a:t>
            </a:r>
            <a:r>
              <a:rPr lang="en-GB" b="1" dirty="0"/>
              <a:t>net difference ≈ 0</a:t>
            </a:r>
            <a:r>
              <a:rPr lang="en-GB" dirty="0"/>
              <a:t> after bias correction</a:t>
            </a:r>
          </a:p>
          <a:p>
            <a:pPr>
              <a:lnSpc>
                <a:spcPct val="100000"/>
              </a:lnSpc>
            </a:pPr>
            <a:r>
              <a:rPr lang="en-GB" dirty="0"/>
              <a:t>Warm season: </a:t>
            </a:r>
            <a:r>
              <a:rPr lang="en-GB" b="1" dirty="0"/>
              <a:t>excess 1.34%, reduced 1.36%, net -0.02%</a:t>
            </a:r>
          </a:p>
          <a:p>
            <a:pPr>
              <a:lnSpc>
                <a:spcPct val="100000"/>
              </a:lnSpc>
            </a:pPr>
            <a:r>
              <a:rPr lang="en-GB" dirty="0"/>
              <a:t>No evidence of large-scale systematic annual overcooling</a:t>
            </a:r>
            <a:endParaRPr lang="en-LV" dirty="0"/>
          </a:p>
        </p:txBody>
      </p:sp>
      <p:sp>
        <p:nvSpPr>
          <p:cNvPr id="4" name="Date Placeholder 3">
            <a:extLst>
              <a:ext uri="{FF2B5EF4-FFF2-40B4-BE49-F238E27FC236}">
                <a16:creationId xmlns:a16="http://schemas.microsoft.com/office/drawing/2014/main" id="{BBE7EF06-3612-E320-38CA-1E25631A1062}"/>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39A75861-6A60-D31C-0D91-A41C1153647B}"/>
              </a:ext>
            </a:extLst>
          </p:cNvPr>
          <p:cNvSpPr>
            <a:spLocks noGrp="1"/>
          </p:cNvSpPr>
          <p:nvPr>
            <p:ph type="sldNum" sz="quarter" idx="12"/>
          </p:nvPr>
        </p:nvSpPr>
        <p:spPr/>
        <p:txBody>
          <a:bodyPr/>
          <a:lstStyle/>
          <a:p>
            <a:fld id="{CC7D8618-F20C-406E-B464-04F15D14577A}" type="slidenum">
              <a:rPr lang="en-GB" smtClean="0"/>
              <a:pPr/>
              <a:t>16</a:t>
            </a:fld>
            <a:endParaRPr lang="en-GB" dirty="0"/>
          </a:p>
        </p:txBody>
      </p:sp>
      <p:sp>
        <p:nvSpPr>
          <p:cNvPr id="6" name="Text Placeholder 5">
            <a:extLst>
              <a:ext uri="{FF2B5EF4-FFF2-40B4-BE49-F238E27FC236}">
                <a16:creationId xmlns:a16="http://schemas.microsoft.com/office/drawing/2014/main" id="{C973E629-5196-77D5-B11D-78D017E75B31}"/>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CB45BA5F-B6DB-ED0E-087B-E550D5765F3E}"/>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AB74743E-A676-2DEB-A284-9FDF5903938A}"/>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2D64926A-CC62-3699-9583-11D20EBF9B81}"/>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882D0D0D-26EA-4130-908C-E70E64BE5E68}"/>
              </a:ext>
            </a:extLst>
          </p:cNvPr>
          <p:cNvPicPr>
            <a:picLocks noChangeAspect="1"/>
          </p:cNvPicPr>
          <p:nvPr/>
        </p:nvPicPr>
        <p:blipFill>
          <a:blip r:embed="rId3"/>
          <a:stretch>
            <a:fillRect/>
          </a:stretch>
        </p:blipFill>
        <p:spPr>
          <a:xfrm>
            <a:off x="1116602" y="3365319"/>
            <a:ext cx="6273800" cy="3111500"/>
          </a:xfrm>
          <a:prstGeom prst="rect">
            <a:avLst/>
          </a:prstGeom>
        </p:spPr>
      </p:pic>
    </p:spTree>
    <p:extLst>
      <p:ext uri="{BB962C8B-B14F-4D97-AF65-F5344CB8AC3E}">
        <p14:creationId xmlns:p14="http://schemas.microsoft.com/office/powerpoint/2010/main" val="1846883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09D2-1FEA-FC79-B6B0-66D3BE311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CAF68-C7DC-5557-1474-91F5B45B950B}"/>
              </a:ext>
            </a:extLst>
          </p:cNvPr>
          <p:cNvSpPr>
            <a:spLocks noGrp="1"/>
          </p:cNvSpPr>
          <p:nvPr>
            <p:ph type="title"/>
          </p:nvPr>
        </p:nvSpPr>
        <p:spPr>
          <a:xfrm>
            <a:off x="2" y="346273"/>
            <a:ext cx="9143998" cy="1072028"/>
          </a:xfrm>
        </p:spPr>
        <p:txBody>
          <a:bodyPr>
            <a:normAutofit/>
          </a:bodyPr>
          <a:lstStyle/>
          <a:p>
            <a:r>
              <a:rPr lang="en-GB" sz="4000" dirty="0"/>
              <a:t>9. Results: Control outcome</a:t>
            </a:r>
            <a:endParaRPr lang="en-LV" sz="4000" dirty="0"/>
          </a:p>
        </p:txBody>
      </p:sp>
      <p:sp>
        <p:nvSpPr>
          <p:cNvPr id="3" name="Content Placeholder 2">
            <a:extLst>
              <a:ext uri="{FF2B5EF4-FFF2-40B4-BE49-F238E27FC236}">
                <a16:creationId xmlns:a16="http://schemas.microsoft.com/office/drawing/2014/main" id="{FF1623DA-BC1E-1289-6A0C-C8A96B66379E}"/>
              </a:ext>
            </a:extLst>
          </p:cNvPr>
          <p:cNvSpPr>
            <a:spLocks noGrp="1"/>
          </p:cNvSpPr>
          <p:nvPr>
            <p:ph idx="1"/>
          </p:nvPr>
        </p:nvSpPr>
        <p:spPr>
          <a:xfrm>
            <a:off x="276028" y="1657858"/>
            <a:ext cx="8568869" cy="4698728"/>
          </a:xfrm>
        </p:spPr>
        <p:txBody>
          <a:bodyPr/>
          <a:lstStyle/>
          <a:p>
            <a:pPr marL="0" indent="0">
              <a:lnSpc>
                <a:spcPct val="100000"/>
              </a:lnSpc>
              <a:buNone/>
            </a:pPr>
            <a:endParaRPr lang="en-GB" dirty="0"/>
          </a:p>
          <a:p>
            <a:pPr>
              <a:lnSpc>
                <a:spcPct val="100000"/>
              </a:lnSpc>
            </a:pPr>
            <a:endParaRPr lang="en-GB" b="1" dirty="0"/>
          </a:p>
        </p:txBody>
      </p:sp>
      <p:sp>
        <p:nvSpPr>
          <p:cNvPr id="4" name="Date Placeholder 3">
            <a:extLst>
              <a:ext uri="{FF2B5EF4-FFF2-40B4-BE49-F238E27FC236}">
                <a16:creationId xmlns:a16="http://schemas.microsoft.com/office/drawing/2014/main" id="{C9C7BF82-E72E-0471-BFCA-78B80AE54240}"/>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D6B205A0-00D0-34A7-FEBC-486B74D90BD7}"/>
              </a:ext>
            </a:extLst>
          </p:cNvPr>
          <p:cNvSpPr>
            <a:spLocks noGrp="1"/>
          </p:cNvSpPr>
          <p:nvPr>
            <p:ph type="sldNum" sz="quarter" idx="12"/>
          </p:nvPr>
        </p:nvSpPr>
        <p:spPr/>
        <p:txBody>
          <a:bodyPr/>
          <a:lstStyle/>
          <a:p>
            <a:fld id="{CC7D8618-F20C-406E-B464-04F15D14577A}" type="slidenum">
              <a:rPr lang="en-GB" smtClean="0"/>
              <a:pPr/>
              <a:t>17</a:t>
            </a:fld>
            <a:endParaRPr lang="en-GB" dirty="0"/>
          </a:p>
        </p:txBody>
      </p:sp>
      <p:sp>
        <p:nvSpPr>
          <p:cNvPr id="6" name="Text Placeholder 5">
            <a:extLst>
              <a:ext uri="{FF2B5EF4-FFF2-40B4-BE49-F238E27FC236}">
                <a16:creationId xmlns:a16="http://schemas.microsoft.com/office/drawing/2014/main" id="{9447E2B6-7B68-5BA0-6BF9-338A9004D8F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73ABAFB-4304-E917-7026-57AC41B457A6}"/>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C8CACE77-7E10-1E1C-131E-8041F45108E4}"/>
              </a:ext>
            </a:extLst>
          </p:cNvPr>
          <p:cNvSpPr>
            <a:spLocks noGrp="1"/>
          </p:cNvSpPr>
          <p:nvPr>
            <p:ph type="body" sz="quarter" idx="15"/>
          </p:nvPr>
        </p:nvSpPr>
        <p:spPr/>
        <p:txBody>
          <a:bodyPr/>
          <a:lstStyle/>
          <a:p>
            <a:endParaRPr lang="en-LV" dirty="0"/>
          </a:p>
        </p:txBody>
      </p:sp>
      <p:sp>
        <p:nvSpPr>
          <p:cNvPr id="9" name="TextBox 8">
            <a:extLst>
              <a:ext uri="{FF2B5EF4-FFF2-40B4-BE49-F238E27FC236}">
                <a16:creationId xmlns:a16="http://schemas.microsoft.com/office/drawing/2014/main" id="{6C09D6D9-DF69-59DF-A49E-62461DDEF79A}"/>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4CCD2111-B1D3-7B2D-2C12-578A620B7A5E}"/>
              </a:ext>
            </a:extLst>
          </p:cNvPr>
          <p:cNvPicPr>
            <a:picLocks noChangeAspect="1"/>
          </p:cNvPicPr>
          <p:nvPr/>
        </p:nvPicPr>
        <p:blipFill>
          <a:blip r:embed="rId3"/>
          <a:stretch>
            <a:fillRect/>
          </a:stretch>
        </p:blipFill>
        <p:spPr>
          <a:xfrm>
            <a:off x="429970" y="4065640"/>
            <a:ext cx="8305241" cy="2530503"/>
          </a:xfrm>
          <a:prstGeom prst="rect">
            <a:avLst/>
          </a:prstGeom>
        </p:spPr>
      </p:pic>
      <p:pic>
        <p:nvPicPr>
          <p:cNvPr id="14" name="Picture 13">
            <a:extLst>
              <a:ext uri="{FF2B5EF4-FFF2-40B4-BE49-F238E27FC236}">
                <a16:creationId xmlns:a16="http://schemas.microsoft.com/office/drawing/2014/main" id="{B0148564-74E3-D9C2-8736-0D0823FC925F}"/>
              </a:ext>
            </a:extLst>
          </p:cNvPr>
          <p:cNvPicPr>
            <a:picLocks noChangeAspect="1"/>
          </p:cNvPicPr>
          <p:nvPr/>
        </p:nvPicPr>
        <p:blipFill>
          <a:blip r:embed="rId4"/>
          <a:stretch>
            <a:fillRect/>
          </a:stretch>
        </p:blipFill>
        <p:spPr>
          <a:xfrm>
            <a:off x="3699996" y="1283301"/>
            <a:ext cx="5444004" cy="2699962"/>
          </a:xfrm>
          <a:prstGeom prst="rect">
            <a:avLst/>
          </a:prstGeom>
        </p:spPr>
      </p:pic>
      <p:sp>
        <p:nvSpPr>
          <p:cNvPr id="16" name="Content Placeholder 2">
            <a:extLst>
              <a:ext uri="{FF2B5EF4-FFF2-40B4-BE49-F238E27FC236}">
                <a16:creationId xmlns:a16="http://schemas.microsoft.com/office/drawing/2014/main" id="{F307CB57-2B7C-BA31-CBB2-DFED6D1C2477}"/>
              </a:ext>
            </a:extLst>
          </p:cNvPr>
          <p:cNvSpPr txBox="1">
            <a:spLocks/>
          </p:cNvSpPr>
          <p:nvPr/>
        </p:nvSpPr>
        <p:spPr>
          <a:xfrm>
            <a:off x="137737" y="1236039"/>
            <a:ext cx="3263155" cy="2699962"/>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r>
              <a:rPr lang="en-GB" sz="2000" dirty="0"/>
              <a:t>Increasing supervisory context yields </a:t>
            </a:r>
            <a:r>
              <a:rPr lang="en-GB" sz="2000" b="1" dirty="0"/>
              <a:t>fewer active hours and smaller reduction estimates</a:t>
            </a:r>
          </a:p>
          <a:p>
            <a:pPr>
              <a:lnSpc>
                <a:spcPct val="100000"/>
              </a:lnSpc>
            </a:pPr>
            <a:r>
              <a:rPr lang="en-GB" sz="2000" dirty="0"/>
              <a:t>Stricter strategies also shift actions toward </a:t>
            </a:r>
            <a:r>
              <a:rPr lang="en-GB" sz="2000" b="1" dirty="0"/>
              <a:t>safer operating</a:t>
            </a:r>
          </a:p>
        </p:txBody>
      </p:sp>
    </p:spTree>
    <p:extLst>
      <p:ext uri="{BB962C8B-B14F-4D97-AF65-F5344CB8AC3E}">
        <p14:creationId xmlns:p14="http://schemas.microsoft.com/office/powerpoint/2010/main" val="1355245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0A1F-4BE7-1E38-26F8-86D42E9D5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B46E8-515B-A80A-3D93-1815FE8E5DF0}"/>
              </a:ext>
            </a:extLst>
          </p:cNvPr>
          <p:cNvSpPr>
            <a:spLocks noGrp="1"/>
          </p:cNvSpPr>
          <p:nvPr>
            <p:ph type="title"/>
          </p:nvPr>
        </p:nvSpPr>
        <p:spPr>
          <a:xfrm>
            <a:off x="2" y="346273"/>
            <a:ext cx="9143998" cy="1072028"/>
          </a:xfrm>
        </p:spPr>
        <p:txBody>
          <a:bodyPr>
            <a:normAutofit fontScale="90000"/>
          </a:bodyPr>
          <a:lstStyle/>
          <a:p>
            <a:r>
              <a:rPr lang="en-GB" dirty="0"/>
              <a:t>9. Results: Example of simulated control intervention</a:t>
            </a:r>
            <a:endParaRPr lang="en-LV" dirty="0"/>
          </a:p>
        </p:txBody>
      </p:sp>
      <p:sp>
        <p:nvSpPr>
          <p:cNvPr id="3" name="Content Placeholder 2">
            <a:extLst>
              <a:ext uri="{FF2B5EF4-FFF2-40B4-BE49-F238E27FC236}">
                <a16:creationId xmlns:a16="http://schemas.microsoft.com/office/drawing/2014/main" id="{5BA0D1B7-650C-3ECD-5AEA-712CE95E392B}"/>
              </a:ext>
            </a:extLst>
          </p:cNvPr>
          <p:cNvSpPr>
            <a:spLocks noGrp="1"/>
          </p:cNvSpPr>
          <p:nvPr>
            <p:ph idx="1"/>
          </p:nvPr>
        </p:nvSpPr>
        <p:spPr>
          <a:xfrm>
            <a:off x="276028" y="1657858"/>
            <a:ext cx="8568869" cy="4698728"/>
          </a:xfrm>
        </p:spPr>
        <p:txBody>
          <a:bodyPr>
            <a:normAutofit/>
          </a:bodyPr>
          <a:lstStyle/>
          <a:p>
            <a:pPr>
              <a:lnSpc>
                <a:spcPct val="100000"/>
              </a:lnSpc>
            </a:pPr>
            <a:r>
              <a:rPr lang="en-GB" dirty="0"/>
              <a:t>Actual cooling exceeded the </a:t>
            </a:r>
            <a:r>
              <a:rPr lang="en-GB" b="1" dirty="0"/>
              <a:t>expected-demand benchmark</a:t>
            </a:r>
          </a:p>
          <a:p>
            <a:pPr>
              <a:lnSpc>
                <a:spcPct val="100000"/>
              </a:lnSpc>
            </a:pPr>
            <a:r>
              <a:rPr lang="en-GB" dirty="0"/>
              <a:t>Simulated control reduced cooling only during the </a:t>
            </a:r>
            <a:r>
              <a:rPr lang="en-GB" b="1" dirty="0"/>
              <a:t>eligible interval</a:t>
            </a:r>
          </a:p>
          <a:p>
            <a:pPr>
              <a:lnSpc>
                <a:spcPct val="100000"/>
              </a:lnSpc>
            </a:pPr>
            <a:r>
              <a:rPr lang="en-GB" dirty="0"/>
              <a:t>Intervention remained </a:t>
            </a:r>
            <a:r>
              <a:rPr lang="en-GB" b="1" dirty="0"/>
              <a:t>conservative and time-local</a:t>
            </a:r>
          </a:p>
        </p:txBody>
      </p:sp>
      <p:sp>
        <p:nvSpPr>
          <p:cNvPr id="4" name="Date Placeholder 3">
            <a:extLst>
              <a:ext uri="{FF2B5EF4-FFF2-40B4-BE49-F238E27FC236}">
                <a16:creationId xmlns:a16="http://schemas.microsoft.com/office/drawing/2014/main" id="{33D5DF33-C6E5-B852-C25E-AF1294E91B25}"/>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C415FEE0-93C9-1191-B311-5E4E5EED0AE0}"/>
              </a:ext>
            </a:extLst>
          </p:cNvPr>
          <p:cNvSpPr>
            <a:spLocks noGrp="1"/>
          </p:cNvSpPr>
          <p:nvPr>
            <p:ph type="sldNum" sz="quarter" idx="12"/>
          </p:nvPr>
        </p:nvSpPr>
        <p:spPr/>
        <p:txBody>
          <a:bodyPr/>
          <a:lstStyle/>
          <a:p>
            <a:fld id="{CC7D8618-F20C-406E-B464-04F15D14577A}" type="slidenum">
              <a:rPr lang="en-GB" smtClean="0"/>
              <a:pPr/>
              <a:t>18</a:t>
            </a:fld>
            <a:endParaRPr lang="en-GB" dirty="0"/>
          </a:p>
        </p:txBody>
      </p:sp>
      <p:sp>
        <p:nvSpPr>
          <p:cNvPr id="6" name="Text Placeholder 5">
            <a:extLst>
              <a:ext uri="{FF2B5EF4-FFF2-40B4-BE49-F238E27FC236}">
                <a16:creationId xmlns:a16="http://schemas.microsoft.com/office/drawing/2014/main" id="{0D6DFD61-7244-60D5-3295-41010771974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4D9D337-0B02-DE9A-2E3B-482F5EBA3EA5}"/>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49478B35-BE30-1B92-46B2-1AF1CC89A1A3}"/>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DE4852AE-24F9-B99F-2B2D-C82816194B7F}"/>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53CCBE4D-0391-F99A-389C-A77DCAF8657D}"/>
              </a:ext>
            </a:extLst>
          </p:cNvPr>
          <p:cNvPicPr>
            <a:picLocks noChangeAspect="1"/>
          </p:cNvPicPr>
          <p:nvPr/>
        </p:nvPicPr>
        <p:blipFill>
          <a:blip r:embed="rId3"/>
          <a:stretch>
            <a:fillRect/>
          </a:stretch>
        </p:blipFill>
        <p:spPr>
          <a:xfrm>
            <a:off x="552722" y="3429000"/>
            <a:ext cx="7904449" cy="2594895"/>
          </a:xfrm>
          <a:prstGeom prst="rect">
            <a:avLst/>
          </a:prstGeom>
        </p:spPr>
      </p:pic>
    </p:spTree>
    <p:extLst>
      <p:ext uri="{BB962C8B-B14F-4D97-AF65-F5344CB8AC3E}">
        <p14:creationId xmlns:p14="http://schemas.microsoft.com/office/powerpoint/2010/main" val="3884001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25A9-4415-BA6F-2E49-CB195ED1BFBD}"/>
              </a:ext>
            </a:extLst>
          </p:cNvPr>
          <p:cNvSpPr>
            <a:spLocks noGrp="1"/>
          </p:cNvSpPr>
          <p:nvPr>
            <p:ph type="title"/>
          </p:nvPr>
        </p:nvSpPr>
        <p:spPr/>
        <p:txBody>
          <a:bodyPr>
            <a:normAutofit/>
          </a:bodyPr>
          <a:lstStyle/>
          <a:p>
            <a:r>
              <a:rPr lang="en-GB" sz="4000" dirty="0"/>
              <a:t>10. Discussion and limitations</a:t>
            </a:r>
            <a:endParaRPr lang="en-LV" sz="4000" dirty="0"/>
          </a:p>
        </p:txBody>
      </p:sp>
      <p:sp>
        <p:nvSpPr>
          <p:cNvPr id="3" name="Content Placeholder 2">
            <a:extLst>
              <a:ext uri="{FF2B5EF4-FFF2-40B4-BE49-F238E27FC236}">
                <a16:creationId xmlns:a16="http://schemas.microsoft.com/office/drawing/2014/main" id="{D906F8AF-C245-4BE2-D959-01C86577CF5A}"/>
              </a:ext>
            </a:extLst>
          </p:cNvPr>
          <p:cNvSpPr>
            <a:spLocks noGrp="1"/>
          </p:cNvSpPr>
          <p:nvPr>
            <p:ph idx="1"/>
          </p:nvPr>
        </p:nvSpPr>
        <p:spPr>
          <a:xfrm>
            <a:off x="276028" y="1321278"/>
            <a:ext cx="8568869" cy="5033773"/>
          </a:xfrm>
        </p:spPr>
        <p:txBody>
          <a:bodyPr>
            <a:normAutofit/>
          </a:bodyPr>
          <a:lstStyle/>
          <a:p>
            <a:pPr marL="457200" indent="-457200">
              <a:lnSpc>
                <a:spcPct val="120000"/>
              </a:lnSpc>
              <a:buFont typeface="+mj-lt"/>
              <a:buAutoNum type="arabicPeriod"/>
            </a:pPr>
            <a:r>
              <a:rPr lang="en-GB" dirty="0"/>
              <a:t>The method found small and selective control opportunities, not large general savings</a:t>
            </a:r>
          </a:p>
          <a:p>
            <a:pPr marL="457200" indent="-457200">
              <a:lnSpc>
                <a:spcPct val="120000"/>
              </a:lnSpc>
              <a:buFont typeface="+mj-lt"/>
              <a:buAutoNum type="arabicPeriod"/>
            </a:pPr>
            <a:r>
              <a:rPr lang="en-GB" dirty="0"/>
              <a:t>The main value of the thesis is the framework which shows how control can be analysed with limited telecom data</a:t>
            </a:r>
          </a:p>
          <a:p>
            <a:pPr marL="457200" indent="-457200">
              <a:lnSpc>
                <a:spcPct val="120000"/>
              </a:lnSpc>
              <a:buFont typeface="+mj-lt"/>
              <a:buAutoNum type="arabicPeriod"/>
            </a:pPr>
            <a:r>
              <a:rPr lang="en-GB" dirty="0"/>
              <a:t>The results are based on a benchmark model, not on direct measurement of full indoor thermal conditions</a:t>
            </a:r>
          </a:p>
          <a:p>
            <a:pPr marL="457200" indent="-457200">
              <a:lnSpc>
                <a:spcPct val="120000"/>
              </a:lnSpc>
              <a:buFont typeface="+mj-lt"/>
              <a:buAutoNum type="arabicPeriod"/>
            </a:pPr>
            <a:r>
              <a:rPr lang="en-GB" dirty="0"/>
              <a:t>The study used one site and historical data only, so real-time testing is still needed</a:t>
            </a:r>
            <a:endParaRPr lang="en-LV" dirty="0"/>
          </a:p>
        </p:txBody>
      </p:sp>
      <p:sp>
        <p:nvSpPr>
          <p:cNvPr id="4" name="Date Placeholder 3">
            <a:extLst>
              <a:ext uri="{FF2B5EF4-FFF2-40B4-BE49-F238E27FC236}">
                <a16:creationId xmlns:a16="http://schemas.microsoft.com/office/drawing/2014/main" id="{BF3F36E0-E244-D992-5FE8-09A68EF466C4}"/>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BF7EAEB4-AD23-672F-25DC-115DD78A0959}"/>
              </a:ext>
            </a:extLst>
          </p:cNvPr>
          <p:cNvSpPr>
            <a:spLocks noGrp="1"/>
          </p:cNvSpPr>
          <p:nvPr>
            <p:ph type="sldNum" sz="quarter" idx="12"/>
          </p:nvPr>
        </p:nvSpPr>
        <p:spPr/>
        <p:txBody>
          <a:bodyPr/>
          <a:lstStyle/>
          <a:p>
            <a:fld id="{CC7D8618-F20C-406E-B464-04F15D14577A}" type="slidenum">
              <a:rPr lang="en-GB" smtClean="0"/>
              <a:pPr/>
              <a:t>19</a:t>
            </a:fld>
            <a:endParaRPr lang="en-GB" dirty="0"/>
          </a:p>
        </p:txBody>
      </p:sp>
      <p:sp>
        <p:nvSpPr>
          <p:cNvPr id="6" name="Text Placeholder 5">
            <a:extLst>
              <a:ext uri="{FF2B5EF4-FFF2-40B4-BE49-F238E27FC236}">
                <a16:creationId xmlns:a16="http://schemas.microsoft.com/office/drawing/2014/main" id="{2F2E4864-A0D7-688A-721B-DA6290A39ECE}"/>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DC83106-88A7-42A1-A134-3B7F72472C63}"/>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74B10B43-C74C-A55C-ED38-9EC857ECACDD}"/>
              </a:ext>
            </a:extLst>
          </p:cNvPr>
          <p:cNvSpPr>
            <a:spLocks noGrp="1"/>
          </p:cNvSpPr>
          <p:nvPr>
            <p:ph type="body" sz="quarter" idx="15"/>
          </p:nvPr>
        </p:nvSpPr>
        <p:spPr/>
        <p:txBody>
          <a:bodyPr/>
          <a:lstStyle/>
          <a:p>
            <a:endParaRPr lang="en-LV"/>
          </a:p>
        </p:txBody>
      </p:sp>
    </p:spTree>
    <p:extLst>
      <p:ext uri="{BB962C8B-B14F-4D97-AF65-F5344CB8AC3E}">
        <p14:creationId xmlns:p14="http://schemas.microsoft.com/office/powerpoint/2010/main" val="4184974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7EAB-0D58-CAB9-4055-F3F47C0C7985}"/>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583DBC77-A46B-72BE-9EB2-CFE56DA12D08}"/>
              </a:ext>
            </a:extLst>
          </p:cNvPr>
          <p:cNvSpPr>
            <a:spLocks noGrp="1"/>
          </p:cNvSpPr>
          <p:nvPr>
            <p:ph idx="1"/>
          </p:nvPr>
        </p:nvSpPr>
        <p:spPr>
          <a:xfrm>
            <a:off x="276028" y="1088644"/>
            <a:ext cx="8568869" cy="5033773"/>
          </a:xfrm>
        </p:spPr>
        <p:txBody>
          <a:bodyPr>
            <a:normAutofit lnSpcReduction="10000"/>
          </a:bodyPr>
          <a:lstStyle/>
          <a:p>
            <a:pPr>
              <a:lnSpc>
                <a:spcPct val="110000"/>
              </a:lnSpc>
            </a:pPr>
            <a:r>
              <a:rPr lang="en-GB" dirty="0"/>
              <a:t>The thesis achieved its aim by showing that intelligent cooling control can be analysed in a telecom central office under real telemetry constraints</a:t>
            </a:r>
          </a:p>
          <a:p>
            <a:pPr>
              <a:lnSpc>
                <a:spcPct val="110000"/>
              </a:lnSpc>
            </a:pPr>
            <a:r>
              <a:rPr lang="en-GB" dirty="0"/>
              <a:t>In the present case, intelligent control was formulated as a bounded and context-aware analytical framework rather than as direct live control</a:t>
            </a:r>
          </a:p>
          <a:p>
            <a:pPr>
              <a:lnSpc>
                <a:spcPct val="110000"/>
              </a:lnSpc>
            </a:pPr>
            <a:r>
              <a:rPr lang="en-GB" dirty="0"/>
              <a:t>All main tasks were completed: literature review, construction of the analytical basis, expected-demand benchmark development, control-strategy design, and historical evaluation</a:t>
            </a:r>
          </a:p>
          <a:p>
            <a:pPr>
              <a:lnSpc>
                <a:spcPct val="110000"/>
              </a:lnSpc>
            </a:pPr>
            <a:r>
              <a:rPr lang="en-GB" dirty="0"/>
              <a:t>The study produced a framework linking fragmented telemetry, expected-demand benchmarking, and context-aware intelligent control assessment</a:t>
            </a:r>
            <a:endParaRPr lang="en-LV" dirty="0"/>
          </a:p>
        </p:txBody>
      </p:sp>
      <p:sp>
        <p:nvSpPr>
          <p:cNvPr id="4" name="Date Placeholder 3">
            <a:extLst>
              <a:ext uri="{FF2B5EF4-FFF2-40B4-BE49-F238E27FC236}">
                <a16:creationId xmlns:a16="http://schemas.microsoft.com/office/drawing/2014/main" id="{704243EC-36A6-8967-2963-F7A9BEBF91CA}"/>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B23F9DE6-2650-1707-1AB5-4BDBABB0A96D}"/>
              </a:ext>
            </a:extLst>
          </p:cNvPr>
          <p:cNvSpPr>
            <a:spLocks noGrp="1"/>
          </p:cNvSpPr>
          <p:nvPr>
            <p:ph type="sldNum" sz="quarter" idx="12"/>
          </p:nvPr>
        </p:nvSpPr>
        <p:spPr/>
        <p:txBody>
          <a:bodyPr/>
          <a:lstStyle/>
          <a:p>
            <a:fld id="{CC7D8618-F20C-406E-B464-04F15D14577A}" type="slidenum">
              <a:rPr lang="en-GB" smtClean="0"/>
              <a:pPr/>
              <a:t>20</a:t>
            </a:fld>
            <a:endParaRPr lang="en-GB" dirty="0"/>
          </a:p>
        </p:txBody>
      </p:sp>
      <p:sp>
        <p:nvSpPr>
          <p:cNvPr id="7" name="Text Placeholder 6">
            <a:extLst>
              <a:ext uri="{FF2B5EF4-FFF2-40B4-BE49-F238E27FC236}">
                <a16:creationId xmlns:a16="http://schemas.microsoft.com/office/drawing/2014/main" id="{27431FC5-1A00-2EBA-D193-642D8936055B}"/>
              </a:ext>
            </a:extLst>
          </p:cNvPr>
          <p:cNvSpPr>
            <a:spLocks noGrp="1"/>
          </p:cNvSpPr>
          <p:nvPr>
            <p:ph type="body" sz="quarter" idx="14"/>
          </p:nvPr>
        </p:nvSpPr>
        <p:spPr/>
        <p:txBody>
          <a:bodyPr/>
          <a:lstStyle/>
          <a:p>
            <a:endParaRPr lang="en-LV" dirty="0"/>
          </a:p>
        </p:txBody>
      </p:sp>
      <p:sp>
        <p:nvSpPr>
          <p:cNvPr id="8" name="Text Placeholder 7">
            <a:extLst>
              <a:ext uri="{FF2B5EF4-FFF2-40B4-BE49-F238E27FC236}">
                <a16:creationId xmlns:a16="http://schemas.microsoft.com/office/drawing/2014/main" id="{770E421C-65C8-A6A2-837A-2F0ABE4400FE}"/>
              </a:ext>
            </a:extLst>
          </p:cNvPr>
          <p:cNvSpPr>
            <a:spLocks noGrp="1"/>
          </p:cNvSpPr>
          <p:nvPr>
            <p:ph type="body" sz="quarter" idx="15"/>
          </p:nvPr>
        </p:nvSpPr>
        <p:spPr/>
        <p:txBody>
          <a:bodyPr/>
          <a:lstStyle/>
          <a:p>
            <a:endParaRPr lang="en-LV"/>
          </a:p>
        </p:txBody>
      </p:sp>
      <p:sp>
        <p:nvSpPr>
          <p:cNvPr id="10" name="Text Placeholder 9">
            <a:extLst>
              <a:ext uri="{FF2B5EF4-FFF2-40B4-BE49-F238E27FC236}">
                <a16:creationId xmlns:a16="http://schemas.microsoft.com/office/drawing/2014/main" id="{E4057FA9-2DC2-E4A3-2E9C-C366D47D47BD}"/>
              </a:ext>
            </a:extLst>
          </p:cNvPr>
          <p:cNvSpPr>
            <a:spLocks noGrp="1"/>
          </p:cNvSpPr>
          <p:nvPr>
            <p:ph type="body" sz="quarter" idx="13"/>
          </p:nvPr>
        </p:nvSpPr>
        <p:spPr/>
        <p:txBody>
          <a:bodyPr/>
          <a:lstStyle/>
          <a:p>
            <a:endParaRPr lang="en-LV"/>
          </a:p>
        </p:txBody>
      </p:sp>
    </p:spTree>
    <p:extLst>
      <p:ext uri="{BB962C8B-B14F-4D97-AF65-F5344CB8AC3E}">
        <p14:creationId xmlns:p14="http://schemas.microsoft.com/office/powerpoint/2010/main" val="68016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44EF-9713-0FD5-859F-7D326A8A6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362AB-A829-D833-2030-BDC33C1A0064}"/>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F927C66B-A4C2-700E-CBEA-2E3C06B91AAD}"/>
              </a:ext>
            </a:extLst>
          </p:cNvPr>
          <p:cNvSpPr>
            <a:spLocks noGrp="1"/>
          </p:cNvSpPr>
          <p:nvPr>
            <p:ph idx="1"/>
          </p:nvPr>
        </p:nvSpPr>
        <p:spPr>
          <a:xfrm>
            <a:off x="276028" y="1201131"/>
            <a:ext cx="8568869" cy="5033773"/>
          </a:xfrm>
        </p:spPr>
        <p:txBody>
          <a:bodyPr>
            <a:normAutofit/>
          </a:bodyPr>
          <a:lstStyle/>
          <a:p>
            <a:pPr>
              <a:lnSpc>
                <a:spcPct val="110000"/>
              </a:lnSpc>
            </a:pPr>
            <a:r>
              <a:rPr lang="en-GB" b="1" dirty="0"/>
              <a:t>RQ1</a:t>
            </a:r>
            <a:r>
              <a:rPr lang="en-GB" dirty="0"/>
              <a:t>: Intelligent cooling control identified a small but defensible set of control opportunities, which became much narrower when persistence, load context, and risk-state conditions were added</a:t>
            </a:r>
          </a:p>
          <a:p>
            <a:pPr>
              <a:lnSpc>
                <a:spcPct val="110000"/>
              </a:lnSpc>
            </a:pPr>
            <a:r>
              <a:rPr lang="en-GB" b="1" dirty="0"/>
              <a:t>RQ2</a:t>
            </a:r>
            <a:r>
              <a:rPr lang="en-GB" dirty="0"/>
              <a:t>: The most reliable estimate of expected cooling demand was provided by a lagged nonlinear tree-based benchmark, with Gradient Boosting selected as the final model</a:t>
            </a:r>
          </a:p>
          <a:p>
            <a:pPr>
              <a:lnSpc>
                <a:spcPct val="110000"/>
              </a:lnSpc>
            </a:pPr>
            <a:r>
              <a:rPr lang="en-GB" b="1" dirty="0"/>
              <a:t>RQ3</a:t>
            </a:r>
            <a:r>
              <a:rPr lang="en-GB" dirty="0"/>
              <a:t>: A control-oriented analytical basis could be built from fragmented telecom telemetry through target engineering, signal qualification, and contextual state design</a:t>
            </a:r>
          </a:p>
          <a:p>
            <a:pPr>
              <a:lnSpc>
                <a:spcPct val="110000"/>
              </a:lnSpc>
            </a:pPr>
            <a:r>
              <a:rPr lang="en-GB" dirty="0"/>
              <a:t>The thesis supports a benchmark-based and context-aware approach to intelligent cooling control in telecom environments</a:t>
            </a:r>
            <a:endParaRPr lang="en-LV" dirty="0"/>
          </a:p>
        </p:txBody>
      </p:sp>
      <p:sp>
        <p:nvSpPr>
          <p:cNvPr id="4" name="Date Placeholder 3">
            <a:extLst>
              <a:ext uri="{FF2B5EF4-FFF2-40B4-BE49-F238E27FC236}">
                <a16:creationId xmlns:a16="http://schemas.microsoft.com/office/drawing/2014/main" id="{DF07B70E-7902-118C-4F87-3CF7C5D9E446}"/>
              </a:ext>
            </a:extLst>
          </p:cNvPr>
          <p:cNvSpPr>
            <a:spLocks noGrp="1"/>
          </p:cNvSpPr>
          <p:nvPr>
            <p:ph type="dt" sz="half" idx="10"/>
          </p:nvPr>
        </p:nvSpPr>
        <p:spPr/>
        <p:txBody>
          <a:bodyPr/>
          <a:lstStyle/>
          <a:p>
            <a:r>
              <a:rPr lang="en-GB" dirty="0"/>
              <a:t>24-Apr-26</a:t>
            </a:r>
          </a:p>
        </p:txBody>
      </p:sp>
      <p:sp>
        <p:nvSpPr>
          <p:cNvPr id="5" name="Slide Number Placeholder 4">
            <a:extLst>
              <a:ext uri="{FF2B5EF4-FFF2-40B4-BE49-F238E27FC236}">
                <a16:creationId xmlns:a16="http://schemas.microsoft.com/office/drawing/2014/main" id="{8F79DFB7-B65E-27C8-96D3-C89633AB7B94}"/>
              </a:ext>
            </a:extLst>
          </p:cNvPr>
          <p:cNvSpPr>
            <a:spLocks noGrp="1"/>
          </p:cNvSpPr>
          <p:nvPr>
            <p:ph type="sldNum" sz="quarter" idx="12"/>
          </p:nvPr>
        </p:nvSpPr>
        <p:spPr/>
        <p:txBody>
          <a:bodyPr/>
          <a:lstStyle/>
          <a:p>
            <a:fld id="{CC7D8618-F20C-406E-B464-04F15D14577A}" type="slidenum">
              <a:rPr lang="en-GB" smtClean="0"/>
              <a:pPr/>
              <a:t>21</a:t>
            </a:fld>
            <a:endParaRPr lang="en-GB" dirty="0"/>
          </a:p>
        </p:txBody>
      </p:sp>
      <p:sp>
        <p:nvSpPr>
          <p:cNvPr id="6" name="Text Placeholder 5">
            <a:extLst>
              <a:ext uri="{FF2B5EF4-FFF2-40B4-BE49-F238E27FC236}">
                <a16:creationId xmlns:a16="http://schemas.microsoft.com/office/drawing/2014/main" id="{C0357886-0D64-AB34-E024-98295930B3A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7F455099-1067-7869-9C81-1CE7ABDA30A9}"/>
              </a:ext>
            </a:extLst>
          </p:cNvPr>
          <p:cNvSpPr>
            <a:spLocks noGrp="1"/>
          </p:cNvSpPr>
          <p:nvPr>
            <p:ph type="body" sz="quarter" idx="14"/>
          </p:nvPr>
        </p:nvSpPr>
        <p:spPr/>
        <p:txBody>
          <a:bodyPr/>
          <a:lstStyle/>
          <a:p>
            <a:endParaRPr lang="en-LV"/>
          </a:p>
        </p:txBody>
      </p:sp>
      <p:sp>
        <p:nvSpPr>
          <p:cNvPr id="8" name="Text Placeholder 7">
            <a:extLst>
              <a:ext uri="{FF2B5EF4-FFF2-40B4-BE49-F238E27FC236}">
                <a16:creationId xmlns:a16="http://schemas.microsoft.com/office/drawing/2014/main" id="{A8D4135C-3988-EE0A-0DFF-4A670B151D99}"/>
              </a:ext>
            </a:extLst>
          </p:cNvPr>
          <p:cNvSpPr>
            <a:spLocks noGrp="1"/>
          </p:cNvSpPr>
          <p:nvPr>
            <p:ph type="body" sz="quarter" idx="15"/>
          </p:nvPr>
        </p:nvSpPr>
        <p:spPr/>
        <p:txBody>
          <a:bodyPr/>
          <a:lstStyle/>
          <a:p>
            <a:endParaRPr lang="en-LV"/>
          </a:p>
        </p:txBody>
      </p:sp>
    </p:spTree>
    <p:extLst>
      <p:ext uri="{BB962C8B-B14F-4D97-AF65-F5344CB8AC3E}">
        <p14:creationId xmlns:p14="http://schemas.microsoft.com/office/powerpoint/2010/main" val="3445438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3FC5-9A2C-3B95-E4DC-0698972928DE}"/>
              </a:ext>
            </a:extLst>
          </p:cNvPr>
          <p:cNvSpPr>
            <a:spLocks noGrp="1"/>
          </p:cNvSpPr>
          <p:nvPr>
            <p:ph type="title"/>
          </p:nvPr>
        </p:nvSpPr>
        <p:spPr/>
        <p:txBody>
          <a:bodyPr/>
          <a:lstStyle/>
          <a:p>
            <a:r>
              <a:rPr lang="en-LV" dirty="0"/>
              <a:t>Thank you, any questions?</a:t>
            </a:r>
          </a:p>
        </p:txBody>
      </p:sp>
      <p:sp>
        <p:nvSpPr>
          <p:cNvPr id="3" name="Date Placeholder 2">
            <a:extLst>
              <a:ext uri="{FF2B5EF4-FFF2-40B4-BE49-F238E27FC236}">
                <a16:creationId xmlns:a16="http://schemas.microsoft.com/office/drawing/2014/main" id="{665D8CBA-3795-3C4B-0C23-48E1D2242A3E}"/>
              </a:ext>
            </a:extLst>
          </p:cNvPr>
          <p:cNvSpPr>
            <a:spLocks noGrp="1"/>
          </p:cNvSpPr>
          <p:nvPr>
            <p:ph type="dt" sz="half" idx="10"/>
          </p:nvPr>
        </p:nvSpPr>
        <p:spPr/>
        <p:txBody>
          <a:bodyPr/>
          <a:lstStyle/>
          <a:p>
            <a:r>
              <a:rPr lang="en-GB" dirty="0"/>
              <a:t>24-Apr-26</a:t>
            </a:r>
          </a:p>
        </p:txBody>
      </p:sp>
      <p:sp>
        <p:nvSpPr>
          <p:cNvPr id="4" name="Text Placeholder 3">
            <a:extLst>
              <a:ext uri="{FF2B5EF4-FFF2-40B4-BE49-F238E27FC236}">
                <a16:creationId xmlns:a16="http://schemas.microsoft.com/office/drawing/2014/main" id="{ACD5B63D-3E6D-A166-ED50-F6153BA0BB9B}"/>
              </a:ext>
            </a:extLst>
          </p:cNvPr>
          <p:cNvSpPr>
            <a:spLocks noGrp="1"/>
          </p:cNvSpPr>
          <p:nvPr>
            <p:ph type="body" idx="11"/>
          </p:nvPr>
        </p:nvSpPr>
        <p:spPr/>
        <p:txBody>
          <a:bodyPr/>
          <a:lstStyle/>
          <a:p>
            <a:r>
              <a:rPr lang="en-LV" dirty="0"/>
              <a:t>anastasijazubkovaa@gmail.com</a:t>
            </a:r>
          </a:p>
        </p:txBody>
      </p:sp>
      <p:sp>
        <p:nvSpPr>
          <p:cNvPr id="5" name="Text Placeholder 4">
            <a:extLst>
              <a:ext uri="{FF2B5EF4-FFF2-40B4-BE49-F238E27FC236}">
                <a16:creationId xmlns:a16="http://schemas.microsoft.com/office/drawing/2014/main" id="{C1028FA6-4E68-6F6B-264C-4BF2D0C931F7}"/>
              </a:ext>
            </a:extLst>
          </p:cNvPr>
          <p:cNvSpPr>
            <a:spLocks noGrp="1"/>
          </p:cNvSpPr>
          <p:nvPr>
            <p:ph type="body" idx="1"/>
          </p:nvPr>
        </p:nvSpPr>
        <p:spPr/>
        <p:txBody>
          <a:bodyPr>
            <a:normAutofit fontScale="92500" lnSpcReduction="10000"/>
          </a:bodyPr>
          <a:lstStyle/>
          <a:p>
            <a:r>
              <a:rPr lang="en-LV" dirty="0"/>
              <a:t>Anastasija Zubkova</a:t>
            </a:r>
          </a:p>
        </p:txBody>
      </p:sp>
    </p:spTree>
    <p:extLst>
      <p:ext uri="{BB962C8B-B14F-4D97-AF65-F5344CB8AC3E}">
        <p14:creationId xmlns:p14="http://schemas.microsoft.com/office/powerpoint/2010/main" val="1352015503"/>
      </p:ext>
    </p:extLst>
  </p:cSld>
  <p:clrMapOvr>
    <a:masterClrMapping/>
  </p:clrMapOvr>
</p:sld>
</file>

<file path=ppt/theme/theme1.xml><?xml version="1.0" encoding="utf-8"?>
<a:theme xmlns:a="http://schemas.openxmlformats.org/drawingml/2006/main" name="RelStat-Title">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2.xml><?xml version="1.0" encoding="utf-8"?>
<a:theme xmlns:a="http://schemas.openxmlformats.org/drawingml/2006/main" name="RelStat-Conten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1647</TotalTime>
  <Words>2724</Words>
  <Application>Microsoft Macintosh PowerPoint</Application>
  <PresentationFormat>On-screen Show (4:3)</PresentationFormat>
  <Paragraphs>219</Paragraphs>
  <Slides>22</Slides>
  <Notes>19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Calibri Light</vt:lpstr>
      <vt:lpstr>RelStat-Title</vt:lpstr>
      <vt:lpstr>RelStat-Content</vt:lpstr>
      <vt:lpstr>DATA-DRIVEN PREDICTION AND ANALYSIS OF COOLING ENERGY USE IN TELECOM CENTRAL OFFICE ENVIRONMENTS</vt:lpstr>
      <vt:lpstr>Outline</vt:lpstr>
      <vt:lpstr>Problem and motivation</vt:lpstr>
      <vt:lpstr>Research gap and literature background</vt:lpstr>
      <vt:lpstr>Research aim and objectives</vt:lpstr>
      <vt:lpstr>Research questions</vt:lpstr>
      <vt:lpstr>Object and subject of research</vt:lpstr>
      <vt:lpstr>Analytical framework</vt:lpstr>
      <vt:lpstr>PowerPoint Presentation</vt:lpstr>
      <vt:lpstr>Intelligent control strategy</vt:lpstr>
      <vt:lpstr>7. Data and case-study context:  Data access and source environment</vt:lpstr>
      <vt:lpstr>7. Data and case-study context: Study period and temporal continuity</vt:lpstr>
      <vt:lpstr>8. Methodology: Target engineering</vt:lpstr>
      <vt:lpstr>8. Methodology: Forecasting and validation</vt:lpstr>
      <vt:lpstr>9. Results: Forecasting performance and final model selection</vt:lpstr>
      <vt:lpstr>9. Results: Benchmarking actual vs expected cooling</vt:lpstr>
      <vt:lpstr>9. Results: Control outcome</vt:lpstr>
      <vt:lpstr>9. Results: Example of simulated control intervention</vt:lpstr>
      <vt:lpstr>10. Discussion and limitations</vt:lpstr>
      <vt:lpstr>Conclusions</vt:lpstr>
      <vt:lpstr>Conclusions</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Pavlyuk</dc:creator>
  <cp:lastModifiedBy>Anastasija Zubkova</cp:lastModifiedBy>
  <cp:revision>59</cp:revision>
  <dcterms:created xsi:type="dcterms:W3CDTF">2018-07-20T13:43:23Z</dcterms:created>
  <dcterms:modified xsi:type="dcterms:W3CDTF">2026-05-11T19:53:10Z</dcterms:modified>
</cp:coreProperties>
</file>