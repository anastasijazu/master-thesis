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06" r:id="rId2"/>
  </p:sldMasterIdLst>
  <p:notesMasterIdLst>
    <p:notesMasterId r:id="rId22"/>
  </p:notesMasterIdLst>
  <p:sldIdLst>
    <p:sldId id="257" r:id="rId3"/>
    <p:sldId id="262" r:id="rId4"/>
    <p:sldId id="266" r:id="rId5"/>
    <p:sldId id="267" r:id="rId6"/>
    <p:sldId id="268" r:id="rId7"/>
    <p:sldId id="271" r:id="rId8"/>
    <p:sldId id="272" r:id="rId9"/>
    <p:sldId id="298" r:id="rId10"/>
    <p:sldId id="289" r:id="rId11"/>
    <p:sldId id="284" r:id="rId12"/>
    <p:sldId id="285" r:id="rId13"/>
    <p:sldId id="294" r:id="rId14"/>
    <p:sldId id="299" r:id="rId15"/>
    <p:sldId id="293" r:id="rId16"/>
    <p:sldId id="296" r:id="rId17"/>
    <p:sldId id="278" r:id="rId18"/>
    <p:sldId id="279" r:id="rId19"/>
    <p:sldId id="297" r:id="rId20"/>
    <p:sldId id="282"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3C7"/>
    <a:srgbClr val="6DA8DE"/>
    <a:srgbClr val="214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01" autoAdjust="0"/>
    <p:restoredTop sz="54959"/>
  </p:normalViewPr>
  <p:slideViewPr>
    <p:cSldViewPr snapToGrid="0">
      <p:cViewPr>
        <p:scale>
          <a:sx n="69" d="100"/>
          <a:sy n="69" d="100"/>
        </p:scale>
        <p:origin x="512" y="-560"/>
      </p:cViewPr>
      <p:guideLst/>
    </p:cSldViewPr>
  </p:slideViewPr>
  <p:notesTextViewPr>
    <p:cViewPr>
      <p:scale>
        <a:sx n="1" d="1"/>
        <a:sy n="1" d="1"/>
      </p:scale>
      <p:origin x="0" y="0"/>
    </p:cViewPr>
  </p:notesTextViewPr>
  <p:notesViewPr>
    <p:cSldViewPr snapToGrid="0">
      <p:cViewPr varScale="1">
        <p:scale>
          <a:sx n="85" d="100"/>
          <a:sy n="85" d="100"/>
        </p:scale>
        <p:origin x="295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6513B-EBB8-49B6-BD8F-2652FE9ECEC6}" type="datetimeFigureOut">
              <a:rPr lang="en-GB" smtClean="0"/>
              <a:t>11/05/2026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6BB30-4C71-4D09-933A-B2F84F8C947D}" type="slidenum">
              <a:rPr lang="en-GB" smtClean="0"/>
              <a:t>‹#›</a:t>
            </a:fld>
            <a:endParaRPr lang="en-GB"/>
          </a:p>
        </p:txBody>
      </p:sp>
    </p:spTree>
    <p:extLst>
      <p:ext uri="{BB962C8B-B14F-4D97-AF65-F5344CB8AC3E}">
        <p14:creationId xmlns:p14="http://schemas.microsoft.com/office/powerpoint/2010/main" val="2166572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a:t>
            </a:fld>
            <a:endParaRPr lang="en-GB"/>
          </a:p>
        </p:txBody>
      </p:sp>
    </p:spTree>
    <p:extLst>
      <p:ext uri="{BB962C8B-B14F-4D97-AF65-F5344CB8AC3E}">
        <p14:creationId xmlns:p14="http://schemas.microsoft.com/office/powerpoint/2010/main" val="3475758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Cooling is necessary in telecom central offices, but it is also an operational energy burden. At the same time, existing telecom analytics are much stronger in monitoring and diagnosis than in actual control-oriented decision support. This creates the motivation for the thesis: if cooling can be controlled more intelligently, efficiency may improve without compromising safety, but a realistic framework is needed because the available telemetry does not support full advanced control directly.</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3</a:t>
            </a:fld>
            <a:endParaRPr lang="en-GB"/>
          </a:p>
        </p:txBody>
      </p:sp>
    </p:spTree>
    <p:extLst>
      <p:ext uri="{BB962C8B-B14F-4D97-AF65-F5344CB8AC3E}">
        <p14:creationId xmlns:p14="http://schemas.microsoft.com/office/powerpoint/2010/main" val="4103691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literature shows an imbalance. In telecom environments, existing studies are relatively strong in monitoring, KPI design, and diagnostic analysis, but they are much weaker in control-oriented evaluation. At the same time, broader forecasting and advanced-control literature provides useful methodological ideas, yet these studies often assume richer state feedback, ready-made targets, or deployable control variables than are available in real telecom practice. This creates the central research gap of the thesis: there is still no integrated telecom-specific framework that links fragmented telemetry, expected-demand benchmarking, and context-aware intelligent cooling control under real operational constraints.</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4</a:t>
            </a:fld>
            <a:endParaRPr lang="en-GB"/>
          </a:p>
        </p:txBody>
      </p:sp>
    </p:spTree>
    <p:extLst>
      <p:ext uri="{BB962C8B-B14F-4D97-AF65-F5344CB8AC3E}">
        <p14:creationId xmlns:p14="http://schemas.microsoft.com/office/powerpoint/2010/main" val="24548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V" sz="1200" b="1" kern="1200" dirty="0">
                <a:solidFill>
                  <a:schemeClr val="tx1"/>
                </a:solidFill>
                <a:effectLst/>
                <a:latin typeface="+mn-lt"/>
                <a:ea typeface="+mn-ea"/>
                <a:cs typeface="+mn-cs"/>
              </a:rPr>
              <a:t>The aim of the thesis</a:t>
            </a:r>
            <a:r>
              <a:rPr lang="en-LV" sz="1200" kern="1200" dirty="0">
                <a:solidFill>
                  <a:schemeClr val="tx1"/>
                </a:solidFill>
                <a:effectLst/>
                <a:latin typeface="+mn-lt"/>
                <a:ea typeface="+mn-ea"/>
                <a:cs typeface="+mn-cs"/>
              </a:rPr>
              <a:t> is to develop predictive models for cooling energy use and evaluate intelligent control strategies based on real monitoring data from telecom central office environments. This aim is pursued through hourly target engineering from fragmented telemetry, short-term forecasting, benchmark-based assessment of actual versus expected cooling demand, and simulation of forecast-informed intelligent control strategies.</a:t>
            </a:r>
          </a:p>
          <a:p>
            <a:r>
              <a:rPr lang="en-LV" sz="1200" kern="1200" dirty="0">
                <a:solidFill>
                  <a:schemeClr val="tx1"/>
                </a:solidFill>
                <a:effectLst/>
                <a:latin typeface="+mn-lt"/>
                <a:ea typeface="+mn-ea"/>
                <a:cs typeface="+mn-cs"/>
              </a:rPr>
              <a:t>To achieve this aim, the thesis solves the following </a:t>
            </a:r>
            <a:r>
              <a:rPr lang="en-LV" sz="1200" b="1" kern="1200" dirty="0">
                <a:solidFill>
                  <a:schemeClr val="tx1"/>
                </a:solidFill>
                <a:effectLst/>
                <a:latin typeface="+mn-lt"/>
                <a:ea typeface="+mn-ea"/>
                <a:cs typeface="+mn-cs"/>
              </a:rPr>
              <a:t>research tasks</a:t>
            </a:r>
            <a:r>
              <a:rPr lang="en-LV" sz="1200" kern="1200" dirty="0">
                <a:solidFill>
                  <a:schemeClr val="tx1"/>
                </a:solidFill>
                <a:effectLst/>
                <a:latin typeface="+mn-lt"/>
                <a:ea typeface="+mn-ea"/>
                <a:cs typeface="+mn-cs"/>
              </a:rPr>
              <a:t>:</a:t>
            </a:r>
          </a:p>
          <a:p>
            <a:pPr lvl="0"/>
            <a:r>
              <a:rPr lang="en-LV" sz="1200" kern="1200" dirty="0">
                <a:solidFill>
                  <a:schemeClr val="tx1"/>
                </a:solidFill>
                <a:effectLst/>
                <a:latin typeface="+mn-lt"/>
                <a:ea typeface="+mn-ea"/>
                <a:cs typeface="+mn-cs"/>
              </a:rPr>
              <a:t>To conduct a literature review on predictive modelling, benchmark-based evaluation, and intelligent control strategies for cooling systems.</a:t>
            </a:r>
          </a:p>
          <a:p>
            <a:pPr lvl="0"/>
            <a:r>
              <a:rPr lang="en-LV" sz="1200" kern="1200" dirty="0">
                <a:solidFill>
                  <a:schemeClr val="tx1"/>
                </a:solidFill>
                <a:effectLst/>
                <a:latin typeface="+mn-lt"/>
                <a:ea typeface="+mn-ea"/>
                <a:cs typeface="+mn-cs"/>
              </a:rPr>
              <a:t>To explore, preprocess, and analyse real operational and environmental data, and to engineer an hourly cooling-demand target and analytical dataset from fragmented site telemetry. </a:t>
            </a:r>
          </a:p>
          <a:p>
            <a:pPr lvl="0"/>
            <a:r>
              <a:rPr lang="en-LV" sz="1200" kern="1200" dirty="0">
                <a:solidFill>
                  <a:schemeClr val="tx1"/>
                </a:solidFill>
                <a:effectLst/>
                <a:latin typeface="+mn-lt"/>
                <a:ea typeface="+mn-ea"/>
                <a:cs typeface="+mn-cs"/>
              </a:rPr>
              <a:t>To develop and compare short-term forecasting models for cooling energy use. </a:t>
            </a:r>
          </a:p>
          <a:p>
            <a:pPr lvl="0"/>
            <a:r>
              <a:rPr lang="en-LV" sz="1200" kern="1200" dirty="0">
                <a:solidFill>
                  <a:schemeClr val="tx1"/>
                </a:solidFill>
                <a:effectLst/>
                <a:latin typeface="+mn-lt"/>
                <a:ea typeface="+mn-ea"/>
                <a:cs typeface="+mn-cs"/>
              </a:rPr>
              <a:t>To analyse actual versus expected cooling demand using the selected forecasting model as a benchmark. </a:t>
            </a:r>
          </a:p>
          <a:p>
            <a:pPr lvl="0"/>
            <a:r>
              <a:rPr lang="en-LV" sz="1200" kern="1200" dirty="0">
                <a:solidFill>
                  <a:schemeClr val="tx1"/>
                </a:solidFill>
                <a:effectLst/>
                <a:latin typeface="+mn-lt"/>
                <a:ea typeface="+mn-ea"/>
                <a:cs typeface="+mn-cs"/>
              </a:rPr>
              <a:t>To design, simulate, and evaluate forecast-informed intelligent control strategies against historical operation.</a:t>
            </a:r>
            <a:r>
              <a:rPr lang="en-LV" sz="1200" b="1" kern="1200" dirty="0">
                <a:solidFill>
                  <a:schemeClr val="tx1"/>
                </a:solidFill>
                <a:effectLst/>
                <a:latin typeface="+mn-lt"/>
                <a:ea typeface="+mn-ea"/>
                <a:cs typeface="+mn-cs"/>
              </a:rPr>
              <a:t> </a:t>
            </a:r>
            <a:endParaRPr lang="en-LV"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LV" sz="1200" kern="1200" dirty="0">
              <a:solidFill>
                <a:schemeClr val="tx1"/>
              </a:solidFill>
              <a:effectLst/>
              <a:latin typeface="+mn-lt"/>
              <a:ea typeface="+mn-ea"/>
              <a:cs typeface="+mn-cs"/>
            </a:endParaRPr>
          </a:p>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5</a:t>
            </a:fld>
            <a:endParaRPr lang="en-GB"/>
          </a:p>
        </p:txBody>
      </p:sp>
    </p:spTree>
    <p:extLst>
      <p:ext uri="{BB962C8B-B14F-4D97-AF65-F5344CB8AC3E}">
        <p14:creationId xmlns:p14="http://schemas.microsoft.com/office/powerpoint/2010/main" val="3575709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7</a:t>
            </a:fld>
            <a:endParaRPr lang="en-GB"/>
          </a:p>
        </p:txBody>
      </p:sp>
    </p:spTree>
    <p:extLst>
      <p:ext uri="{BB962C8B-B14F-4D97-AF65-F5344CB8AC3E}">
        <p14:creationId xmlns:p14="http://schemas.microsoft.com/office/powerpoint/2010/main" val="2679902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EF91-FC72-172F-F7DD-5EACC0BA8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772F7-1F61-93CC-58B8-9A7F91F46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216A9-5F15-11A7-55E7-125CD36C882A}"/>
              </a:ext>
            </a:extLst>
          </p:cNvPr>
          <p:cNvSpPr>
            <a:spLocks noGrp="1"/>
          </p:cNvSpPr>
          <p:nvPr>
            <p:ph type="body" idx="1"/>
          </p:nvPr>
        </p:nvSpPr>
        <p:spPr/>
        <p:txBody>
          <a:bodyPr/>
          <a:lstStyle/>
          <a:p>
            <a:r>
              <a:rPr lang="en-GB" dirty="0"/>
              <a:t>This figure shows the full logic of the thesis. First, a control-oriented analytical basis is built from fragmented telecom telemetry. Second, an expected-demand benchmark is developed and validated. Third, that benchmark is used for intelligent control evaluation through the B0–S3 strategy family, operating modes, and robustness analysis. So the main contribution is control-oriented, while forecasting serves as a support layer. The figure also makes clear that the work remains a historical single-site evaluation rather than live closed-loop control.</a:t>
            </a:r>
            <a:endParaRPr lang="en-LV" dirty="0"/>
          </a:p>
        </p:txBody>
      </p:sp>
      <p:sp>
        <p:nvSpPr>
          <p:cNvPr id="4" name="Slide Number Placeholder 3">
            <a:extLst>
              <a:ext uri="{FF2B5EF4-FFF2-40B4-BE49-F238E27FC236}">
                <a16:creationId xmlns:a16="http://schemas.microsoft.com/office/drawing/2014/main" id="{FA855419-C6C3-9786-8ED5-8A22B2CC0F7E}"/>
              </a:ext>
            </a:extLst>
          </p:cNvPr>
          <p:cNvSpPr>
            <a:spLocks noGrp="1"/>
          </p:cNvSpPr>
          <p:nvPr>
            <p:ph type="sldNum" sz="quarter" idx="5"/>
          </p:nvPr>
        </p:nvSpPr>
        <p:spPr/>
        <p:txBody>
          <a:bodyPr/>
          <a:lstStyle/>
          <a:p>
            <a:fld id="{0136BB30-4C71-4D09-933A-B2F84F8C947D}" type="slidenum">
              <a:rPr lang="en-GB" smtClean="0"/>
              <a:t>8</a:t>
            </a:fld>
            <a:endParaRPr lang="en-GB"/>
          </a:p>
        </p:txBody>
      </p:sp>
    </p:spTree>
    <p:extLst>
      <p:ext uri="{BB962C8B-B14F-4D97-AF65-F5344CB8AC3E}">
        <p14:creationId xmlns:p14="http://schemas.microsoft.com/office/powerpoint/2010/main" val="40603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391D-E001-7496-4A06-96616F3D0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152C2-D239-025B-7002-4D95E1C25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E3747-6089-C99A-CBEF-CA8D5C959309}"/>
              </a:ext>
            </a:extLst>
          </p:cNvPr>
          <p:cNvSpPr>
            <a:spLocks noGrp="1"/>
          </p:cNvSpPr>
          <p:nvPr>
            <p:ph type="body" idx="1"/>
          </p:nvPr>
        </p:nvSpPr>
        <p:spPr/>
        <p:txBody>
          <a:bodyPr/>
          <a:lstStyle/>
          <a:p>
            <a:r>
              <a:rPr lang="en-GB" dirty="0"/>
              <a:t>This slide presents the intelligent control methodology as a structured decision framework built around </a:t>
            </a:r>
            <a:r>
              <a:rPr lang="en-GB" b="1" dirty="0"/>
              <a:t>state, operating mode and risk context, policy, action, and outcome</a:t>
            </a:r>
            <a:r>
              <a:rPr lang="en-GB" dirty="0"/>
              <a:t>.</a:t>
            </a:r>
          </a:p>
          <a:p>
            <a:endParaRPr lang="en-GB" dirty="0"/>
          </a:p>
          <a:p>
            <a:r>
              <a:rPr lang="en-GB" dirty="0"/>
              <a:t>In the first step, the </a:t>
            </a:r>
            <a:r>
              <a:rPr lang="en-GB" b="1" dirty="0"/>
              <a:t>state</a:t>
            </a:r>
            <a:r>
              <a:rPr lang="en-GB" dirty="0"/>
              <a:t> describes what is known about the system at a given hour. It includes expected cooling demand, actual cooling demand, the bias-corrected residual between them, warm-season eligibility, persistence status, the load proxy, and the thermal context score. Together, these variables define the hourly control-relevant system context and indicate whether a given hour appears broadly consistent with expectation or potentially shows excess cooling.</a:t>
            </a:r>
          </a:p>
          <a:p>
            <a:endParaRPr lang="en-GB" dirty="0"/>
          </a:p>
          <a:p>
            <a:r>
              <a:rPr lang="en-GB" dirty="0"/>
              <a:t>In the second step, the state is enriched through </a:t>
            </a:r>
            <a:r>
              <a:rPr lang="en-GB" b="1" dirty="0"/>
              <a:t>operating mode and risk context</a:t>
            </a:r>
            <a:r>
              <a:rPr lang="en-GB" dirty="0"/>
              <a:t>. The purpose of this layer is to avoid treating every positive residual in the same way. Because the same deviation can occur under very different operating conditions, the load proxy and thermal context score are combined to group hours into lower-, medium-, and higher-risk situations for bounded intervention.</a:t>
            </a:r>
          </a:p>
          <a:p>
            <a:endParaRPr lang="en-GB" dirty="0"/>
          </a:p>
          <a:p>
            <a:endParaRPr lang="en-GB" dirty="0"/>
          </a:p>
          <a:p>
            <a:r>
              <a:rPr lang="en-GB" b="1" dirty="0"/>
              <a:t>K-means clustering</a:t>
            </a:r>
            <a:r>
              <a:rPr lang="en-GB" dirty="0"/>
              <a:t> was used here because the methodological goal was a simple partition of the operating space into a small number of control-relevant contexts. It provided a practical way to group similar hours in the load–thermal context space and to translate that grouping into a form usable for later policy logic.</a:t>
            </a:r>
          </a:p>
          <a:p>
            <a:r>
              <a:rPr lang="en-GB" dirty="0"/>
              <a:t>In the third step, the </a:t>
            </a:r>
            <a:r>
              <a:rPr lang="en-GB" b="1" dirty="0"/>
              <a:t>policy</a:t>
            </a:r>
            <a:r>
              <a:rPr lang="en-GB" dirty="0"/>
              <a:t> is defined through the B0–S3 strategy family. B0 uses residual logic only, S1 adds persistence meaning period should be more prolonged not short, S2 adds load awareness, and S3 adds mode- and risk-based context. The difference between </a:t>
            </a:r>
            <a:r>
              <a:rPr lang="en-GB" b="1" dirty="0"/>
              <a:t>S2</a:t>
            </a:r>
            <a:r>
              <a:rPr lang="en-GB" dirty="0"/>
              <a:t> and </a:t>
            </a:r>
            <a:r>
              <a:rPr lang="en-GB" b="1" dirty="0"/>
              <a:t>S3</a:t>
            </a:r>
            <a:r>
              <a:rPr lang="en-GB" dirty="0"/>
              <a:t> is especially important. S2 is aware of the </a:t>
            </a:r>
            <a:r>
              <a:rPr lang="en-GB" b="1" dirty="0"/>
              <a:t>load level</a:t>
            </a:r>
            <a:r>
              <a:rPr lang="en-GB" dirty="0"/>
              <a:t> only, so it distinguishes between lighter and heavier operating intensity. S3 goes further by considering the </a:t>
            </a:r>
            <a:r>
              <a:rPr lang="en-GB" b="1" dirty="0"/>
              <a:t>combined load–thermal situation</a:t>
            </a:r>
            <a:r>
              <a:rPr lang="en-GB" dirty="0"/>
              <a:t> of the hour. In this way, two hours with similar load can still be treated differently if they occur under different thermal conditions. </a:t>
            </a:r>
          </a:p>
          <a:p>
            <a:endParaRPr lang="en-GB" dirty="0"/>
          </a:p>
          <a:p>
            <a:r>
              <a:rPr lang="en-GB" dirty="0"/>
              <a:t>In the fourth step, the </a:t>
            </a:r>
            <a:r>
              <a:rPr lang="en-GB" b="1" dirty="0"/>
              <a:t>action</a:t>
            </a:r>
            <a:r>
              <a:rPr lang="en-GB" dirty="0"/>
              <a:t> remains intentionally simple and bounded. The framework first identifies eligible candidate hours and then applies a bounded control action. </a:t>
            </a:r>
          </a:p>
          <a:p>
            <a:endParaRPr lang="en-GB" dirty="0"/>
          </a:p>
          <a:p>
            <a:r>
              <a:rPr lang="en-GB" dirty="0"/>
              <a:t>There is no actuator-level deployment, so the action is evaluated as a supervisory intervention in historical analysis rather than as live automatic control.</a:t>
            </a:r>
          </a:p>
          <a:p>
            <a:endParaRPr lang="en-GB" dirty="0"/>
          </a:p>
          <a:p>
            <a:r>
              <a:rPr lang="en-GB" dirty="0"/>
              <a:t>In the fifth step, the </a:t>
            </a:r>
            <a:r>
              <a:rPr lang="en-GB" b="1" dirty="0"/>
              <a:t>objective and outcome</a:t>
            </a:r>
            <a:r>
              <a:rPr lang="en-GB" dirty="0"/>
              <a:t> are assessed. The objective is to reduce excess cooling while remaining context-aware and avoiding overly aggressive action. The outcomes are then evaluated on historical operation through reduction magnitude, number of active control hours,, and interpretation across different risk profiles.</a:t>
            </a:r>
          </a:p>
        </p:txBody>
      </p:sp>
      <p:sp>
        <p:nvSpPr>
          <p:cNvPr id="4" name="Slide Number Placeholder 3">
            <a:extLst>
              <a:ext uri="{FF2B5EF4-FFF2-40B4-BE49-F238E27FC236}">
                <a16:creationId xmlns:a16="http://schemas.microsoft.com/office/drawing/2014/main" id="{C4670222-8A2D-B6FE-45C3-E76CCA60E4FF}"/>
              </a:ext>
            </a:extLst>
          </p:cNvPr>
          <p:cNvSpPr>
            <a:spLocks noGrp="1"/>
          </p:cNvSpPr>
          <p:nvPr>
            <p:ph type="sldNum" sz="quarter" idx="5"/>
          </p:nvPr>
        </p:nvSpPr>
        <p:spPr/>
        <p:txBody>
          <a:bodyPr/>
          <a:lstStyle/>
          <a:p>
            <a:fld id="{0136BB30-4C71-4D09-933A-B2F84F8C947D}" type="slidenum">
              <a:rPr lang="en-GB" smtClean="0"/>
              <a:t>9</a:t>
            </a:fld>
            <a:endParaRPr lang="en-GB"/>
          </a:p>
        </p:txBody>
      </p:sp>
    </p:spTree>
    <p:extLst>
      <p:ext uri="{BB962C8B-B14F-4D97-AF65-F5344CB8AC3E}">
        <p14:creationId xmlns:p14="http://schemas.microsoft.com/office/powerpoint/2010/main" val="407350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empirical basis of the study. The analysis did not start from one ready-made modelling dataset. Instead, it started from read-only access to a reporting database that had to be explored and structured programmatically.”</a:t>
            </a:r>
          </a:p>
          <a:p>
            <a:r>
              <a:rPr lang="en-GB" dirty="0"/>
              <a:t>“The source environment consisted of three main parts. First, there was site-level and support information describing monitored sites and their reporting context. Second, there was signal metadata, which provided signal identifiers, descriptions, and measuring-point mappings. Third, there were timestamped measurement tables containing operational telemetry across sites.”</a:t>
            </a:r>
          </a:p>
          <a:p>
            <a:r>
              <a:rPr lang="en-GB" dirty="0"/>
              <a:t>“These layers had to be linked before any modelling could begin. On that basis, I applied a metadata-first screening procedure to identify candidate sites and score them by cooling- and energy-relevant signal richness.”</a:t>
            </a:r>
          </a:p>
          <a:p>
            <a:r>
              <a:rPr lang="en-GB" dirty="0"/>
              <a:t>“The result of this stage was a structured understanding of the source environment and the selection of one case-study site with sufficiently rich telemetry for target engineering, forecasting, and later benchmark-based analysis.”</a:t>
            </a:r>
          </a:p>
        </p:txBody>
      </p:sp>
      <p:sp>
        <p:nvSpPr>
          <p:cNvPr id="4" name="Slide Number Placeholder 3"/>
          <p:cNvSpPr>
            <a:spLocks noGrp="1"/>
          </p:cNvSpPr>
          <p:nvPr>
            <p:ph type="sldNum" sz="quarter" idx="5"/>
          </p:nvPr>
        </p:nvSpPr>
        <p:spPr/>
        <p:txBody>
          <a:bodyPr/>
          <a:lstStyle/>
          <a:p>
            <a:fld id="{0136BB30-4C71-4D09-933A-B2F84F8C947D}" type="slidenum">
              <a:rPr lang="en-GB" smtClean="0"/>
              <a:t>10</a:t>
            </a:fld>
            <a:endParaRPr lang="en-GB"/>
          </a:p>
        </p:txBody>
      </p:sp>
    </p:spTree>
    <p:extLst>
      <p:ext uri="{BB962C8B-B14F-4D97-AF65-F5344CB8AC3E}">
        <p14:creationId xmlns:p14="http://schemas.microsoft.com/office/powerpoint/2010/main" val="1530902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AA9-EF24-9C0F-CFA2-6C5B1760C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003DF-0360-DCCB-E6F1-C76C6D7F5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96BBD-519F-D268-45BE-FDB746369FB2}"/>
              </a:ext>
            </a:extLst>
          </p:cNvPr>
          <p:cNvSpPr>
            <a:spLocks noGrp="1"/>
          </p:cNvSpPr>
          <p:nvPr>
            <p:ph type="body" idx="1"/>
          </p:nvPr>
        </p:nvSpPr>
        <p:spPr/>
        <p:txBody>
          <a:bodyPr/>
          <a:lstStyle/>
          <a:p>
            <a:r>
              <a:rPr lang="en-GB" dirty="0"/>
              <a:t>“Forecasting was evaluated under both chronological and rolling-origin validation. The final selection was based on pooled rolling-origin RMSE, where Gradient Boosting with lagged target features performed best overall, with Random Forest remaining very close. The final benchmark then achieved MAE 115.06, RMSE 161.79, CVRMSE 4.79 percent, and R-squared 0.9855.”</a:t>
            </a:r>
            <a:endParaRPr lang="en-LV" dirty="0"/>
          </a:p>
        </p:txBody>
      </p:sp>
      <p:sp>
        <p:nvSpPr>
          <p:cNvPr id="4" name="Slide Number Placeholder 3">
            <a:extLst>
              <a:ext uri="{FF2B5EF4-FFF2-40B4-BE49-F238E27FC236}">
                <a16:creationId xmlns:a16="http://schemas.microsoft.com/office/drawing/2014/main" id="{9FF83016-D7AA-A7E0-E7F7-245F335D6A49}"/>
              </a:ext>
            </a:extLst>
          </p:cNvPr>
          <p:cNvSpPr>
            <a:spLocks noGrp="1"/>
          </p:cNvSpPr>
          <p:nvPr>
            <p:ph type="sldNum" sz="quarter" idx="5"/>
          </p:nvPr>
        </p:nvSpPr>
        <p:spPr/>
        <p:txBody>
          <a:bodyPr/>
          <a:lstStyle/>
          <a:p>
            <a:fld id="{0136BB30-4C71-4D09-933A-B2F84F8C947D}" type="slidenum">
              <a:rPr lang="en-GB" smtClean="0"/>
              <a:t>11</a:t>
            </a:fld>
            <a:endParaRPr lang="en-GB"/>
          </a:p>
        </p:txBody>
      </p:sp>
    </p:spTree>
    <p:extLst>
      <p:ext uri="{BB962C8B-B14F-4D97-AF65-F5344CB8AC3E}">
        <p14:creationId xmlns:p14="http://schemas.microsoft.com/office/powerpoint/2010/main" val="3450309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E0FB0-3B4B-9839-0B2C-743B3B1A8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9B98B-C2CE-7F2D-9B9A-C714B6F92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14F53-ABB5-CB29-87B6-CC3F7A6BBC56}"/>
              </a:ext>
            </a:extLst>
          </p:cNvPr>
          <p:cNvSpPr>
            <a:spLocks noGrp="1"/>
          </p:cNvSpPr>
          <p:nvPr>
            <p:ph type="body" idx="1"/>
          </p:nvPr>
        </p:nvSpPr>
        <p:spPr/>
        <p:txBody>
          <a:bodyPr/>
          <a:lstStyle/>
          <a:p>
            <a:r>
              <a:rPr lang="en-GB" dirty="0"/>
              <a:t>“The best performance came from Gradient Boosting and Random Forest with lagged target variables. This is mainly because cooling energy use is temporally persistent. The current value depends strongly on recent cooling activity, since the system has thermal inertia and operating states do not change abruptly. In addition, the target is an accumulated cooling signal from the same equipment family, so its previous values already contain a compact summary of recent system behaviour.</a:t>
            </a:r>
          </a:p>
          <a:p>
            <a:r>
              <a:rPr lang="en-GB" dirty="0"/>
              <a:t>Weather and operational variables still add useful context, but their influence is more indirect. Outside temperature affects cooling demand through delay and through interaction with internal load and control settings. Tree-based models are able to capture these nonlinear and threshold effects. This explains why the lagged tree-based models outperformed simpler models and models without lag history.”</a:t>
            </a:r>
          </a:p>
          <a:p>
            <a:endParaRPr lang="en-LV" dirty="0"/>
          </a:p>
        </p:txBody>
      </p:sp>
      <p:sp>
        <p:nvSpPr>
          <p:cNvPr id="4" name="Slide Number Placeholder 3">
            <a:extLst>
              <a:ext uri="{FF2B5EF4-FFF2-40B4-BE49-F238E27FC236}">
                <a16:creationId xmlns:a16="http://schemas.microsoft.com/office/drawing/2014/main" id="{8454DD90-6AE3-BEFB-B061-7853D50F9AC8}"/>
              </a:ext>
            </a:extLst>
          </p:cNvPr>
          <p:cNvSpPr>
            <a:spLocks noGrp="1"/>
          </p:cNvSpPr>
          <p:nvPr>
            <p:ph type="sldNum" sz="quarter" idx="5"/>
          </p:nvPr>
        </p:nvSpPr>
        <p:spPr/>
        <p:txBody>
          <a:bodyPr/>
          <a:lstStyle/>
          <a:p>
            <a:fld id="{0136BB30-4C71-4D09-933A-B2F84F8C947D}" type="slidenum">
              <a:rPr lang="en-GB" smtClean="0"/>
              <a:t>12</a:t>
            </a:fld>
            <a:endParaRPr lang="en-GB"/>
          </a:p>
        </p:txBody>
      </p:sp>
    </p:spTree>
    <p:extLst>
      <p:ext uri="{BB962C8B-B14F-4D97-AF65-F5344CB8AC3E}">
        <p14:creationId xmlns:p14="http://schemas.microsoft.com/office/powerpoint/2010/main" val="1400480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A40A-70FC-22EF-478E-9C753CAE2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21945-D45E-8582-0850-F0ED85A4A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E3BEC-EF19-2926-9469-0B9743DD1974}"/>
              </a:ext>
            </a:extLst>
          </p:cNvPr>
          <p:cNvSpPr>
            <a:spLocks noGrp="1"/>
          </p:cNvSpPr>
          <p:nvPr>
            <p:ph type="body" idx="1"/>
          </p:nvPr>
        </p:nvSpPr>
        <p:spPr/>
        <p:txBody>
          <a:bodyPr/>
          <a:lstStyle/>
          <a:p>
            <a:r>
              <a:rPr lang="en-GB" dirty="0"/>
              <a:t>The main result is that lagged cooling-energy history was the dominant predictor group. In practical terms, this means that recent past consumption already contains a large amount of information about near-term cooling demand. This is expected for telecom cooling systems, because the load changes gradually and the system has thermal inertia.</a:t>
            </a:r>
          </a:p>
          <a:p>
            <a:r>
              <a:rPr lang="en-GB" dirty="0"/>
              <a:t>The chart on the right shows this clearly. The lagged target group has much higher permutation importance than the other groups. Internal operational variables add a secondary but still meaningful contribution, while weather has a smaller effect, and calendar time contributes very little in this model.</a:t>
            </a:r>
          </a:p>
          <a:p>
            <a:r>
              <a:rPr lang="en-GB" dirty="0"/>
              <a:t>The left figure helps explain why the additional control-state variables are still useful. By combining a load proxy with thermal-context information, the operating points can be separated into low-, medium-, and high-risk regions. This gives the model not only historical memory, but also some operational context for interpreting the current state.</a:t>
            </a:r>
          </a:p>
          <a:p>
            <a:r>
              <a:rPr lang="en-GB" dirty="0"/>
              <a:t>So the key interpretation is not that weather or time are unimportant in general. Rather, for this dataset and this short-term prediction task, most of the predictive power came from recent consumption history. The control-state design then improved interpretability by linking the prediction problem to operational logic and potential policy decisions.</a:t>
            </a:r>
          </a:p>
          <a:p>
            <a:r>
              <a:rPr lang="en-GB" dirty="0"/>
              <a:t>This supports the thesis objective: using monitoring data not only for forecasting, but also for data-driven evaluation of cooling-system operation in telecom central office environments. </a:t>
            </a:r>
          </a:p>
          <a:p>
            <a:endParaRPr lang="en-GB" dirty="0"/>
          </a:p>
        </p:txBody>
      </p:sp>
      <p:sp>
        <p:nvSpPr>
          <p:cNvPr id="4" name="Slide Number Placeholder 3">
            <a:extLst>
              <a:ext uri="{FF2B5EF4-FFF2-40B4-BE49-F238E27FC236}">
                <a16:creationId xmlns:a16="http://schemas.microsoft.com/office/drawing/2014/main" id="{D5175050-5A5C-044A-0422-FAE594399C3E}"/>
              </a:ext>
            </a:extLst>
          </p:cNvPr>
          <p:cNvSpPr>
            <a:spLocks noGrp="1"/>
          </p:cNvSpPr>
          <p:nvPr>
            <p:ph type="sldNum" sz="quarter" idx="5"/>
          </p:nvPr>
        </p:nvSpPr>
        <p:spPr/>
        <p:txBody>
          <a:bodyPr/>
          <a:lstStyle/>
          <a:p>
            <a:fld id="{0136BB30-4C71-4D09-933A-B2F84F8C947D}" type="slidenum">
              <a:rPr lang="en-GB" smtClean="0"/>
              <a:t>13</a:t>
            </a:fld>
            <a:endParaRPr lang="en-GB"/>
          </a:p>
        </p:txBody>
      </p:sp>
    </p:spTree>
    <p:extLst>
      <p:ext uri="{BB962C8B-B14F-4D97-AF65-F5344CB8AC3E}">
        <p14:creationId xmlns:p14="http://schemas.microsoft.com/office/powerpoint/2010/main" val="2918044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FEB13-87F2-1ABC-0E82-BBE7DD260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94D6E-17AB-68F7-DD63-37AB57CBD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58F55-DF04-F17A-6AC7-A5E9DEEF54FE}"/>
              </a:ext>
            </a:extLst>
          </p:cNvPr>
          <p:cNvSpPr>
            <a:spLocks noGrp="1"/>
          </p:cNvSpPr>
          <p:nvPr>
            <p:ph type="body" idx="1"/>
          </p:nvPr>
        </p:nvSpPr>
        <p:spPr/>
        <p:txBody>
          <a:bodyPr/>
          <a:lstStyle/>
          <a:p>
            <a:r>
              <a:rPr lang="en-GB" dirty="0"/>
              <a:t>This slide summarises the overall control outcome across the strategy family. The key pattern is that as the control logic becomes more context-aware, it becomes much more selective. In the simplest strategy, B0, the method identifies 497 active control hours and an estimated warm-season reduction of 0.631%. When forecast persistence is added in S1, both the number of active hours and the reduction estimate drop clearly. After adding load awareness in S2, the intervention set becomes smaller again, and with full mode-aware logic in S3 only 6 control hours remain, with a reduction estimate of 0.010%. So the main conclusion is not that the system contains large reducible cooling waste, but rather that only a small number of conservative intervention opportunities remain after contextual filtering.</a:t>
            </a:r>
            <a:endParaRPr lang="en-LV" dirty="0"/>
          </a:p>
        </p:txBody>
      </p:sp>
      <p:sp>
        <p:nvSpPr>
          <p:cNvPr id="4" name="Slide Number Placeholder 3">
            <a:extLst>
              <a:ext uri="{FF2B5EF4-FFF2-40B4-BE49-F238E27FC236}">
                <a16:creationId xmlns:a16="http://schemas.microsoft.com/office/drawing/2014/main" id="{982CC219-74B5-00B1-7314-D14BACC0B2A0}"/>
              </a:ext>
            </a:extLst>
          </p:cNvPr>
          <p:cNvSpPr>
            <a:spLocks noGrp="1"/>
          </p:cNvSpPr>
          <p:nvPr>
            <p:ph type="sldNum" sz="quarter" idx="5"/>
          </p:nvPr>
        </p:nvSpPr>
        <p:spPr/>
        <p:txBody>
          <a:bodyPr/>
          <a:lstStyle/>
          <a:p>
            <a:fld id="{0136BB30-4C71-4D09-933A-B2F84F8C947D}" type="slidenum">
              <a:rPr lang="en-GB" smtClean="0"/>
              <a:t>14</a:t>
            </a:fld>
            <a:endParaRPr lang="en-GB"/>
          </a:p>
        </p:txBody>
      </p:sp>
    </p:spTree>
    <p:extLst>
      <p:ext uri="{BB962C8B-B14F-4D97-AF65-F5344CB8AC3E}">
        <p14:creationId xmlns:p14="http://schemas.microsoft.com/office/powerpoint/2010/main" val="3160543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3D65-E312-06CC-00AF-4DDAF7F60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46E45-75C9-D7C2-BDD3-2CB1615D2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6259E-D46C-FBB5-56E4-038D09092153}"/>
              </a:ext>
            </a:extLst>
          </p:cNvPr>
          <p:cNvSpPr>
            <a:spLocks noGrp="1"/>
          </p:cNvSpPr>
          <p:nvPr>
            <p:ph type="body" idx="1"/>
          </p:nvPr>
        </p:nvSpPr>
        <p:spPr/>
        <p:txBody>
          <a:bodyPr/>
          <a:lstStyle/>
          <a:p>
            <a:r>
              <a:rPr lang="en-GB" dirty="0"/>
              <a:t>“This figure shows one representative control episode for the S3 strategy. The blue line is the historical actual cooling, the orange line is the expected-demand benchmark, and the green line is the simulated controlled cooling. The shaded interval marks the hours when the control logic was active.</a:t>
            </a:r>
          </a:p>
          <a:p>
            <a:r>
              <a:rPr lang="en-GB" dirty="0"/>
              <a:t>The reason for using a 24-hour representation is interpretability. A single hour would be too narrow to show why the intervention was triggered, while a much longer period would hide the local control behaviour. The 24-hour window is long enough to show the context before activation, the control-active interval itself, and the behaviour after the intervention.</a:t>
            </a:r>
          </a:p>
          <a:p>
            <a:r>
              <a:rPr lang="en-GB" dirty="0"/>
              <a:t>During the shaded window, the controller identified a valid opportunity because actual cooling was above the expected benchmark. The green line is lower than the blue line because a bounded reduction was applied to historical cooling. At the same time, the green line stays close to the orange line because the intervention was conservative. The goal was not to force cooling aggressively below the benchmark, but to simulate a cautious reduction only during eligible hours.”</a:t>
            </a:r>
          </a:p>
        </p:txBody>
      </p:sp>
      <p:sp>
        <p:nvSpPr>
          <p:cNvPr id="4" name="Slide Number Placeholder 3">
            <a:extLst>
              <a:ext uri="{FF2B5EF4-FFF2-40B4-BE49-F238E27FC236}">
                <a16:creationId xmlns:a16="http://schemas.microsoft.com/office/drawing/2014/main" id="{6FB819D2-B34D-96A8-0251-2AB5374B6C55}"/>
              </a:ext>
            </a:extLst>
          </p:cNvPr>
          <p:cNvSpPr>
            <a:spLocks noGrp="1"/>
          </p:cNvSpPr>
          <p:nvPr>
            <p:ph type="sldNum" sz="quarter" idx="5"/>
          </p:nvPr>
        </p:nvSpPr>
        <p:spPr/>
        <p:txBody>
          <a:bodyPr/>
          <a:lstStyle/>
          <a:p>
            <a:fld id="{0136BB30-4C71-4D09-933A-B2F84F8C947D}" type="slidenum">
              <a:rPr lang="en-GB" smtClean="0"/>
              <a:t>15</a:t>
            </a:fld>
            <a:endParaRPr lang="en-GB"/>
          </a:p>
        </p:txBody>
      </p:sp>
    </p:spTree>
    <p:extLst>
      <p:ext uri="{BB962C8B-B14F-4D97-AF65-F5344CB8AC3E}">
        <p14:creationId xmlns:p14="http://schemas.microsoft.com/office/powerpoint/2010/main" val="4054290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point is that the thesis does not claim large easy savings. Instead, it shows that possible control actions become much smaller and more selective when operating context is taken into account. I would say that the strongest result is the framework itself: it gives a practical way to analyse intelligent cooling control when the available telecom data are incomplete. At the same time, there are clear limitations. The results are benchmark-based, not based on full direct thermal measurements, and the study used one site with historical data only. So the framework is useful and realistic, but it still needs broader and more operational validation.</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16</a:t>
            </a:fld>
            <a:endParaRPr lang="en-GB"/>
          </a:p>
        </p:txBody>
      </p:sp>
    </p:spTree>
    <p:extLst>
      <p:ext uri="{BB962C8B-B14F-4D97-AF65-F5344CB8AC3E}">
        <p14:creationId xmlns:p14="http://schemas.microsoft.com/office/powerpoint/2010/main" val="3958788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conclude, the thesis achieved its aim. It showed that intelligent cooling control can be analysed in a telecom central office even when the available telemetry is incomplete. The work did not try to build live automatic control, but rather a bounded and context-aware analytical framework. All main tasks were completed, from literature review and analytical-basis construction to benchmark development, strategy design, and historical evaluation. The final outcome is an integrated framework that links fragmented telemetry, expected cooling demand, and intelligent control assessment.</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17</a:t>
            </a:fld>
            <a:endParaRPr lang="en-GB"/>
          </a:p>
        </p:txBody>
      </p:sp>
    </p:spTree>
    <p:extLst>
      <p:ext uri="{BB962C8B-B14F-4D97-AF65-F5344CB8AC3E}">
        <p14:creationId xmlns:p14="http://schemas.microsoft.com/office/powerpoint/2010/main" val="1787697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The most important variable was the engineered hourly cooling-demand target, followed by lagged target history as the strongest predictive input. For control-oriented interpretation, the key additional variables were external weather context, the load proxy, and the derived thermal-context representation.. Overall, the thesis supports a benchmark-based and context-aware approach to intelligent cooling control.</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18</a:t>
            </a:fld>
            <a:endParaRPr lang="en-GB"/>
          </a:p>
        </p:txBody>
      </p:sp>
    </p:spTree>
    <p:extLst>
      <p:ext uri="{BB962C8B-B14F-4D97-AF65-F5344CB8AC3E}">
        <p14:creationId xmlns:p14="http://schemas.microsoft.com/office/powerpoint/2010/main" val="1765743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7200" b="0">
                <a:solidFill>
                  <a:schemeClr val="tx1">
                    <a:lumMod val="85000"/>
                    <a:lumOff val="15000"/>
                  </a:schemeClr>
                </a:solidFill>
              </a:defRPr>
            </a:lvl1pPr>
          </a:lstStyle>
          <a:p>
            <a:r>
              <a:rPr lang="en-US" dirty="0"/>
              <a:t>Paper Title</a:t>
            </a:r>
          </a:p>
        </p:txBody>
      </p:sp>
      <p:sp>
        <p:nvSpPr>
          <p:cNvPr id="3"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
        <p:nvSpPr>
          <p:cNvPr id="4" name="Date Placeholder 3"/>
          <p:cNvSpPr>
            <a:spLocks noGrp="1"/>
          </p:cNvSpPr>
          <p:nvPr>
            <p:ph type="dt" sz="half" idx="10"/>
          </p:nvPr>
        </p:nvSpPr>
        <p:spPr/>
        <p:txBody>
          <a:bodyPr/>
          <a:lstStyle/>
          <a:p>
            <a:fld id="{03F1FFC4-4BD7-4723-ABB8-1CA8FEEB2BEF}" type="datetime5">
              <a:rPr lang="en-GB" smtClean="0"/>
              <a:t>11-May-26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Affiliation</a:t>
            </a:r>
          </a:p>
        </p:txBody>
      </p:sp>
    </p:spTree>
    <p:extLst>
      <p:ext uri="{BB962C8B-B14F-4D97-AF65-F5344CB8AC3E}">
        <p14:creationId xmlns:p14="http://schemas.microsoft.com/office/powerpoint/2010/main" val="63026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6600" b="0">
                <a:solidFill>
                  <a:schemeClr val="tx1">
                    <a:lumMod val="85000"/>
                    <a:lumOff val="15000"/>
                  </a:schemeClr>
                </a:solidFill>
              </a:defRPr>
            </a:lvl1pPr>
          </a:lstStyle>
          <a:p>
            <a:r>
              <a:rPr lang="en-US" dirty="0"/>
              <a:t>Section title</a:t>
            </a:r>
          </a:p>
        </p:txBody>
      </p:sp>
      <p:sp>
        <p:nvSpPr>
          <p:cNvPr id="4" name="Date Placeholder 3"/>
          <p:cNvSpPr>
            <a:spLocks noGrp="1"/>
          </p:cNvSpPr>
          <p:nvPr>
            <p:ph type="dt" sz="half" idx="10"/>
          </p:nvPr>
        </p:nvSpPr>
        <p:spPr/>
        <p:txBody>
          <a:bodyPr/>
          <a:lstStyle/>
          <a:p>
            <a:fld id="{02EE4D8A-4AE0-44A1-A702-01B049E5D9F6}" type="datetime5">
              <a:rPr lang="en-GB" smtClean="0"/>
              <a:t>11-May-26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56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1153682"/>
            <a:ext cx="7558004" cy="3059395"/>
          </a:xfrm>
        </p:spPr>
        <p:txBody>
          <a:bodyPr/>
          <a:lstStyle>
            <a:lvl1pPr>
              <a:defRPr/>
            </a:lvl1pPr>
          </a:lstStyle>
          <a:p>
            <a:r>
              <a:rPr lang="en-US" dirty="0"/>
              <a:t>Thank you wording</a:t>
            </a:r>
            <a:endParaRPr lang="en-GB" dirty="0"/>
          </a:p>
        </p:txBody>
      </p:sp>
      <p:sp>
        <p:nvSpPr>
          <p:cNvPr id="3" name="Date Placeholder 2"/>
          <p:cNvSpPr>
            <a:spLocks noGrp="1"/>
          </p:cNvSpPr>
          <p:nvPr>
            <p:ph type="dt" sz="half" idx="10"/>
          </p:nvPr>
        </p:nvSpPr>
        <p:spPr/>
        <p:txBody>
          <a:bodyPr/>
          <a:lstStyle/>
          <a:p>
            <a:fld id="{A1C2DCDB-9721-4878-BF58-3FBA6895CED8}" type="datetime5">
              <a:rPr lang="en-GB" smtClean="0"/>
              <a:t>11-May-26</a:t>
            </a:fld>
            <a:endParaRPr lang="en-GB" dirty="0"/>
          </a:p>
        </p:txBody>
      </p:sp>
      <p:sp>
        <p:nvSpPr>
          <p:cNvPr id="4"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Contact information</a:t>
            </a:r>
          </a:p>
        </p:txBody>
      </p:sp>
      <p:sp>
        <p:nvSpPr>
          <p:cNvPr id="5"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Tree>
    <p:extLst>
      <p:ext uri="{BB962C8B-B14F-4D97-AF65-F5344CB8AC3E}">
        <p14:creationId xmlns:p14="http://schemas.microsoft.com/office/powerpoint/2010/main" val="4088532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 y="346273"/>
            <a:ext cx="9143998" cy="986719"/>
          </a:xfrm>
        </p:spPr>
        <p:txBody>
          <a:bodyPr/>
          <a:lstStyle>
            <a:lvl1pPr marL="111125" indent="0">
              <a:defRPr/>
            </a:lvl1pPr>
          </a:lstStyle>
          <a:p>
            <a:r>
              <a:rPr lang="en-US" dirty="0"/>
              <a:t>Click to edit title</a:t>
            </a:r>
          </a:p>
        </p:txBody>
      </p:sp>
      <p:sp>
        <p:nvSpPr>
          <p:cNvPr id="3" name="Content Placeholder 2"/>
          <p:cNvSpPr>
            <a:spLocks noGrp="1"/>
          </p:cNvSpPr>
          <p:nvPr>
            <p:ph idx="1"/>
          </p:nvPr>
        </p:nvSpPr>
        <p:spPr/>
        <p:txBody>
          <a:bodyPr>
            <a:normAutofit/>
          </a:bodyPr>
          <a:lstStyle>
            <a:lvl1pPr marL="230188" indent="-230188">
              <a:lnSpc>
                <a:spcPct val="150000"/>
              </a:lnSpc>
              <a:buFont typeface="Arial" panose="020B0604020202020204" pitchFamily="34" charset="0"/>
              <a:buChar char="•"/>
              <a:defRPr sz="2400"/>
            </a:lvl1pPr>
            <a:lvl2pPr marL="461963" indent="-231775">
              <a:lnSpc>
                <a:spcPct val="150000"/>
              </a:lnSpc>
              <a:buClr>
                <a:schemeClr val="accent2"/>
              </a:buClr>
              <a:defRPr sz="2400"/>
            </a:lvl2pPr>
            <a:lvl3pPr marL="684213" indent="-225425">
              <a:lnSpc>
                <a:spcPct val="150000"/>
              </a:lnSpc>
              <a:buClr>
                <a:schemeClr val="accent2"/>
              </a:buClr>
              <a:defRPr sz="2400"/>
            </a:lvl3pPr>
            <a:lvl4pPr marL="914400" indent="-230188">
              <a:lnSpc>
                <a:spcPct val="150000"/>
              </a:lnSpc>
              <a:buClr>
                <a:schemeClr val="accent2"/>
              </a:buClr>
              <a:defRPr sz="2400"/>
            </a:lvl4pPr>
            <a:lvl5pPr marL="1144588" indent="-230188">
              <a:lnSpc>
                <a:spcPct val="150000"/>
              </a:lnSpc>
              <a:buClr>
                <a:schemeClr val="accent2"/>
              </a:buCl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1"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4"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
        <p:nvSpPr>
          <p:cNvPr id="15" name="Text Placeholder 13"/>
          <p:cNvSpPr>
            <a:spLocks noGrp="1"/>
          </p:cNvSpPr>
          <p:nvPr>
            <p:ph type="body" sz="quarter" idx="14" hasCustomPrompt="1"/>
          </p:nvPr>
        </p:nvSpPr>
        <p:spPr>
          <a:xfrm>
            <a:off x="1" y="2203"/>
            <a:ext cx="4571999"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6" name="Text Placeholder 13"/>
          <p:cNvSpPr>
            <a:spLocks noGrp="1"/>
          </p:cNvSpPr>
          <p:nvPr>
            <p:ph type="body" sz="quarter" idx="15" hasCustomPrompt="1"/>
          </p:nvPr>
        </p:nvSpPr>
        <p:spPr>
          <a:xfrm>
            <a:off x="4572000" y="2203"/>
            <a:ext cx="4571999"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Tree>
    <p:extLst>
      <p:ext uri="{BB962C8B-B14F-4D97-AF65-F5344CB8AC3E}">
        <p14:creationId xmlns:p14="http://schemas.microsoft.com/office/powerpoint/2010/main" val="123919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title</a:t>
            </a:r>
          </a:p>
        </p:txBody>
      </p:sp>
      <p:sp>
        <p:nvSpPr>
          <p:cNvPr id="9"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0"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1"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2"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8"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388040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021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8053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p:cNvSpPr>
            <a:spLocks noGrp="1"/>
          </p:cNvSpPr>
          <p:nvPr>
            <p:ph type="title" hasCustomPrompt="1"/>
          </p:nvPr>
        </p:nvSpPr>
        <p:spPr>
          <a:xfrm>
            <a:off x="1" y="260966"/>
            <a:ext cx="9143998" cy="986719"/>
          </a:xfrm>
        </p:spPr>
        <p:txBody>
          <a:bodyPr/>
          <a:lstStyle/>
          <a:p>
            <a:r>
              <a:rPr lang="en-US" dirty="0"/>
              <a:t>Click to edit title</a:t>
            </a:r>
          </a:p>
        </p:txBody>
      </p:sp>
      <p:sp>
        <p:nvSpPr>
          <p:cNvPr id="14"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5"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6"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7"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0"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41386076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21"/>
          <p:cNvSpPr/>
          <p:nvPr userDrawn="1"/>
        </p:nvSpPr>
        <p:spPr>
          <a:xfrm>
            <a:off x="4568390" y="6606655"/>
            <a:ext cx="4575609" cy="252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p:nvSpPr>
        <p:spPr>
          <a:xfrm>
            <a:off x="1" y="6605899"/>
            <a:ext cx="4568390" cy="252101"/>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1" y="286604"/>
            <a:ext cx="9143998" cy="986719"/>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p:cNvSpPr>
            <a:spLocks noGrp="1"/>
          </p:cNvSpPr>
          <p:nvPr>
            <p:ph type="dt" sz="half" idx="2"/>
          </p:nvPr>
        </p:nvSpPr>
        <p:spPr>
          <a:xfrm>
            <a:off x="-2368" y="6602872"/>
            <a:ext cx="1113322" cy="246841"/>
          </a:xfrm>
          <a:prstGeom prst="rect">
            <a:avLst/>
          </a:prstGeom>
        </p:spPr>
        <p:txBody>
          <a:bodyPr vert="horz" lIns="91440" tIns="45720" rIns="91440" bIns="45720" rtlCol="0" anchor="ctr"/>
          <a:lstStyle>
            <a:lvl1pPr algn="l">
              <a:defRPr sz="1300">
                <a:solidFill>
                  <a:srgbClr val="FFFFFF"/>
                </a:solidFill>
              </a:defRPr>
            </a:lvl1pPr>
          </a:lstStyle>
          <a:p>
            <a:fld id="{66BE9E39-D550-4951-9818-55D401126FCD}" type="datetime5">
              <a:rPr lang="en-GB" smtClean="0"/>
              <a:t>11-May-26</a:t>
            </a:fld>
            <a:endParaRPr lang="en-GB" dirty="0"/>
          </a:p>
        </p:txBody>
      </p:sp>
      <p:sp>
        <p:nvSpPr>
          <p:cNvPr id="14" name="Text Placeholder 14"/>
          <p:cNvSpPr txBox="1">
            <a:spLocks/>
          </p:cNvSpPr>
          <p:nvPr userDrawn="1"/>
        </p:nvSpPr>
        <p:spPr>
          <a:xfrm>
            <a:off x="4568391" y="6602872"/>
            <a:ext cx="4575609" cy="255128"/>
          </a:xfrm>
          <a:prstGeom prst="rect">
            <a:avLst/>
          </a:prstGeom>
        </p:spPr>
        <p:txBody>
          <a:bodyPr anchor="ctr"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b="0" i="0" kern="1200" dirty="0">
                <a:solidFill>
                  <a:schemeClr val="bg1"/>
                </a:solidFill>
                <a:effectLst/>
                <a:latin typeface="+mn-lt"/>
                <a:ea typeface="+mn-ea"/>
                <a:cs typeface="+mn-cs"/>
              </a:rPr>
              <a:t>Research and Technology – Step into the Future</a:t>
            </a:r>
            <a:endParaRPr lang="en-GB" sz="1300" dirty="0"/>
          </a:p>
        </p:txBody>
      </p:sp>
      <p:sp>
        <p:nvSpPr>
          <p:cNvPr id="21" name="Text Placeholder 14"/>
          <p:cNvSpPr txBox="1">
            <a:spLocks/>
          </p:cNvSpPr>
          <p:nvPr userDrawn="1"/>
        </p:nvSpPr>
        <p:spPr>
          <a:xfrm>
            <a:off x="1110954" y="6602872"/>
            <a:ext cx="3457437" cy="253615"/>
          </a:xfrm>
          <a:prstGeom prst="rect">
            <a:avLst/>
          </a:prstGeom>
        </p:spPr>
        <p:txBody>
          <a:bodyPr anchor="ctr" anchorCtr="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dirty="0"/>
              <a:t>Riga,</a:t>
            </a:r>
            <a:r>
              <a:rPr lang="en-US" baseline="0" dirty="0"/>
              <a:t> Latvia</a:t>
            </a:r>
            <a:endParaRPr lang="en-GB" dirty="0"/>
          </a:p>
        </p:txBody>
      </p:sp>
    </p:spTree>
    <p:extLst>
      <p:ext uri="{BB962C8B-B14F-4D97-AF65-F5344CB8AC3E}">
        <p14:creationId xmlns:p14="http://schemas.microsoft.com/office/powerpoint/2010/main" val="3823026427"/>
      </p:ext>
    </p:extLst>
  </p:cSld>
  <p:clrMap bg1="lt1" tx1="dk1" bg2="lt2" tx2="dk2" accent1="accent1" accent2="accent2" accent3="accent3" accent4="accent4" accent5="accent5" accent6="accent6" hlink="hlink" folHlink="folHlink"/>
  <p:sldLayoutIdLst>
    <p:sldLayoutId id="2147483729" r:id="rId1"/>
    <p:sldLayoutId id="2147483731" r:id="rId2"/>
    <p:sldLayoutId id="2147483730" r:id="rId3"/>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4568391" y="6601968"/>
            <a:ext cx="457931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userDrawn="1"/>
        </p:nvSpPr>
        <p:spPr>
          <a:xfrm>
            <a:off x="1" y="6601968"/>
            <a:ext cx="456839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2" y="329031"/>
            <a:ext cx="9143998" cy="1012659"/>
          </a:xfrm>
          <a:prstGeom prst="rect">
            <a:avLst/>
          </a:prstGeom>
        </p:spPr>
        <p:txBody>
          <a:bodyPr vert="horz" lIns="91440" tIns="45720" rIns="91440" bIns="45720" rtlCol="0" anchor="t" anchorCtr="0">
            <a:normAutofit/>
          </a:bodyPr>
          <a:lstStyle/>
          <a:p>
            <a:r>
              <a:rPr lang="en-US" dirty="0"/>
              <a:t>Click to edit title</a:t>
            </a:r>
          </a:p>
        </p:txBody>
      </p:sp>
      <p:sp>
        <p:nvSpPr>
          <p:cNvPr id="3" name="Text Placeholder 2"/>
          <p:cNvSpPr>
            <a:spLocks noGrp="1"/>
          </p:cNvSpPr>
          <p:nvPr>
            <p:ph type="body" idx="1"/>
          </p:nvPr>
        </p:nvSpPr>
        <p:spPr>
          <a:xfrm>
            <a:off x="276027" y="1418301"/>
            <a:ext cx="8568869" cy="5033773"/>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6601968"/>
            <a:ext cx="1097280" cy="248412"/>
          </a:xfrm>
          <a:prstGeom prst="rect">
            <a:avLst/>
          </a:prstGeom>
        </p:spPr>
        <p:txBody>
          <a:bodyPr vert="horz" lIns="91440" tIns="45720" rIns="91440" bIns="45720" rtlCol="0" anchor="ctr"/>
          <a:lstStyle>
            <a:lvl1pPr algn="l">
              <a:defRPr sz="1300">
                <a:solidFill>
                  <a:srgbClr val="FFFFFF"/>
                </a:solidFill>
              </a:defRPr>
            </a:lvl1pPr>
          </a:lstStyle>
          <a:p>
            <a:fld id="{8AEAAFD9-E057-47C0-9571-8C4815721903}" type="datetime5">
              <a:rPr lang="en-GB" smtClean="0"/>
              <a:t>11-May-26</a:t>
            </a:fld>
            <a:endParaRPr lang="en-GB" dirty="0"/>
          </a:p>
        </p:txBody>
      </p:sp>
      <p:sp>
        <p:nvSpPr>
          <p:cNvPr id="6" name="Slide Number Placeholder 5"/>
          <p:cNvSpPr>
            <a:spLocks noGrp="1"/>
          </p:cNvSpPr>
          <p:nvPr>
            <p:ph type="sldNum" sz="quarter" idx="4"/>
          </p:nvPr>
        </p:nvSpPr>
        <p:spPr>
          <a:xfrm>
            <a:off x="8534825" y="6601968"/>
            <a:ext cx="598206" cy="248412"/>
          </a:xfrm>
          <a:prstGeom prst="rect">
            <a:avLst/>
          </a:prstGeom>
        </p:spPr>
        <p:txBody>
          <a:bodyPr vert="horz" lIns="91440" tIns="45720" rIns="91440" bIns="45720" rtlCol="0" anchor="ctr"/>
          <a:lstStyle>
            <a:lvl1pPr algn="r">
              <a:defRPr sz="2000" b="1">
                <a:solidFill>
                  <a:srgbClr val="FFFFFF"/>
                </a:solidFill>
              </a:defRPr>
            </a:lvl1pPr>
          </a:lstStyle>
          <a:p>
            <a:fld id="{CC7D8618-F20C-406E-B464-04F15D14577A}" type="slidenum">
              <a:rPr lang="en-GB" smtClean="0"/>
              <a:pPr/>
              <a:t>‹#›</a:t>
            </a:fld>
            <a:endParaRPr lang="en-GB" dirty="0"/>
          </a:p>
        </p:txBody>
      </p:sp>
      <p:sp>
        <p:nvSpPr>
          <p:cNvPr id="14" name="Text Placeholder 14"/>
          <p:cNvSpPr txBox="1">
            <a:spLocks/>
          </p:cNvSpPr>
          <p:nvPr userDrawn="1"/>
        </p:nvSpPr>
        <p:spPr>
          <a:xfrm>
            <a:off x="4568391" y="6601968"/>
            <a:ext cx="3951765" cy="256032"/>
          </a:xfrm>
          <a:prstGeom prst="rect">
            <a:avLst/>
          </a:prstGeom>
        </p:spPr>
        <p:txBody>
          <a:bodyPr anchor="ctr" anchorCtr="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dirty="0" err="1"/>
              <a:t>RaTSiF</a:t>
            </a:r>
            <a:r>
              <a:rPr lang="en-US" sz="1300" dirty="0"/>
              <a:t>,</a:t>
            </a:r>
            <a:r>
              <a:rPr lang="en-US" sz="1300" baseline="0" dirty="0"/>
              <a:t> Riga, Latvia</a:t>
            </a:r>
            <a:endParaRPr lang="en-GB" sz="1300" dirty="0"/>
          </a:p>
        </p:txBody>
      </p:sp>
      <p:sp>
        <p:nvSpPr>
          <p:cNvPr id="16" name="Rectangle 15"/>
          <p:cNvSpPr/>
          <p:nvPr userDrawn="1"/>
        </p:nvSpPr>
        <p:spPr>
          <a:xfrm>
            <a:off x="0" y="0"/>
            <a:ext cx="457200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7" name="Rectangle 16"/>
          <p:cNvSpPr/>
          <p:nvPr userDrawn="1"/>
        </p:nvSpPr>
        <p:spPr>
          <a:xfrm>
            <a:off x="4572000" y="0"/>
            <a:ext cx="457200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Tree>
    <p:extLst>
      <p:ext uri="{BB962C8B-B14F-4D97-AF65-F5344CB8AC3E}">
        <p14:creationId xmlns:p14="http://schemas.microsoft.com/office/powerpoint/2010/main" val="3348536158"/>
      </p:ext>
    </p:extLst>
  </p:cSld>
  <p:clrMap bg1="lt1" tx1="dk1" bg2="lt2" tx2="dk2" accent1="accent1" accent2="accent2" accent3="accent3" accent4="accent4" accent5="accent5" accent6="accent6" hlink="hlink" folHlink="folHlink"/>
  <p:sldLayoutIdLst>
    <p:sldLayoutId id="2147483708" r:id="rId1"/>
    <p:sldLayoutId id="2147483712" r:id="rId2"/>
    <p:sldLayoutId id="2147483710" r:id="rId3"/>
  </p:sldLayoutIdLst>
  <p:hf hdr="0" ftr="0"/>
  <p:txStyles>
    <p:titleStyle>
      <a:lvl1pPr marL="111125" indent="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1"/>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2250"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normAutofit/>
          </a:bodyPr>
          <a:lstStyle/>
          <a:p>
            <a:r>
              <a:rPr lang="en-GB" sz="4800" dirty="0"/>
              <a:t>DATA-DRIVEN PREDICTION AND ANALYSIS OF COOLING ENERGY USE IN TELECOM CENTRAL OFFICE ENVIRONMENTS</a:t>
            </a:r>
          </a:p>
        </p:txBody>
      </p:sp>
      <p:sp>
        <p:nvSpPr>
          <p:cNvPr id="20" name="Text Placeholder 19"/>
          <p:cNvSpPr>
            <a:spLocks noGrp="1"/>
          </p:cNvSpPr>
          <p:nvPr>
            <p:ph type="body" idx="1"/>
          </p:nvPr>
        </p:nvSpPr>
        <p:spPr/>
        <p:txBody>
          <a:bodyPr>
            <a:normAutofit fontScale="92500" lnSpcReduction="10000"/>
          </a:bodyPr>
          <a:lstStyle/>
          <a:p>
            <a:r>
              <a:rPr lang="en-GB" b="1" dirty="0"/>
              <a:t>Anastasija Zubkova</a:t>
            </a:r>
          </a:p>
        </p:txBody>
      </p:sp>
      <p:sp>
        <p:nvSpPr>
          <p:cNvPr id="4" name="Date Placeholder 3"/>
          <p:cNvSpPr>
            <a:spLocks noGrp="1"/>
          </p:cNvSpPr>
          <p:nvPr>
            <p:ph type="dt" sz="half" idx="10"/>
          </p:nvPr>
        </p:nvSpPr>
        <p:spPr/>
        <p:txBody>
          <a:bodyPr/>
          <a:lstStyle/>
          <a:p>
            <a:r>
              <a:rPr lang="en-GB" dirty="0"/>
              <a:t>12-May-26</a:t>
            </a:r>
          </a:p>
        </p:txBody>
      </p:sp>
      <p:sp>
        <p:nvSpPr>
          <p:cNvPr id="21" name="Text Placeholder 20"/>
          <p:cNvSpPr>
            <a:spLocks noGrp="1"/>
          </p:cNvSpPr>
          <p:nvPr>
            <p:ph type="body" idx="11"/>
          </p:nvPr>
        </p:nvSpPr>
        <p:spPr/>
        <p:txBody>
          <a:bodyPr/>
          <a:lstStyle/>
          <a:p>
            <a:r>
              <a:rPr lang="en-GB" dirty="0"/>
              <a:t>M.Sc. student in Computer Science: Data Analytics and Artificial Intelligence</a:t>
            </a:r>
          </a:p>
          <a:p>
            <a:r>
              <a:rPr lang="en-GB" dirty="0"/>
              <a:t>Supervisor: </a:t>
            </a:r>
            <a:r>
              <a:rPr lang="en-GB" b="1" dirty="0" err="1"/>
              <a:t>Dr.sc.ing</a:t>
            </a:r>
            <a:r>
              <a:rPr lang="en-GB" b="1" dirty="0"/>
              <a:t>., Professor Dmitry Pavlyuk</a:t>
            </a:r>
            <a:r>
              <a:rPr lang="en-GB" dirty="0"/>
              <a:t> </a:t>
            </a:r>
          </a:p>
        </p:txBody>
      </p:sp>
      <p:sp>
        <p:nvSpPr>
          <p:cNvPr id="5" name="TextBox 4">
            <a:extLst>
              <a:ext uri="{FF2B5EF4-FFF2-40B4-BE49-F238E27FC236}">
                <a16:creationId xmlns:a16="http://schemas.microsoft.com/office/drawing/2014/main" id="{A44D693F-009B-E9FA-781B-F7A872F7F038}"/>
              </a:ext>
            </a:extLst>
          </p:cNvPr>
          <p:cNvSpPr txBox="1"/>
          <p:nvPr/>
        </p:nvSpPr>
        <p:spPr>
          <a:xfrm flipH="1">
            <a:off x="5680710" y="6572403"/>
            <a:ext cx="3611880" cy="307777"/>
          </a:xfrm>
          <a:prstGeom prst="rect">
            <a:avLst/>
          </a:prstGeom>
          <a:noFill/>
        </p:spPr>
        <p:txBody>
          <a:bodyPr wrap="square" rtlCol="0">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80411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Outline</a:t>
            </a:r>
            <a:endParaRPr lang="en-GB" sz="4000" dirty="0"/>
          </a:p>
        </p:txBody>
      </p:sp>
      <p:sp>
        <p:nvSpPr>
          <p:cNvPr id="4" name="Content Placeholder 3"/>
          <p:cNvSpPr>
            <a:spLocks noGrp="1"/>
          </p:cNvSpPr>
          <p:nvPr>
            <p:ph idx="1"/>
          </p:nvPr>
        </p:nvSpPr>
        <p:spPr>
          <a:xfrm>
            <a:off x="227744" y="912122"/>
            <a:ext cx="8568869" cy="5033773"/>
          </a:xfrm>
        </p:spPr>
        <p:txBody>
          <a:bodyPr>
            <a:noAutofit/>
          </a:bodyPr>
          <a:lstStyle/>
          <a:p>
            <a:r>
              <a:rPr lang="en-GB" dirty="0"/>
              <a:t>Telecom cooling problem and telemetry gap</a:t>
            </a:r>
          </a:p>
          <a:p>
            <a:r>
              <a:rPr lang="en-GB" dirty="0"/>
              <a:t>Aim, tasks, and research questions</a:t>
            </a:r>
          </a:p>
          <a:p>
            <a:r>
              <a:rPr lang="en-GB" dirty="0"/>
              <a:t>Benchmark-based control evaluation framework</a:t>
            </a:r>
          </a:p>
          <a:p>
            <a:r>
              <a:rPr lang="en-GB" dirty="0"/>
              <a:t>From fragmented telemetry to cooling-demand target</a:t>
            </a:r>
          </a:p>
          <a:p>
            <a:r>
              <a:rPr lang="en-GB" dirty="0"/>
              <a:t>Expected-demand forecasting and rolling validation</a:t>
            </a:r>
          </a:p>
          <a:p>
            <a:r>
              <a:rPr lang="en-GB" dirty="0"/>
              <a:t>Lagged demand, load proxy, and thermal context </a:t>
            </a:r>
          </a:p>
          <a:p>
            <a:r>
              <a:rPr lang="en-GB" dirty="0"/>
              <a:t>Control strategies and historical impact </a:t>
            </a:r>
          </a:p>
          <a:p>
            <a:r>
              <a:rPr lang="en-GB" dirty="0"/>
              <a:t>Interpretation, limitations, and thesis conclusions</a:t>
            </a:r>
          </a:p>
        </p:txBody>
      </p:sp>
      <p:sp>
        <p:nvSpPr>
          <p:cNvPr id="3" name="Date Placeholder 2"/>
          <p:cNvSpPr>
            <a:spLocks noGrp="1"/>
          </p:cNvSpPr>
          <p:nvPr>
            <p:ph type="dt" sz="half" idx="10"/>
          </p:nvPr>
        </p:nvSpPr>
        <p:spPr/>
        <p:txBody>
          <a:bodyPr/>
          <a:lstStyle/>
          <a:p>
            <a:r>
              <a:rPr lang="en-GB" dirty="0"/>
              <a:t>12-May-26</a:t>
            </a:r>
          </a:p>
        </p:txBody>
      </p:sp>
      <p:sp>
        <p:nvSpPr>
          <p:cNvPr id="5" name="Slide Number Placeholder 4"/>
          <p:cNvSpPr>
            <a:spLocks noGrp="1"/>
          </p:cNvSpPr>
          <p:nvPr>
            <p:ph type="sldNum" sz="quarter" idx="12"/>
          </p:nvPr>
        </p:nvSpPr>
        <p:spPr/>
        <p:txBody>
          <a:bodyPr/>
          <a:lstStyle/>
          <a:p>
            <a:fld id="{CC7D8618-F20C-406E-B464-04F15D14577A}" type="slidenum">
              <a:rPr lang="en-GB" smtClean="0"/>
              <a:pPr/>
              <a:t>2</a:t>
            </a:fld>
            <a:endParaRPr lang="en-GB" dirty="0"/>
          </a:p>
        </p:txBody>
      </p:sp>
      <p:sp>
        <p:nvSpPr>
          <p:cNvPr id="10" name="Text Placeholder 9"/>
          <p:cNvSpPr>
            <a:spLocks noGrp="1"/>
          </p:cNvSpPr>
          <p:nvPr>
            <p:ph type="body" sz="quarter" idx="13"/>
          </p:nvPr>
        </p:nvSpPr>
        <p:spPr/>
        <p:txBody>
          <a:bodyPr/>
          <a:lstStyle/>
          <a:p>
            <a:r>
              <a:rPr lang="en-GB" dirty="0"/>
              <a:t>Anastasija Zubkova</a:t>
            </a:r>
          </a:p>
        </p:txBody>
      </p:sp>
      <p:sp>
        <p:nvSpPr>
          <p:cNvPr id="11" name="Text Placeholder 10"/>
          <p:cNvSpPr>
            <a:spLocks noGrp="1"/>
          </p:cNvSpPr>
          <p:nvPr>
            <p:ph type="body" sz="quarter" idx="14"/>
          </p:nvPr>
        </p:nvSpPr>
        <p:spPr/>
        <p:txBody>
          <a:bodyPr/>
          <a:lstStyle/>
          <a:p>
            <a:endParaRPr lang="en-GB" dirty="0"/>
          </a:p>
        </p:txBody>
      </p:sp>
      <p:sp>
        <p:nvSpPr>
          <p:cNvPr id="12" name="Text Placeholder 11"/>
          <p:cNvSpPr>
            <a:spLocks noGrp="1"/>
          </p:cNvSpPr>
          <p:nvPr>
            <p:ph type="body" sz="quarter" idx="15"/>
          </p:nvPr>
        </p:nvSpPr>
        <p:spPr/>
        <p:txBody>
          <a:bodyPr/>
          <a:lstStyle/>
          <a:p>
            <a:endParaRPr lang="en-GB"/>
          </a:p>
        </p:txBody>
      </p:sp>
      <p:sp>
        <p:nvSpPr>
          <p:cNvPr id="9" name="TextBox 8">
            <a:extLst>
              <a:ext uri="{FF2B5EF4-FFF2-40B4-BE49-F238E27FC236}">
                <a16:creationId xmlns:a16="http://schemas.microsoft.com/office/drawing/2014/main" id="{6ECB4F89-58EB-EF95-9064-51127665C695}"/>
              </a:ext>
            </a:extLst>
          </p:cNvPr>
          <p:cNvSpPr txBox="1"/>
          <p:nvPr/>
        </p:nvSpPr>
        <p:spPr>
          <a:xfrm>
            <a:off x="4874894" y="6582249"/>
            <a:ext cx="417195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548423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605-0DA8-9C8E-5313-107F399C111B}"/>
              </a:ext>
            </a:extLst>
          </p:cNvPr>
          <p:cNvSpPr>
            <a:spLocks noGrp="1"/>
          </p:cNvSpPr>
          <p:nvPr>
            <p:ph type="title"/>
          </p:nvPr>
        </p:nvSpPr>
        <p:spPr/>
        <p:txBody>
          <a:bodyPr>
            <a:normAutofit/>
          </a:bodyPr>
          <a:lstStyle/>
          <a:p>
            <a:r>
              <a:rPr lang="en-GB" sz="4000" dirty="0"/>
              <a:t>Problem and motivation</a:t>
            </a:r>
            <a:endParaRPr lang="en-LV" sz="4000" dirty="0"/>
          </a:p>
        </p:txBody>
      </p:sp>
      <p:sp>
        <p:nvSpPr>
          <p:cNvPr id="3" name="Content Placeholder 2">
            <a:extLst>
              <a:ext uri="{FF2B5EF4-FFF2-40B4-BE49-F238E27FC236}">
                <a16:creationId xmlns:a16="http://schemas.microsoft.com/office/drawing/2014/main" id="{BBDB459F-66FF-4493-6234-72E4C98D633F}"/>
              </a:ext>
            </a:extLst>
          </p:cNvPr>
          <p:cNvSpPr>
            <a:spLocks noGrp="1"/>
          </p:cNvSpPr>
          <p:nvPr>
            <p:ph idx="1"/>
          </p:nvPr>
        </p:nvSpPr>
        <p:spPr>
          <a:xfrm>
            <a:off x="276028" y="1052541"/>
            <a:ext cx="8568869" cy="5033773"/>
          </a:xfrm>
        </p:spPr>
        <p:txBody>
          <a:bodyPr>
            <a:noAutofit/>
          </a:bodyPr>
          <a:lstStyle/>
          <a:p>
            <a:r>
              <a:rPr lang="en-GB" sz="2200" dirty="0"/>
              <a:t>Telecom central offices require continuous cooling for reliable operation of sensitive equipment</a:t>
            </a:r>
          </a:p>
          <a:p>
            <a:r>
              <a:rPr lang="en-GB" sz="2200" dirty="0"/>
              <a:t>Existing telecom analytics are stronger in monitoring and diagnosis than in control-oriented decision support</a:t>
            </a:r>
          </a:p>
          <a:p>
            <a:r>
              <a:rPr lang="en-GB" sz="2200" dirty="0"/>
              <a:t>More intelligent cooling control could improve efficiency without compromising operational safety, but full advanced control is difficult under available telemetry constraints</a:t>
            </a:r>
          </a:p>
          <a:p>
            <a:r>
              <a:rPr lang="en-GB" sz="2200" dirty="0"/>
              <a:t>The thesis therefore develops an intelligent, control-oriented framework for real telecom </a:t>
            </a:r>
            <a:r>
              <a:rPr lang="en-GB" sz="2200"/>
              <a:t>operating conditions</a:t>
            </a:r>
            <a:endParaRPr lang="en-LV" sz="2200" dirty="0"/>
          </a:p>
        </p:txBody>
      </p:sp>
      <p:sp>
        <p:nvSpPr>
          <p:cNvPr id="4" name="Date Placeholder 3">
            <a:extLst>
              <a:ext uri="{FF2B5EF4-FFF2-40B4-BE49-F238E27FC236}">
                <a16:creationId xmlns:a16="http://schemas.microsoft.com/office/drawing/2014/main" id="{319C5D0C-BA1F-FA02-0FEA-B348C529736C}"/>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B28EF451-C46A-D73F-64E0-304C460C3B8C}"/>
              </a:ext>
            </a:extLst>
          </p:cNvPr>
          <p:cNvSpPr>
            <a:spLocks noGrp="1"/>
          </p:cNvSpPr>
          <p:nvPr>
            <p:ph type="sldNum" sz="quarter" idx="12"/>
          </p:nvPr>
        </p:nvSpPr>
        <p:spPr/>
        <p:txBody>
          <a:bodyPr/>
          <a:lstStyle/>
          <a:p>
            <a:fld id="{CC7D8618-F20C-406E-B464-04F15D14577A}" type="slidenum">
              <a:rPr lang="en-GB" smtClean="0"/>
              <a:pPr/>
              <a:t>3</a:t>
            </a:fld>
            <a:endParaRPr lang="en-GB" dirty="0"/>
          </a:p>
        </p:txBody>
      </p:sp>
      <p:sp>
        <p:nvSpPr>
          <p:cNvPr id="6" name="Text Placeholder 5">
            <a:extLst>
              <a:ext uri="{FF2B5EF4-FFF2-40B4-BE49-F238E27FC236}">
                <a16:creationId xmlns:a16="http://schemas.microsoft.com/office/drawing/2014/main" id="{603BE3F9-C22A-5F15-FCC5-C9438890A02B}"/>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DC7E5454-CFEB-DBBE-9EC7-39BE23061F72}"/>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E41834E9-B88E-7446-30E8-ABB8AD2055CF}"/>
              </a:ext>
            </a:extLst>
          </p:cNvPr>
          <p:cNvSpPr>
            <a:spLocks noGrp="1"/>
          </p:cNvSpPr>
          <p:nvPr>
            <p:ph type="body" sz="quarter" idx="15"/>
          </p:nvPr>
        </p:nvSpPr>
        <p:spPr/>
        <p:txBody>
          <a:bodyPr/>
          <a:lstStyle/>
          <a:p>
            <a:endParaRPr lang="en-LV"/>
          </a:p>
        </p:txBody>
      </p:sp>
      <p:sp>
        <p:nvSpPr>
          <p:cNvPr id="11" name="TextBox 10">
            <a:extLst>
              <a:ext uri="{FF2B5EF4-FFF2-40B4-BE49-F238E27FC236}">
                <a16:creationId xmlns:a16="http://schemas.microsoft.com/office/drawing/2014/main" id="{4E0BC049-737C-7957-CB45-1C75071ED3A0}"/>
              </a:ext>
            </a:extLst>
          </p:cNvPr>
          <p:cNvSpPr txBox="1"/>
          <p:nvPr/>
        </p:nvSpPr>
        <p:spPr>
          <a:xfrm>
            <a:off x="4995149" y="6597052"/>
            <a:ext cx="3725700" cy="584775"/>
          </a:xfrm>
          <a:prstGeom prst="rect">
            <a:avLst/>
          </a:prstGeom>
          <a:noFill/>
        </p:spPr>
        <p:txBody>
          <a:bodyPr wrap="none" rtlCol="0">
            <a:spAutoFit/>
          </a:bodyPr>
          <a:lstStyle/>
          <a:p>
            <a:r>
              <a:rPr lang="en-LV" sz="1400" dirty="0">
                <a:solidFill>
                  <a:srgbClr val="2683C7"/>
                </a:solidFill>
                <a:highlight>
                  <a:srgbClr val="2683C7"/>
                </a:highlight>
              </a:rPr>
              <a:t>ccccccccccccccccccccccccccccccccccccccccccccccc</a:t>
            </a:r>
          </a:p>
          <a:p>
            <a:endParaRPr lang="en-LV" dirty="0"/>
          </a:p>
        </p:txBody>
      </p:sp>
    </p:spTree>
    <p:extLst>
      <p:ext uri="{BB962C8B-B14F-4D97-AF65-F5344CB8AC3E}">
        <p14:creationId xmlns:p14="http://schemas.microsoft.com/office/powerpoint/2010/main" val="333120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E166-03AF-2DF9-886D-C06DF4C1A639}"/>
              </a:ext>
            </a:extLst>
          </p:cNvPr>
          <p:cNvSpPr>
            <a:spLocks noGrp="1"/>
          </p:cNvSpPr>
          <p:nvPr>
            <p:ph type="title"/>
          </p:nvPr>
        </p:nvSpPr>
        <p:spPr>
          <a:xfrm>
            <a:off x="2" y="346274"/>
            <a:ext cx="9143998" cy="729492"/>
          </a:xfrm>
        </p:spPr>
        <p:txBody>
          <a:bodyPr>
            <a:normAutofit/>
          </a:bodyPr>
          <a:lstStyle/>
          <a:p>
            <a:r>
              <a:rPr lang="en-GB" sz="4000" dirty="0"/>
              <a:t>Research gap and literature background</a:t>
            </a:r>
            <a:endParaRPr lang="en-LV" sz="4000" dirty="0"/>
          </a:p>
        </p:txBody>
      </p:sp>
      <p:sp>
        <p:nvSpPr>
          <p:cNvPr id="3" name="Content Placeholder 2">
            <a:extLst>
              <a:ext uri="{FF2B5EF4-FFF2-40B4-BE49-F238E27FC236}">
                <a16:creationId xmlns:a16="http://schemas.microsoft.com/office/drawing/2014/main" id="{4A40B0F1-7808-574C-3535-D2D5958D0DF2}"/>
              </a:ext>
            </a:extLst>
          </p:cNvPr>
          <p:cNvSpPr>
            <a:spLocks noGrp="1"/>
          </p:cNvSpPr>
          <p:nvPr>
            <p:ph idx="1"/>
          </p:nvPr>
        </p:nvSpPr>
        <p:spPr>
          <a:xfrm>
            <a:off x="227744" y="1239202"/>
            <a:ext cx="8568869" cy="5033773"/>
          </a:xfrm>
        </p:spPr>
        <p:txBody>
          <a:bodyPr anchor="ctr">
            <a:noAutofit/>
          </a:bodyPr>
          <a:lstStyle/>
          <a:p>
            <a:pPr>
              <a:lnSpc>
                <a:spcPct val="100000"/>
              </a:lnSpc>
            </a:pPr>
            <a:r>
              <a:rPr lang="en-GB" dirty="0"/>
              <a:t>Telecom studies are relatively strong in monitoring, KPI design, and diagnosis</a:t>
            </a:r>
          </a:p>
          <a:p>
            <a:pPr>
              <a:lnSpc>
                <a:spcPct val="100000"/>
              </a:lnSpc>
            </a:pPr>
            <a:r>
              <a:rPr lang="en-GB" dirty="0"/>
              <a:t>Real cooling telemetry is often not directly suitable for control-oriented analysis and may require reconstruction of a defensible analytical basis</a:t>
            </a:r>
          </a:p>
          <a:p>
            <a:pPr>
              <a:lnSpc>
                <a:spcPct val="100000"/>
              </a:lnSpc>
            </a:pPr>
            <a:r>
              <a:rPr lang="en-GB" dirty="0"/>
              <a:t>Literature provide useful methods, but often assume ready targets, richer state feedback than are available</a:t>
            </a:r>
          </a:p>
          <a:p>
            <a:pPr marL="0" indent="0">
              <a:lnSpc>
                <a:spcPct val="100000"/>
              </a:lnSpc>
              <a:buNone/>
            </a:pPr>
            <a:endParaRPr lang="en-GB" dirty="0"/>
          </a:p>
          <a:p>
            <a:pPr marL="0" indent="0">
              <a:lnSpc>
                <a:spcPct val="100000"/>
              </a:lnSpc>
              <a:buNone/>
            </a:pPr>
            <a:r>
              <a:rPr lang="en-GB" b="1" dirty="0"/>
              <a:t>Research gap:</a:t>
            </a:r>
            <a:r>
              <a:rPr lang="en-GB" dirty="0"/>
              <a:t> no integrated telecom framework from target engineering to forecasting, benchmarking, and supervisory control under real telemetry constraints</a:t>
            </a:r>
          </a:p>
          <a:p>
            <a:pPr marL="0" indent="0">
              <a:lnSpc>
                <a:spcPct val="100000"/>
              </a:lnSpc>
              <a:buNone/>
            </a:pPr>
            <a:r>
              <a:rPr lang="en-GB" sz="1200" i="1" dirty="0"/>
              <a:t>Sorrentino et al. (2024); D’Aniello et al. (2018); Malafronte et al. (2021); Fan et al. (2021); Ji et al. (2017); Killian and Kozek (2016); </a:t>
            </a:r>
            <a:r>
              <a:rPr lang="en-GB" sz="1200" i="1" dirty="0" err="1"/>
              <a:t>Drgoňa</a:t>
            </a:r>
            <a:r>
              <a:rPr lang="en-GB" sz="1200" i="1" dirty="0"/>
              <a:t> et al. (2020); Xin et al. (2024)</a:t>
            </a:r>
            <a:endParaRPr lang="en-LV" sz="1200" i="1" dirty="0"/>
          </a:p>
        </p:txBody>
      </p:sp>
      <p:sp>
        <p:nvSpPr>
          <p:cNvPr id="4" name="Date Placeholder 3">
            <a:extLst>
              <a:ext uri="{FF2B5EF4-FFF2-40B4-BE49-F238E27FC236}">
                <a16:creationId xmlns:a16="http://schemas.microsoft.com/office/drawing/2014/main" id="{A1642CAB-BAE2-8398-61BB-55EDB4C3B9CE}"/>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C002F45F-C6C7-B4F1-7252-E9D1C77697EF}"/>
              </a:ext>
            </a:extLst>
          </p:cNvPr>
          <p:cNvSpPr>
            <a:spLocks noGrp="1"/>
          </p:cNvSpPr>
          <p:nvPr>
            <p:ph type="sldNum" sz="quarter" idx="12"/>
          </p:nvPr>
        </p:nvSpPr>
        <p:spPr/>
        <p:txBody>
          <a:bodyPr/>
          <a:lstStyle/>
          <a:p>
            <a:fld id="{CC7D8618-F20C-406E-B464-04F15D14577A}" type="slidenum">
              <a:rPr lang="en-GB" smtClean="0"/>
              <a:pPr/>
              <a:t>4</a:t>
            </a:fld>
            <a:endParaRPr lang="en-GB" dirty="0"/>
          </a:p>
        </p:txBody>
      </p:sp>
      <p:sp>
        <p:nvSpPr>
          <p:cNvPr id="6" name="Text Placeholder 5">
            <a:extLst>
              <a:ext uri="{FF2B5EF4-FFF2-40B4-BE49-F238E27FC236}">
                <a16:creationId xmlns:a16="http://schemas.microsoft.com/office/drawing/2014/main" id="{B29450E1-0FBC-0A9F-5CA9-AEFD50D2F940}"/>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BCC56643-9ABC-4740-4541-99003B5A9C5A}"/>
              </a:ext>
            </a:extLst>
          </p:cNvPr>
          <p:cNvSpPr>
            <a:spLocks noGrp="1"/>
          </p:cNvSpPr>
          <p:nvPr>
            <p:ph type="body" sz="quarter" idx="14"/>
          </p:nvPr>
        </p:nvSpPr>
        <p:spPr/>
        <p:txBody>
          <a:bodyPr/>
          <a:lstStyle/>
          <a:p>
            <a:r>
              <a:rPr lang="en-LV" dirty="0"/>
              <a:t>LITERATURE REVIEW</a:t>
            </a:r>
          </a:p>
        </p:txBody>
      </p:sp>
      <p:sp>
        <p:nvSpPr>
          <p:cNvPr id="8" name="Text Placeholder 7">
            <a:extLst>
              <a:ext uri="{FF2B5EF4-FFF2-40B4-BE49-F238E27FC236}">
                <a16:creationId xmlns:a16="http://schemas.microsoft.com/office/drawing/2014/main" id="{4E9B035F-5609-42E9-E798-D44D7E5A5095}"/>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E1B5468D-C40B-C038-1B49-A3A241E1597D}"/>
              </a:ext>
            </a:extLst>
          </p:cNvPr>
          <p:cNvSpPr txBox="1"/>
          <p:nvPr/>
        </p:nvSpPr>
        <p:spPr>
          <a:xfrm>
            <a:off x="4990187" y="6572880"/>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401740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B7D2-E305-7B54-0D48-4B5C9ADBE5E6}"/>
              </a:ext>
            </a:extLst>
          </p:cNvPr>
          <p:cNvSpPr>
            <a:spLocks noGrp="1"/>
          </p:cNvSpPr>
          <p:nvPr>
            <p:ph type="title"/>
          </p:nvPr>
        </p:nvSpPr>
        <p:spPr/>
        <p:txBody>
          <a:bodyPr>
            <a:normAutofit/>
          </a:bodyPr>
          <a:lstStyle/>
          <a:p>
            <a:r>
              <a:rPr lang="en-GB" sz="4000" dirty="0"/>
              <a:t>Research aim and objectives</a:t>
            </a:r>
            <a:endParaRPr lang="en-LV" sz="4000" dirty="0"/>
          </a:p>
        </p:txBody>
      </p:sp>
      <p:sp>
        <p:nvSpPr>
          <p:cNvPr id="3" name="Content Placeholder 2">
            <a:extLst>
              <a:ext uri="{FF2B5EF4-FFF2-40B4-BE49-F238E27FC236}">
                <a16:creationId xmlns:a16="http://schemas.microsoft.com/office/drawing/2014/main" id="{F49C4979-D561-1365-E4A1-701063072CBF}"/>
              </a:ext>
            </a:extLst>
          </p:cNvPr>
          <p:cNvSpPr>
            <a:spLocks noGrp="1"/>
          </p:cNvSpPr>
          <p:nvPr>
            <p:ph idx="1"/>
          </p:nvPr>
        </p:nvSpPr>
        <p:spPr>
          <a:xfrm>
            <a:off x="276028" y="1262288"/>
            <a:ext cx="8568869" cy="5249439"/>
          </a:xfrm>
        </p:spPr>
        <p:txBody>
          <a:bodyPr>
            <a:noAutofit/>
          </a:bodyPr>
          <a:lstStyle/>
          <a:p>
            <a:pPr marL="0" indent="0">
              <a:lnSpc>
                <a:spcPct val="100000"/>
              </a:lnSpc>
              <a:buNone/>
            </a:pPr>
            <a:r>
              <a:rPr lang="en-GB" b="1" dirty="0"/>
              <a:t>Aim: </a:t>
            </a:r>
            <a:r>
              <a:rPr lang="en-LV" dirty="0"/>
              <a:t>Develop аnd еvаluаtе intеlligеnt control strаtеgiеs for cooling еnеrgy usе in tеlеcom cеntrаl officе еnvironmеnts using rеаl monitoring dаtа</a:t>
            </a:r>
          </a:p>
          <a:p>
            <a:pPr marL="0" indent="0">
              <a:lnSpc>
                <a:spcPct val="100000"/>
              </a:lnSpc>
              <a:buNone/>
            </a:pPr>
            <a:endParaRPr lang="en-LV" dirty="0"/>
          </a:p>
          <a:p>
            <a:pPr marL="0" indent="0">
              <a:lnSpc>
                <a:spcPct val="100000"/>
              </a:lnSpc>
              <a:buNone/>
            </a:pPr>
            <a:r>
              <a:rPr lang="en-GB" b="1" dirty="0"/>
              <a:t>Research tasks:</a:t>
            </a:r>
            <a:endParaRPr lang="en-GB" dirty="0"/>
          </a:p>
          <a:p>
            <a:pPr marL="457200" indent="-457200">
              <a:lnSpc>
                <a:spcPct val="100000"/>
              </a:lnSpc>
              <a:buFont typeface="+mj-lt"/>
              <a:buAutoNum type="arabicPeriod"/>
            </a:pPr>
            <a:r>
              <a:rPr lang="en-GB" dirty="0"/>
              <a:t>Review relevant literature</a:t>
            </a:r>
          </a:p>
          <a:p>
            <a:pPr marL="457200" indent="-457200">
              <a:lnSpc>
                <a:spcPct val="100000"/>
              </a:lnSpc>
              <a:buFont typeface="+mj-lt"/>
              <a:buAutoNum type="arabicPeriod"/>
            </a:pPr>
            <a:r>
              <a:rPr lang="en-GB" dirty="0"/>
              <a:t>Prepare the control-oriented dataset</a:t>
            </a:r>
          </a:p>
          <a:p>
            <a:pPr marL="457200" indent="-457200">
              <a:lnSpc>
                <a:spcPct val="100000"/>
              </a:lnSpc>
              <a:buFont typeface="+mj-lt"/>
              <a:buAutoNum type="arabicPeriod"/>
            </a:pPr>
            <a:r>
              <a:rPr lang="en-GB" dirty="0"/>
              <a:t>Develop the cooling-demand benchmark</a:t>
            </a:r>
          </a:p>
          <a:p>
            <a:pPr marL="457200" indent="-457200">
              <a:lnSpc>
                <a:spcPct val="100000"/>
              </a:lnSpc>
              <a:buFont typeface="+mj-lt"/>
              <a:buAutoNum type="arabicPeriod"/>
            </a:pPr>
            <a:r>
              <a:rPr lang="en-GB" dirty="0"/>
              <a:t>Design context-aware control strategies</a:t>
            </a:r>
          </a:p>
          <a:p>
            <a:pPr marL="457200" indent="-457200">
              <a:lnSpc>
                <a:spcPct val="100000"/>
              </a:lnSpc>
              <a:buFont typeface="+mj-lt"/>
              <a:buAutoNum type="arabicPeriod"/>
            </a:pPr>
            <a:r>
              <a:rPr lang="en-GB" dirty="0"/>
              <a:t>Evaluate control performance historically</a:t>
            </a:r>
          </a:p>
        </p:txBody>
      </p:sp>
      <p:sp>
        <p:nvSpPr>
          <p:cNvPr id="4" name="Date Placeholder 3">
            <a:extLst>
              <a:ext uri="{FF2B5EF4-FFF2-40B4-BE49-F238E27FC236}">
                <a16:creationId xmlns:a16="http://schemas.microsoft.com/office/drawing/2014/main" id="{0A065C50-9D56-002A-FCE4-EC5D0657AE85}"/>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C034316D-4EEC-9486-D721-4D36F9C9E48C}"/>
              </a:ext>
            </a:extLst>
          </p:cNvPr>
          <p:cNvSpPr>
            <a:spLocks noGrp="1"/>
          </p:cNvSpPr>
          <p:nvPr>
            <p:ph type="sldNum" sz="quarter" idx="12"/>
          </p:nvPr>
        </p:nvSpPr>
        <p:spPr/>
        <p:txBody>
          <a:bodyPr/>
          <a:lstStyle/>
          <a:p>
            <a:fld id="{CC7D8618-F20C-406E-B464-04F15D14577A}" type="slidenum">
              <a:rPr lang="en-GB" smtClean="0"/>
              <a:pPr/>
              <a:t>5</a:t>
            </a:fld>
            <a:endParaRPr lang="en-GB" dirty="0"/>
          </a:p>
        </p:txBody>
      </p:sp>
      <p:sp>
        <p:nvSpPr>
          <p:cNvPr id="6" name="Text Placeholder 5">
            <a:extLst>
              <a:ext uri="{FF2B5EF4-FFF2-40B4-BE49-F238E27FC236}">
                <a16:creationId xmlns:a16="http://schemas.microsoft.com/office/drawing/2014/main" id="{6F506522-8C68-CEC6-DAA6-099B7CE17837}"/>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1FBE878-2F98-CAEE-DF0B-72FC66F8ECA1}"/>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86C82F47-0E74-F87D-F07F-5A6E9EF1D934}"/>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1E6C32E8-E26E-8842-54FE-1A598F77778F}"/>
              </a:ext>
            </a:extLst>
          </p:cNvPr>
          <p:cNvSpPr txBox="1"/>
          <p:nvPr/>
        </p:nvSpPr>
        <p:spPr>
          <a:xfrm>
            <a:off x="5052061" y="6597052"/>
            <a:ext cx="468630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353049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3EEF-78EE-7D20-E7B5-5E01F976FE7D}"/>
              </a:ext>
            </a:extLst>
          </p:cNvPr>
          <p:cNvSpPr>
            <a:spLocks noGrp="1"/>
          </p:cNvSpPr>
          <p:nvPr>
            <p:ph type="title"/>
          </p:nvPr>
        </p:nvSpPr>
        <p:spPr/>
        <p:txBody>
          <a:bodyPr>
            <a:normAutofit/>
          </a:bodyPr>
          <a:lstStyle/>
          <a:p>
            <a:r>
              <a:rPr lang="en-LV" sz="4000" dirty="0"/>
              <a:t>Research questions</a:t>
            </a:r>
          </a:p>
        </p:txBody>
      </p:sp>
      <p:sp>
        <p:nvSpPr>
          <p:cNvPr id="3" name="Content Placeholder 2">
            <a:extLst>
              <a:ext uri="{FF2B5EF4-FFF2-40B4-BE49-F238E27FC236}">
                <a16:creationId xmlns:a16="http://schemas.microsoft.com/office/drawing/2014/main" id="{6EF832F2-1E1A-C59D-CCE8-988A756B2E9D}"/>
              </a:ext>
            </a:extLst>
          </p:cNvPr>
          <p:cNvSpPr>
            <a:spLocks noGrp="1"/>
          </p:cNvSpPr>
          <p:nvPr>
            <p:ph idx="1"/>
          </p:nvPr>
        </p:nvSpPr>
        <p:spPr>
          <a:xfrm>
            <a:off x="276028" y="1088644"/>
            <a:ext cx="8568869" cy="5033773"/>
          </a:xfrm>
        </p:spPr>
        <p:txBody>
          <a:bodyPr/>
          <a:lstStyle/>
          <a:p>
            <a:pPr marL="457200" lvl="0" indent="-457200">
              <a:buFont typeface="+mj-lt"/>
              <a:buAutoNum type="arabicPeriod"/>
            </a:pPr>
            <a:r>
              <a:rPr lang="en-LV" dirty="0"/>
              <a:t>To whаt еxtеnt cаn intеlligеnt cooling control strаtеgiеs idеntify opportunitiеs to improvе cooling еnеrgy usе in tеlеcom cеntrаl officе еnvironmеnts?</a:t>
            </a:r>
          </a:p>
          <a:p>
            <a:pPr marL="457200" lvl="0" indent="-457200">
              <a:buFont typeface="+mj-lt"/>
              <a:buAutoNum type="arabicPeriod"/>
            </a:pPr>
            <a:r>
              <a:rPr lang="en-LV" dirty="0"/>
              <a:t>Which forеcаsting аpproаch providеs thе most rеliаblе еstimаtе of еxpеctеd cooling dеmаnd for intеlligеnt cooling control?</a:t>
            </a:r>
          </a:p>
          <a:p>
            <a:pPr marL="457200" lvl="0" indent="-457200">
              <a:buFont typeface="+mj-lt"/>
              <a:buAutoNum type="arabicPeriod"/>
            </a:pPr>
            <a:r>
              <a:rPr lang="en-LV" dirty="0"/>
              <a:t>Which opеrаtionаl аnd еnvironmеntаl vаriаblеs аrе most rеlеvаnt for constructing а control-oriеntеd аnаlyticаl bаsis for intеlligеnt cooling control?</a:t>
            </a:r>
          </a:p>
        </p:txBody>
      </p:sp>
      <p:sp>
        <p:nvSpPr>
          <p:cNvPr id="4" name="Date Placeholder 3">
            <a:extLst>
              <a:ext uri="{FF2B5EF4-FFF2-40B4-BE49-F238E27FC236}">
                <a16:creationId xmlns:a16="http://schemas.microsoft.com/office/drawing/2014/main" id="{986B0369-AFA6-CE27-3B56-19C61D1D9DE9}"/>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105873B2-15D2-302E-0B44-FE1C724ACC47}"/>
              </a:ext>
            </a:extLst>
          </p:cNvPr>
          <p:cNvSpPr>
            <a:spLocks noGrp="1"/>
          </p:cNvSpPr>
          <p:nvPr>
            <p:ph type="sldNum" sz="quarter" idx="12"/>
          </p:nvPr>
        </p:nvSpPr>
        <p:spPr/>
        <p:txBody>
          <a:bodyPr/>
          <a:lstStyle/>
          <a:p>
            <a:fld id="{CC7D8618-F20C-406E-B464-04F15D14577A}" type="slidenum">
              <a:rPr lang="en-GB" smtClean="0"/>
              <a:pPr/>
              <a:t>6</a:t>
            </a:fld>
            <a:endParaRPr lang="en-GB" dirty="0"/>
          </a:p>
        </p:txBody>
      </p:sp>
      <p:sp>
        <p:nvSpPr>
          <p:cNvPr id="6" name="Text Placeholder 5">
            <a:extLst>
              <a:ext uri="{FF2B5EF4-FFF2-40B4-BE49-F238E27FC236}">
                <a16:creationId xmlns:a16="http://schemas.microsoft.com/office/drawing/2014/main" id="{83B34C08-3AC5-6057-90F8-0FED7CC6182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00B6741-717F-6C2F-02C2-A6F099A0928B}"/>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2B86A4C0-39E4-DF81-9D74-18FD35D3E963}"/>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A51B2703-2356-3345-E2AC-7B44229EDA75}"/>
              </a:ext>
            </a:extLst>
          </p:cNvPr>
          <p:cNvSpPr txBox="1"/>
          <p:nvPr/>
        </p:nvSpPr>
        <p:spPr>
          <a:xfrm>
            <a:off x="4894898" y="6597052"/>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247449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5A7B-186F-8458-E8BC-92D79763B4AF}"/>
              </a:ext>
            </a:extLst>
          </p:cNvPr>
          <p:cNvSpPr>
            <a:spLocks noGrp="1"/>
          </p:cNvSpPr>
          <p:nvPr>
            <p:ph type="title"/>
          </p:nvPr>
        </p:nvSpPr>
        <p:spPr/>
        <p:txBody>
          <a:bodyPr>
            <a:noAutofit/>
          </a:bodyPr>
          <a:lstStyle/>
          <a:p>
            <a:r>
              <a:rPr lang="en-GB" sz="4000" dirty="0"/>
              <a:t>Object and subject of research</a:t>
            </a:r>
            <a:endParaRPr lang="en-LV" sz="4000" dirty="0"/>
          </a:p>
        </p:txBody>
      </p:sp>
      <p:sp>
        <p:nvSpPr>
          <p:cNvPr id="3" name="Content Placeholder 2">
            <a:extLst>
              <a:ext uri="{FF2B5EF4-FFF2-40B4-BE49-F238E27FC236}">
                <a16:creationId xmlns:a16="http://schemas.microsoft.com/office/drawing/2014/main" id="{E82F4B9E-A650-9F3D-C908-90E3C47D60D6}"/>
              </a:ext>
            </a:extLst>
          </p:cNvPr>
          <p:cNvSpPr>
            <a:spLocks noGrp="1"/>
          </p:cNvSpPr>
          <p:nvPr>
            <p:ph idx="1"/>
          </p:nvPr>
        </p:nvSpPr>
        <p:spPr/>
        <p:txBody>
          <a:bodyPr>
            <a:normAutofit/>
          </a:bodyPr>
          <a:lstStyle/>
          <a:p>
            <a:r>
              <a:rPr lang="en-LV" b="1" dirty="0"/>
              <a:t>The object of the research</a:t>
            </a:r>
            <a:r>
              <a:rPr lang="en-LV" dirty="0"/>
              <a:t> is cooling energy use in telecom central office technical infrastructure.</a:t>
            </a:r>
          </a:p>
          <a:p>
            <a:r>
              <a:rPr lang="en-LV" b="1" dirty="0"/>
              <a:t>The subject of the research </a:t>
            </a:r>
            <a:r>
              <a:rPr lang="en-LV" dirty="0"/>
              <a:t>is</a:t>
            </a:r>
            <a:r>
              <a:rPr lang="en-LV" b="1" dirty="0"/>
              <a:t> </a:t>
            </a:r>
            <a:r>
              <a:rPr lang="en-LV" dirty="0"/>
              <a:t>intеlligеnt cooling control in tеlеcom cеntrаl officе еnvironmеnts undеr rеаl opеrаtionаl tеlеmеtry constrаints</a:t>
            </a:r>
          </a:p>
        </p:txBody>
      </p:sp>
      <p:sp>
        <p:nvSpPr>
          <p:cNvPr id="4" name="Date Placeholder 3">
            <a:extLst>
              <a:ext uri="{FF2B5EF4-FFF2-40B4-BE49-F238E27FC236}">
                <a16:creationId xmlns:a16="http://schemas.microsoft.com/office/drawing/2014/main" id="{0697DB2D-2554-8B74-714D-A5AE4F9AED1F}"/>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4FA10C87-A659-6977-7475-1CA8A7712D17}"/>
              </a:ext>
            </a:extLst>
          </p:cNvPr>
          <p:cNvSpPr>
            <a:spLocks noGrp="1"/>
          </p:cNvSpPr>
          <p:nvPr>
            <p:ph type="sldNum" sz="quarter" idx="12"/>
          </p:nvPr>
        </p:nvSpPr>
        <p:spPr/>
        <p:txBody>
          <a:bodyPr/>
          <a:lstStyle/>
          <a:p>
            <a:fld id="{CC7D8618-F20C-406E-B464-04F15D14577A}" type="slidenum">
              <a:rPr lang="en-GB" smtClean="0"/>
              <a:pPr/>
              <a:t>7</a:t>
            </a:fld>
            <a:endParaRPr lang="en-GB" dirty="0"/>
          </a:p>
        </p:txBody>
      </p:sp>
      <p:sp>
        <p:nvSpPr>
          <p:cNvPr id="6" name="Text Placeholder 5">
            <a:extLst>
              <a:ext uri="{FF2B5EF4-FFF2-40B4-BE49-F238E27FC236}">
                <a16:creationId xmlns:a16="http://schemas.microsoft.com/office/drawing/2014/main" id="{E4C2F553-4C65-68EF-8E9E-7CD42BC61C9C}"/>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9446C8D8-6713-7A32-2397-06D2DAFE29DA}"/>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23571148-DAE2-3E62-0B4C-5280EB264AED}"/>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F35334C3-02EA-6026-40AE-7950310765A1}"/>
              </a:ext>
            </a:extLst>
          </p:cNvPr>
          <p:cNvSpPr txBox="1"/>
          <p:nvPr/>
        </p:nvSpPr>
        <p:spPr>
          <a:xfrm>
            <a:off x="4929188" y="6572880"/>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15957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8E73-3A28-7880-A249-9AA65B7C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99BE0-DBE3-3989-8703-063C9FA0ECC3}"/>
              </a:ext>
            </a:extLst>
          </p:cNvPr>
          <p:cNvSpPr>
            <a:spLocks noGrp="1"/>
          </p:cNvSpPr>
          <p:nvPr>
            <p:ph type="title"/>
          </p:nvPr>
        </p:nvSpPr>
        <p:spPr>
          <a:xfrm>
            <a:off x="2" y="346273"/>
            <a:ext cx="9143998" cy="986719"/>
          </a:xfrm>
        </p:spPr>
        <p:txBody>
          <a:bodyPr vert="horz" lIns="91440" tIns="45720" rIns="91440" bIns="45720" rtlCol="0" anchor="t" anchorCtr="0">
            <a:normAutofit/>
          </a:bodyPr>
          <a:lstStyle/>
          <a:p>
            <a:r>
              <a:rPr lang="en-US" sz="4000" kern="1200" spc="-50" baseline="0" dirty="0">
                <a:latin typeface="+mj-lt"/>
                <a:ea typeface="+mj-ea"/>
                <a:cs typeface="+mj-cs"/>
              </a:rPr>
              <a:t>Analytical framework</a:t>
            </a:r>
          </a:p>
        </p:txBody>
      </p:sp>
      <p:pic>
        <p:nvPicPr>
          <p:cNvPr id="9" name="Content Placeholder 8">
            <a:extLst>
              <a:ext uri="{FF2B5EF4-FFF2-40B4-BE49-F238E27FC236}">
                <a16:creationId xmlns:a16="http://schemas.microsoft.com/office/drawing/2014/main" id="{FD6D2F2A-E330-B4AB-9A2C-36C7AE1F27BF}"/>
              </a:ext>
            </a:extLst>
          </p:cNvPr>
          <p:cNvPicPr>
            <a:picLocks noGrp="1" noChangeAspect="1"/>
          </p:cNvPicPr>
          <p:nvPr>
            <p:ph idx="1"/>
          </p:nvPr>
        </p:nvPicPr>
        <p:blipFill>
          <a:blip r:embed="rId3"/>
          <a:stretch>
            <a:fillRect/>
          </a:stretch>
        </p:blipFill>
        <p:spPr>
          <a:xfrm>
            <a:off x="227744" y="1176237"/>
            <a:ext cx="8568869" cy="4798565"/>
          </a:xfrm>
          <a:prstGeom prst="rect">
            <a:avLst/>
          </a:prstGeom>
          <a:noFill/>
        </p:spPr>
      </p:pic>
      <p:sp>
        <p:nvSpPr>
          <p:cNvPr id="4" name="Date Placeholder 3">
            <a:extLst>
              <a:ext uri="{FF2B5EF4-FFF2-40B4-BE49-F238E27FC236}">
                <a16:creationId xmlns:a16="http://schemas.microsoft.com/office/drawing/2014/main" id="{6A11F85B-23FE-E56F-6D6F-517CA130ED3D}"/>
              </a:ext>
            </a:extLst>
          </p:cNvPr>
          <p:cNvSpPr>
            <a:spLocks noGrp="1"/>
          </p:cNvSpPr>
          <p:nvPr>
            <p:ph type="dt" sz="half" idx="10"/>
          </p:nvPr>
        </p:nvSpPr>
        <p:spPr>
          <a:xfrm>
            <a:off x="4082" y="6597052"/>
            <a:ext cx="1097280" cy="259435"/>
          </a:xfrm>
        </p:spPr>
        <p:txBody>
          <a:bodyPr vert="horz" lIns="91440" tIns="45720" rIns="91440" bIns="45720" rtlCol="0" anchor="ctr">
            <a:normAutofit lnSpcReduction="10000"/>
          </a:bodyPr>
          <a:lstStyle/>
          <a:p>
            <a:r>
              <a:rPr lang="en-GB" sz="1200" dirty="0"/>
              <a:t>12-May-26</a:t>
            </a:r>
          </a:p>
        </p:txBody>
      </p:sp>
      <p:sp>
        <p:nvSpPr>
          <p:cNvPr id="5" name="Slide Number Placeholder 4">
            <a:extLst>
              <a:ext uri="{FF2B5EF4-FFF2-40B4-BE49-F238E27FC236}">
                <a16:creationId xmlns:a16="http://schemas.microsoft.com/office/drawing/2014/main" id="{1DA55D71-7620-F3A4-F7C6-5B67B1BD35A7}"/>
              </a:ext>
            </a:extLst>
          </p:cNvPr>
          <p:cNvSpPr>
            <a:spLocks noGrp="1"/>
          </p:cNvSpPr>
          <p:nvPr>
            <p:ph type="sldNum" sz="quarter" idx="12"/>
          </p:nvPr>
        </p:nvSpPr>
        <p:spPr>
          <a:xfrm>
            <a:off x="8545794" y="6597052"/>
            <a:ext cx="598206" cy="259435"/>
          </a:xfrm>
        </p:spPr>
        <p:txBody>
          <a:bodyPr vert="horz" lIns="91440" tIns="45720" rIns="91440" bIns="45720" rtlCol="0" anchor="ctr">
            <a:noAutofit/>
          </a:bodyPr>
          <a:lstStyle/>
          <a:p>
            <a:pPr>
              <a:lnSpc>
                <a:spcPct val="90000"/>
              </a:lnSpc>
              <a:spcAft>
                <a:spcPts val="600"/>
              </a:spcAft>
            </a:pPr>
            <a:fld id="{CC7D8618-F20C-406E-B464-04F15D14577A}" type="slidenum">
              <a:rPr lang="en-GB" sz="1800" smtClean="0"/>
              <a:pPr>
                <a:lnSpc>
                  <a:spcPct val="90000"/>
                </a:lnSpc>
                <a:spcAft>
                  <a:spcPts val="600"/>
                </a:spcAft>
              </a:pPr>
              <a:t>8</a:t>
            </a:fld>
            <a:endParaRPr lang="en-GB" sz="1800" dirty="0"/>
          </a:p>
        </p:txBody>
      </p:sp>
      <p:sp>
        <p:nvSpPr>
          <p:cNvPr id="6" name="Text Placeholder 5">
            <a:extLst>
              <a:ext uri="{FF2B5EF4-FFF2-40B4-BE49-F238E27FC236}">
                <a16:creationId xmlns:a16="http://schemas.microsoft.com/office/drawing/2014/main" id="{16C6DF5E-93A6-D77F-F39C-6E538905885E}"/>
              </a:ext>
            </a:extLst>
          </p:cNvPr>
          <p:cNvSpPr>
            <a:spLocks noGrp="1"/>
          </p:cNvSpPr>
          <p:nvPr>
            <p:ph type="body" sz="quarter" idx="13"/>
          </p:nvPr>
        </p:nvSpPr>
        <p:spPr>
          <a:xfrm>
            <a:off x="1116602" y="6597962"/>
            <a:ext cx="3395577" cy="258763"/>
          </a:xfrm>
        </p:spPr>
        <p:txBody>
          <a:bodyPr vert="horz" lIns="0" tIns="45720" rIns="0" bIns="45720" rtlCol="0" anchor="ctr" anchorCtr="0">
            <a:normAutofit/>
          </a:bodyPr>
          <a:lstStyle/>
          <a:p>
            <a:pPr>
              <a:lnSpc>
                <a:spcPct val="90000"/>
              </a:lnSpc>
            </a:pPr>
            <a:r>
              <a:rPr lang="en-GB" sz="1200"/>
              <a:t>Anastasija Zubkova</a:t>
            </a:r>
          </a:p>
        </p:txBody>
      </p:sp>
      <p:sp>
        <p:nvSpPr>
          <p:cNvPr id="7" name="Text Placeholder 6">
            <a:extLst>
              <a:ext uri="{FF2B5EF4-FFF2-40B4-BE49-F238E27FC236}">
                <a16:creationId xmlns:a16="http://schemas.microsoft.com/office/drawing/2014/main" id="{FCDD72E0-B777-B2E0-A11B-66E11EC2C336}"/>
              </a:ext>
            </a:extLst>
          </p:cNvPr>
          <p:cNvSpPr>
            <a:spLocks noGrp="1"/>
          </p:cNvSpPr>
          <p:nvPr>
            <p:ph type="body" sz="quarter" idx="14"/>
          </p:nvPr>
        </p:nvSpPr>
        <p:spPr>
          <a:xfrm>
            <a:off x="1" y="2203"/>
            <a:ext cx="4571999" cy="258763"/>
          </a:xfrm>
        </p:spPr>
        <p:txBody>
          <a:bodyPr vert="horz" lIns="0" tIns="45720" rIns="0" bIns="45720" rtlCol="0" anchor="ctr" anchorCtr="0">
            <a:normAutofit/>
          </a:bodyPr>
          <a:lstStyle/>
          <a:p>
            <a:pPr>
              <a:lnSpc>
                <a:spcPct val="90000"/>
              </a:lnSpc>
            </a:pPr>
            <a:r>
              <a:rPr lang="en-LV" sz="1200"/>
              <a:t>RЕSЕАRCH DЕSIGN, DАTА АND MЕTHODS</a:t>
            </a:r>
          </a:p>
        </p:txBody>
      </p:sp>
      <p:sp>
        <p:nvSpPr>
          <p:cNvPr id="10" name="TextBox 9">
            <a:extLst>
              <a:ext uri="{FF2B5EF4-FFF2-40B4-BE49-F238E27FC236}">
                <a16:creationId xmlns:a16="http://schemas.microsoft.com/office/drawing/2014/main" id="{AB699AEB-8B22-780C-451D-95D7D080A7DD}"/>
              </a:ext>
            </a:extLst>
          </p:cNvPr>
          <p:cNvSpPr txBox="1"/>
          <p:nvPr/>
        </p:nvSpPr>
        <p:spPr>
          <a:xfrm>
            <a:off x="4572000" y="2203"/>
            <a:ext cx="4571999" cy="258763"/>
          </a:xfrm>
          <a:prstGeom prst="rect">
            <a:avLst/>
          </a:prstGeom>
        </p:spPr>
        <p:txBody>
          <a:bodyPr vert="horz" lIns="0" tIns="45720" rIns="0" bIns="45720" rtlCol="0" anchor="ctr" anchorCtr="0">
            <a:normAutofit/>
          </a:bodyPr>
          <a:lstStyle/>
          <a:p>
            <a:pPr marL="222250" defTabSz="914400">
              <a:lnSpc>
                <a:spcPct val="90000"/>
              </a:lnSpc>
              <a:spcBef>
                <a:spcPts val="1200"/>
              </a:spcBef>
              <a:spcAft>
                <a:spcPts val="200"/>
              </a:spcAft>
              <a:buClr>
                <a:schemeClr val="accent1"/>
              </a:buClr>
              <a:buSzPct val="100000"/>
              <a:tabLst>
                <a:tab pos="230188" algn="l"/>
                <a:tab pos="631825" algn="l"/>
              </a:tabLst>
            </a:pPr>
            <a:endParaRPr lang="en-US" sz="1200" dirty="0">
              <a:solidFill>
                <a:schemeClr val="bg1"/>
              </a:solidFill>
              <a:highlight>
                <a:srgbClr val="2683C7"/>
              </a:highlight>
            </a:endParaRPr>
          </a:p>
        </p:txBody>
      </p:sp>
      <p:sp>
        <p:nvSpPr>
          <p:cNvPr id="14" name="TextBox 13">
            <a:extLst>
              <a:ext uri="{FF2B5EF4-FFF2-40B4-BE49-F238E27FC236}">
                <a16:creationId xmlns:a16="http://schemas.microsoft.com/office/drawing/2014/main" id="{7A057981-6296-6D80-6D70-3BF1D45D4607}"/>
              </a:ext>
            </a:extLst>
          </p:cNvPr>
          <p:cNvSpPr txBox="1"/>
          <p:nvPr/>
        </p:nvSpPr>
        <p:spPr>
          <a:xfrm>
            <a:off x="5072781" y="6597052"/>
            <a:ext cx="5299787"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304304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5A12-6756-DE64-418B-4B4C6DACF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44FDF-8EE9-7D2B-2F72-0194BFFAD7F0}"/>
              </a:ext>
            </a:extLst>
          </p:cNvPr>
          <p:cNvSpPr>
            <a:spLocks noGrp="1"/>
          </p:cNvSpPr>
          <p:nvPr>
            <p:ph type="title"/>
          </p:nvPr>
        </p:nvSpPr>
        <p:spPr>
          <a:xfrm>
            <a:off x="2" y="346273"/>
            <a:ext cx="9143998" cy="986719"/>
          </a:xfrm>
        </p:spPr>
        <p:txBody>
          <a:bodyPr vert="horz" lIns="91440" tIns="45720" rIns="91440" bIns="45720" rtlCol="0" anchor="t" anchorCtr="0">
            <a:normAutofit/>
          </a:bodyPr>
          <a:lstStyle/>
          <a:p>
            <a:r>
              <a:rPr lang="en-US" sz="4000" kern="1200" spc="-50" baseline="0" dirty="0">
                <a:latin typeface="+mj-lt"/>
                <a:ea typeface="+mj-ea"/>
                <a:cs typeface="+mj-cs"/>
              </a:rPr>
              <a:t>Intelligent control strategy</a:t>
            </a:r>
          </a:p>
        </p:txBody>
      </p:sp>
      <p:pic>
        <p:nvPicPr>
          <p:cNvPr id="12" name="Picture 11" descr="A diagram of a diagram&#10;&#10;AI-generated content may be incorrect.">
            <a:extLst>
              <a:ext uri="{FF2B5EF4-FFF2-40B4-BE49-F238E27FC236}">
                <a16:creationId xmlns:a16="http://schemas.microsoft.com/office/drawing/2014/main" id="{722A113D-0214-A044-A25A-13EFAE21D5E4}"/>
              </a:ext>
            </a:extLst>
          </p:cNvPr>
          <p:cNvPicPr>
            <a:picLocks noChangeAspect="1"/>
          </p:cNvPicPr>
          <p:nvPr/>
        </p:nvPicPr>
        <p:blipFill>
          <a:blip r:embed="rId3"/>
          <a:stretch>
            <a:fillRect/>
          </a:stretch>
        </p:blipFill>
        <p:spPr>
          <a:xfrm>
            <a:off x="227744" y="1497660"/>
            <a:ext cx="8568869" cy="4027366"/>
          </a:xfrm>
          <a:prstGeom prst="rect">
            <a:avLst/>
          </a:prstGeom>
          <a:noFill/>
        </p:spPr>
      </p:pic>
      <p:sp>
        <p:nvSpPr>
          <p:cNvPr id="4" name="Date Placeholder 3">
            <a:extLst>
              <a:ext uri="{FF2B5EF4-FFF2-40B4-BE49-F238E27FC236}">
                <a16:creationId xmlns:a16="http://schemas.microsoft.com/office/drawing/2014/main" id="{3A03B473-CD1D-D5BC-7F2E-DDBCA6C05FD4}"/>
              </a:ext>
            </a:extLst>
          </p:cNvPr>
          <p:cNvSpPr>
            <a:spLocks noGrp="1"/>
          </p:cNvSpPr>
          <p:nvPr>
            <p:ph type="dt" sz="half" idx="10"/>
          </p:nvPr>
        </p:nvSpPr>
        <p:spPr>
          <a:xfrm>
            <a:off x="4082" y="6597052"/>
            <a:ext cx="1097280" cy="259435"/>
          </a:xfrm>
        </p:spPr>
        <p:txBody>
          <a:bodyPr vert="horz" lIns="91440" tIns="45720" rIns="91440" bIns="45720" rtlCol="0" anchor="ctr">
            <a:normAutofit/>
          </a:bodyPr>
          <a:lstStyle/>
          <a:p>
            <a:pPr>
              <a:lnSpc>
                <a:spcPct val="90000"/>
              </a:lnSpc>
              <a:spcAft>
                <a:spcPts val="600"/>
              </a:spcAft>
            </a:pPr>
            <a:r>
              <a:rPr lang="en-GB" sz="1200" dirty="0"/>
              <a:t>12-May-26</a:t>
            </a:r>
          </a:p>
        </p:txBody>
      </p:sp>
      <p:sp>
        <p:nvSpPr>
          <p:cNvPr id="5" name="Slide Number Placeholder 4">
            <a:extLst>
              <a:ext uri="{FF2B5EF4-FFF2-40B4-BE49-F238E27FC236}">
                <a16:creationId xmlns:a16="http://schemas.microsoft.com/office/drawing/2014/main" id="{E4D7676A-9E6F-AE4E-B15D-5F909D3BCE23}"/>
              </a:ext>
            </a:extLst>
          </p:cNvPr>
          <p:cNvSpPr>
            <a:spLocks noGrp="1"/>
          </p:cNvSpPr>
          <p:nvPr>
            <p:ph type="sldNum" sz="quarter" idx="12"/>
          </p:nvPr>
        </p:nvSpPr>
        <p:spPr>
          <a:xfrm>
            <a:off x="8545794" y="6597052"/>
            <a:ext cx="598206" cy="259435"/>
          </a:xfrm>
        </p:spPr>
        <p:txBody>
          <a:bodyPr vert="horz" lIns="91440" tIns="45720" rIns="91440" bIns="45720" rtlCol="0" anchor="ctr">
            <a:noAutofit/>
          </a:bodyPr>
          <a:lstStyle/>
          <a:p>
            <a:pPr>
              <a:lnSpc>
                <a:spcPct val="90000"/>
              </a:lnSpc>
              <a:spcAft>
                <a:spcPts val="600"/>
              </a:spcAft>
            </a:pPr>
            <a:fld id="{CC7D8618-F20C-406E-B464-04F15D14577A}" type="slidenum">
              <a:rPr lang="en-GB" sz="1800" smtClean="0"/>
              <a:pPr>
                <a:lnSpc>
                  <a:spcPct val="90000"/>
                </a:lnSpc>
                <a:spcAft>
                  <a:spcPts val="600"/>
                </a:spcAft>
              </a:pPr>
              <a:t>9</a:t>
            </a:fld>
            <a:endParaRPr lang="en-GB" sz="1800" dirty="0"/>
          </a:p>
        </p:txBody>
      </p:sp>
      <p:sp>
        <p:nvSpPr>
          <p:cNvPr id="6" name="Text Placeholder 5">
            <a:extLst>
              <a:ext uri="{FF2B5EF4-FFF2-40B4-BE49-F238E27FC236}">
                <a16:creationId xmlns:a16="http://schemas.microsoft.com/office/drawing/2014/main" id="{365E2A91-DEF8-BB1A-AB0A-FF1891D37317}"/>
              </a:ext>
            </a:extLst>
          </p:cNvPr>
          <p:cNvSpPr>
            <a:spLocks noGrp="1"/>
          </p:cNvSpPr>
          <p:nvPr>
            <p:ph type="body" sz="quarter" idx="13"/>
          </p:nvPr>
        </p:nvSpPr>
        <p:spPr>
          <a:xfrm>
            <a:off x="1116602" y="6597962"/>
            <a:ext cx="3395577" cy="258763"/>
          </a:xfrm>
        </p:spPr>
        <p:txBody>
          <a:bodyPr vert="horz" lIns="0" tIns="45720" rIns="0" bIns="45720" rtlCol="0" anchor="ctr" anchorCtr="0">
            <a:normAutofit/>
          </a:bodyPr>
          <a:lstStyle/>
          <a:p>
            <a:pPr>
              <a:lnSpc>
                <a:spcPct val="90000"/>
              </a:lnSpc>
            </a:pPr>
            <a:r>
              <a:rPr lang="en-GB" sz="1200"/>
              <a:t>Anastasija Zubkova</a:t>
            </a:r>
            <a:endParaRPr lang="en-LV" sz="1200"/>
          </a:p>
        </p:txBody>
      </p:sp>
      <p:sp>
        <p:nvSpPr>
          <p:cNvPr id="7" name="Text Placeholder 6">
            <a:extLst>
              <a:ext uri="{FF2B5EF4-FFF2-40B4-BE49-F238E27FC236}">
                <a16:creationId xmlns:a16="http://schemas.microsoft.com/office/drawing/2014/main" id="{F66FDD02-4990-6FB5-2020-690A89B232C2}"/>
              </a:ext>
            </a:extLst>
          </p:cNvPr>
          <p:cNvSpPr>
            <a:spLocks noGrp="1"/>
          </p:cNvSpPr>
          <p:nvPr>
            <p:ph type="body" sz="quarter" idx="14"/>
          </p:nvPr>
        </p:nvSpPr>
        <p:spPr>
          <a:xfrm>
            <a:off x="1" y="2203"/>
            <a:ext cx="4571999" cy="258763"/>
          </a:xfrm>
        </p:spPr>
        <p:txBody>
          <a:bodyPr vert="horz" lIns="0" tIns="45720" rIns="0" bIns="45720" rtlCol="0" anchor="ctr" anchorCtr="0">
            <a:normAutofit/>
          </a:bodyPr>
          <a:lstStyle/>
          <a:p>
            <a:pPr>
              <a:lnSpc>
                <a:spcPct val="90000"/>
              </a:lnSpc>
            </a:pPr>
            <a:r>
              <a:rPr lang="en-LV" sz="1200"/>
              <a:t>RЕSЕАRCH DЕSIGN, DАTА АND MЕTHODS</a:t>
            </a:r>
          </a:p>
        </p:txBody>
      </p:sp>
      <p:sp>
        <p:nvSpPr>
          <p:cNvPr id="9" name="TextBox 8">
            <a:extLst>
              <a:ext uri="{FF2B5EF4-FFF2-40B4-BE49-F238E27FC236}">
                <a16:creationId xmlns:a16="http://schemas.microsoft.com/office/drawing/2014/main" id="{20DDDF29-2E67-BB20-0563-E98AE2EEB6AB}"/>
              </a:ext>
            </a:extLst>
          </p:cNvPr>
          <p:cNvSpPr txBox="1"/>
          <p:nvPr/>
        </p:nvSpPr>
        <p:spPr>
          <a:xfrm>
            <a:off x="4572000" y="2203"/>
            <a:ext cx="4571999" cy="258763"/>
          </a:xfrm>
          <a:prstGeom prst="rect">
            <a:avLst/>
          </a:prstGeom>
        </p:spPr>
        <p:txBody>
          <a:bodyPr vert="horz" lIns="0" tIns="45720" rIns="0" bIns="45720" rtlCol="0" anchor="ctr" anchorCtr="0">
            <a:normAutofit/>
          </a:bodyPr>
          <a:lstStyle/>
          <a:p>
            <a:pPr marL="222250" defTabSz="914400">
              <a:lnSpc>
                <a:spcPct val="90000"/>
              </a:lnSpc>
              <a:spcBef>
                <a:spcPts val="1200"/>
              </a:spcBef>
              <a:spcAft>
                <a:spcPts val="200"/>
              </a:spcAft>
              <a:buClr>
                <a:schemeClr val="accent1"/>
              </a:buClr>
              <a:buSzPct val="100000"/>
              <a:tabLst>
                <a:tab pos="230188" algn="l"/>
                <a:tab pos="631825" algn="l"/>
              </a:tabLst>
            </a:pPr>
            <a:endParaRPr lang="en-US" sz="1200" dirty="0">
              <a:solidFill>
                <a:schemeClr val="bg1"/>
              </a:solidFill>
              <a:highlight>
                <a:srgbClr val="2683C7"/>
              </a:highlight>
            </a:endParaRPr>
          </a:p>
        </p:txBody>
      </p:sp>
      <p:sp>
        <p:nvSpPr>
          <p:cNvPr id="16" name="TextBox 15">
            <a:extLst>
              <a:ext uri="{FF2B5EF4-FFF2-40B4-BE49-F238E27FC236}">
                <a16:creationId xmlns:a16="http://schemas.microsoft.com/office/drawing/2014/main" id="{1448F270-03B9-32CC-9CF8-189458748A5C}"/>
              </a:ext>
            </a:extLst>
          </p:cNvPr>
          <p:cNvSpPr txBox="1"/>
          <p:nvPr/>
        </p:nvSpPr>
        <p:spPr>
          <a:xfrm>
            <a:off x="5176050" y="6559863"/>
            <a:ext cx="465597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172390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9149-32EE-85B6-1598-33CA4D0A6A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B67715-AFB8-F29D-6BB4-254BED3D488B}"/>
              </a:ext>
            </a:extLst>
          </p:cNvPr>
          <p:cNvSpPr>
            <a:spLocks noGrp="1"/>
          </p:cNvSpPr>
          <p:nvPr>
            <p:ph type="title"/>
          </p:nvPr>
        </p:nvSpPr>
        <p:spPr>
          <a:xfrm>
            <a:off x="2" y="346273"/>
            <a:ext cx="9143998" cy="986719"/>
          </a:xfrm>
        </p:spPr>
        <p:txBody>
          <a:bodyPr anchor="t">
            <a:noAutofit/>
          </a:bodyPr>
          <a:lstStyle/>
          <a:p>
            <a:r>
              <a:rPr lang="en-GB" sz="4000" dirty="0"/>
              <a:t>From telecom telemetry to cooling target</a:t>
            </a:r>
            <a:endParaRPr lang="en-LV" sz="4000" dirty="0"/>
          </a:p>
        </p:txBody>
      </p:sp>
      <p:sp>
        <p:nvSpPr>
          <p:cNvPr id="7" name="Date Placeholder 6">
            <a:extLst>
              <a:ext uri="{FF2B5EF4-FFF2-40B4-BE49-F238E27FC236}">
                <a16:creationId xmlns:a16="http://schemas.microsoft.com/office/drawing/2014/main" id="{0B9043EB-596D-07AB-E73E-8D3E315658AD}"/>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r>
              <a:rPr lang="en-GB" sz="1200" dirty="0"/>
              <a:t>12-May-26</a:t>
            </a:r>
          </a:p>
        </p:txBody>
      </p:sp>
      <p:sp>
        <p:nvSpPr>
          <p:cNvPr id="8" name="Slide Number Placeholder 7">
            <a:extLst>
              <a:ext uri="{FF2B5EF4-FFF2-40B4-BE49-F238E27FC236}">
                <a16:creationId xmlns:a16="http://schemas.microsoft.com/office/drawing/2014/main" id="{91DB1573-BD2D-E6B4-8DA5-958176AE67EC}"/>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mtClean="0"/>
              <a:pPr>
                <a:lnSpc>
                  <a:spcPct val="90000"/>
                </a:lnSpc>
                <a:spcAft>
                  <a:spcPts val="600"/>
                </a:spcAft>
              </a:pPr>
              <a:t>10</a:t>
            </a:fld>
            <a:endParaRPr lang="en-GB"/>
          </a:p>
        </p:txBody>
      </p:sp>
      <p:sp>
        <p:nvSpPr>
          <p:cNvPr id="9" name="Text Placeholder 8">
            <a:extLst>
              <a:ext uri="{FF2B5EF4-FFF2-40B4-BE49-F238E27FC236}">
                <a16:creationId xmlns:a16="http://schemas.microsoft.com/office/drawing/2014/main" id="{CBE2D4B7-D710-72FC-BE29-628CFAD29AA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a:t>Anastasija Zubkova</a:t>
            </a:r>
          </a:p>
        </p:txBody>
      </p:sp>
      <p:sp>
        <p:nvSpPr>
          <p:cNvPr id="21" name="Text Placeholder 6">
            <a:extLst>
              <a:ext uri="{FF2B5EF4-FFF2-40B4-BE49-F238E27FC236}">
                <a16:creationId xmlns:a16="http://schemas.microsoft.com/office/drawing/2014/main" id="{7E2E2C44-646A-4722-17FF-21D4284FA5BC}"/>
              </a:ext>
            </a:extLst>
          </p:cNvPr>
          <p:cNvSpPr>
            <a:spLocks noGrp="1"/>
          </p:cNvSpPr>
          <p:nvPr>
            <p:ph type="body" sz="quarter" idx="14"/>
          </p:nvPr>
        </p:nvSpPr>
        <p:spPr>
          <a:xfrm>
            <a:off x="1" y="2203"/>
            <a:ext cx="4571999" cy="258763"/>
          </a:xfrm>
        </p:spPr>
        <p:txBody>
          <a:bodyPr/>
          <a:lstStyle/>
          <a:p>
            <a:r>
              <a:rPr lang="en-LV" dirty="0"/>
              <a:t>RЕSЕАRCH DЕSIGN, DАTА АND MЕTHODS</a:t>
            </a:r>
            <a:endParaRPr lang="en-US" dirty="0"/>
          </a:p>
        </p:txBody>
      </p:sp>
      <p:sp>
        <p:nvSpPr>
          <p:cNvPr id="23" name="Text Placeholder 7">
            <a:extLst>
              <a:ext uri="{FF2B5EF4-FFF2-40B4-BE49-F238E27FC236}">
                <a16:creationId xmlns:a16="http://schemas.microsoft.com/office/drawing/2014/main" id="{4FD89C38-D505-4CA9-5D9E-4A1F46D491E2}"/>
              </a:ext>
            </a:extLst>
          </p:cNvPr>
          <p:cNvSpPr>
            <a:spLocks noGrp="1"/>
          </p:cNvSpPr>
          <p:nvPr>
            <p:ph type="body" sz="quarter" idx="15"/>
          </p:nvPr>
        </p:nvSpPr>
        <p:spPr>
          <a:xfrm>
            <a:off x="4572000" y="2203"/>
            <a:ext cx="4571999" cy="258763"/>
          </a:xfrm>
        </p:spPr>
        <p:txBody>
          <a:bodyPr/>
          <a:lstStyle/>
          <a:p>
            <a:endParaRPr lang="en-US"/>
          </a:p>
        </p:txBody>
      </p:sp>
      <p:sp>
        <p:nvSpPr>
          <p:cNvPr id="3" name="TextBox 2">
            <a:extLst>
              <a:ext uri="{FF2B5EF4-FFF2-40B4-BE49-F238E27FC236}">
                <a16:creationId xmlns:a16="http://schemas.microsoft.com/office/drawing/2014/main" id="{BD309C76-0589-3627-CE17-7F8893068814}"/>
              </a:ext>
            </a:extLst>
          </p:cNvPr>
          <p:cNvSpPr txBox="1"/>
          <p:nvPr/>
        </p:nvSpPr>
        <p:spPr>
          <a:xfrm>
            <a:off x="4877753" y="6550223"/>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pic>
        <p:nvPicPr>
          <p:cNvPr id="10" name="Content Placeholder 9">
            <a:extLst>
              <a:ext uri="{FF2B5EF4-FFF2-40B4-BE49-F238E27FC236}">
                <a16:creationId xmlns:a16="http://schemas.microsoft.com/office/drawing/2014/main" id="{3E161EE1-3554-FD94-0247-F78C491D5C88}"/>
              </a:ext>
            </a:extLst>
          </p:cNvPr>
          <p:cNvPicPr>
            <a:picLocks noGrp="1" noChangeAspect="1"/>
          </p:cNvPicPr>
          <p:nvPr>
            <p:ph idx="1"/>
          </p:nvPr>
        </p:nvPicPr>
        <p:blipFill>
          <a:blip r:embed="rId3"/>
          <a:stretch>
            <a:fillRect/>
          </a:stretch>
        </p:blipFill>
        <p:spPr>
          <a:xfrm>
            <a:off x="703464" y="3429000"/>
            <a:ext cx="7737072" cy="2945443"/>
          </a:xfrm>
          <a:prstGeom prst="rect">
            <a:avLst/>
          </a:prstGeom>
        </p:spPr>
      </p:pic>
      <p:sp>
        <p:nvSpPr>
          <p:cNvPr id="12" name="Content Placeholder 2">
            <a:extLst>
              <a:ext uri="{FF2B5EF4-FFF2-40B4-BE49-F238E27FC236}">
                <a16:creationId xmlns:a16="http://schemas.microsoft.com/office/drawing/2014/main" id="{3FCE07ED-B232-8CA2-38AD-B235A63CB185}"/>
              </a:ext>
            </a:extLst>
          </p:cNvPr>
          <p:cNvSpPr txBox="1">
            <a:spLocks/>
          </p:cNvSpPr>
          <p:nvPr/>
        </p:nvSpPr>
        <p:spPr>
          <a:xfrm>
            <a:off x="365760" y="1106369"/>
            <a:ext cx="8498322" cy="2321118"/>
          </a:xfrm>
          <a:prstGeom prst="rect">
            <a:avLst/>
          </a:prstGeom>
        </p:spPr>
        <p:txBody>
          <a:bodyPr vert="horz" lIns="0" tIns="45720" rIns="0" bIns="45720" rtlCol="0">
            <a:normAutofit lnSpcReduction="10000"/>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t>Cooling demand was not directly available as a ready-made hourly variable</a:t>
            </a:r>
          </a:p>
          <a:p>
            <a:r>
              <a:rPr lang="en-GB" dirty="0"/>
              <a:t>Site screening, cumulative-signal processing, and contextual variable design produced a control-ready dataset</a:t>
            </a:r>
            <a:endParaRPr lang="en-GB" b="1" dirty="0"/>
          </a:p>
        </p:txBody>
      </p:sp>
    </p:spTree>
    <p:extLst>
      <p:ext uri="{BB962C8B-B14F-4D97-AF65-F5344CB8AC3E}">
        <p14:creationId xmlns:p14="http://schemas.microsoft.com/office/powerpoint/2010/main" val="55395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4461-E212-F0E6-DF27-2F004DF50F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E550D-31AE-4056-1347-F82BAF75F8D8}"/>
              </a:ext>
            </a:extLst>
          </p:cNvPr>
          <p:cNvSpPr>
            <a:spLocks noGrp="1"/>
          </p:cNvSpPr>
          <p:nvPr>
            <p:ph sz="half" idx="1"/>
          </p:nvPr>
        </p:nvSpPr>
        <p:spPr>
          <a:xfrm>
            <a:off x="365760" y="1106369"/>
            <a:ext cx="3739709" cy="5029200"/>
          </a:xfrm>
        </p:spPr>
        <p:txBody>
          <a:bodyPr>
            <a:normAutofit/>
          </a:bodyPr>
          <a:lstStyle/>
          <a:p>
            <a:r>
              <a:rPr lang="en-GB" dirty="0"/>
              <a:t>Models compared: naive, linear regression, RF, GB, SARIMAX, LSTM</a:t>
            </a:r>
          </a:p>
          <a:p>
            <a:r>
              <a:rPr lang="en-GB" dirty="0"/>
              <a:t>Final lag set: </a:t>
            </a:r>
            <a:r>
              <a:rPr lang="en-GB" b="1" dirty="0"/>
              <a:t>1, 2, 3, 6, 12, 24, 48, 168 hours</a:t>
            </a:r>
          </a:p>
          <a:p>
            <a:r>
              <a:rPr lang="en-GB" dirty="0"/>
              <a:t>Metrics: </a:t>
            </a:r>
            <a:r>
              <a:rPr lang="en-GB" b="1" dirty="0"/>
              <a:t>MAE, RMSE, R²</a:t>
            </a:r>
          </a:p>
          <a:p>
            <a:r>
              <a:rPr lang="en-GB" dirty="0"/>
              <a:t>Validation: </a:t>
            </a:r>
            <a:r>
              <a:rPr lang="en-GB" b="1" dirty="0"/>
              <a:t>chronological split + rolling-origin</a:t>
            </a:r>
          </a:p>
        </p:txBody>
      </p:sp>
      <p:pic>
        <p:nvPicPr>
          <p:cNvPr id="9" name="Picture 8" descr="A graph of a test&#10;&#10;AI-generated content may be incorrect.">
            <a:extLst>
              <a:ext uri="{FF2B5EF4-FFF2-40B4-BE49-F238E27FC236}">
                <a16:creationId xmlns:a16="http://schemas.microsoft.com/office/drawing/2014/main" id="{E54A2D97-2853-401A-9CED-E7541F024C75}"/>
              </a:ext>
            </a:extLst>
          </p:cNvPr>
          <p:cNvPicPr>
            <a:picLocks noChangeAspect="1"/>
          </p:cNvPicPr>
          <p:nvPr/>
        </p:nvPicPr>
        <p:blipFill>
          <a:blip r:embed="rId3"/>
          <a:stretch>
            <a:fillRect/>
          </a:stretch>
        </p:blipFill>
        <p:spPr>
          <a:xfrm>
            <a:off x="4254759" y="1960472"/>
            <a:ext cx="4706360" cy="3129729"/>
          </a:xfrm>
          <a:prstGeom prst="rect">
            <a:avLst/>
          </a:prstGeom>
          <a:noFill/>
        </p:spPr>
      </p:pic>
      <p:sp>
        <p:nvSpPr>
          <p:cNvPr id="2" name="Title 1">
            <a:extLst>
              <a:ext uri="{FF2B5EF4-FFF2-40B4-BE49-F238E27FC236}">
                <a16:creationId xmlns:a16="http://schemas.microsoft.com/office/drawing/2014/main" id="{CC49D564-37E1-B9DE-0676-260947A173DF}"/>
              </a:ext>
            </a:extLst>
          </p:cNvPr>
          <p:cNvSpPr>
            <a:spLocks noGrp="1"/>
          </p:cNvSpPr>
          <p:nvPr>
            <p:ph type="title"/>
          </p:nvPr>
        </p:nvSpPr>
        <p:spPr>
          <a:xfrm>
            <a:off x="1" y="400183"/>
            <a:ext cx="9143998" cy="986719"/>
          </a:xfrm>
        </p:spPr>
        <p:txBody>
          <a:bodyPr anchor="t">
            <a:normAutofit/>
          </a:bodyPr>
          <a:lstStyle/>
          <a:p>
            <a:r>
              <a:rPr lang="en-GB" sz="4000" dirty="0"/>
              <a:t>Forecasting and validation</a:t>
            </a:r>
            <a:endParaRPr lang="en-LV" sz="4000" dirty="0"/>
          </a:p>
        </p:txBody>
      </p:sp>
      <p:sp>
        <p:nvSpPr>
          <p:cNvPr id="18" name="Text Placeholder 4">
            <a:extLst>
              <a:ext uri="{FF2B5EF4-FFF2-40B4-BE49-F238E27FC236}">
                <a16:creationId xmlns:a16="http://schemas.microsoft.com/office/drawing/2014/main" id="{F725BB2B-17FA-BAA0-3E78-088A27673D42}"/>
              </a:ext>
            </a:extLst>
          </p:cNvPr>
          <p:cNvSpPr>
            <a:spLocks noGrp="1"/>
          </p:cNvSpPr>
          <p:nvPr>
            <p:ph type="body" sz="quarter" idx="14"/>
          </p:nvPr>
        </p:nvSpPr>
        <p:spPr>
          <a:xfrm>
            <a:off x="2" y="2203"/>
            <a:ext cx="4571998" cy="258763"/>
          </a:xfrm>
        </p:spPr>
        <p:txBody>
          <a:bodyPr/>
          <a:lstStyle/>
          <a:p>
            <a:r>
              <a:rPr lang="en-LV" dirty="0"/>
              <a:t>RЕSЕАRCH DЕSIGN, DАTА АND MЕTHODS</a:t>
            </a:r>
            <a:endParaRPr lang="en-US" dirty="0"/>
          </a:p>
        </p:txBody>
      </p:sp>
      <p:sp>
        <p:nvSpPr>
          <p:cNvPr id="20" name="Text Placeholder 5">
            <a:extLst>
              <a:ext uri="{FF2B5EF4-FFF2-40B4-BE49-F238E27FC236}">
                <a16:creationId xmlns:a16="http://schemas.microsoft.com/office/drawing/2014/main" id="{1D72BEF9-1E8C-9A28-B662-A155E334B029}"/>
              </a:ext>
            </a:extLst>
          </p:cNvPr>
          <p:cNvSpPr>
            <a:spLocks noGrp="1"/>
          </p:cNvSpPr>
          <p:nvPr>
            <p:ph type="body" sz="quarter" idx="15"/>
          </p:nvPr>
        </p:nvSpPr>
        <p:spPr>
          <a:xfrm>
            <a:off x="4572001" y="2203"/>
            <a:ext cx="4571998" cy="258763"/>
          </a:xfrm>
        </p:spPr>
        <p:txBody>
          <a:bodyPr/>
          <a:lstStyle/>
          <a:p>
            <a:endParaRPr lang="en-US"/>
          </a:p>
        </p:txBody>
      </p:sp>
      <p:sp>
        <p:nvSpPr>
          <p:cNvPr id="4" name="Date Placeholder 3">
            <a:extLst>
              <a:ext uri="{FF2B5EF4-FFF2-40B4-BE49-F238E27FC236}">
                <a16:creationId xmlns:a16="http://schemas.microsoft.com/office/drawing/2014/main" id="{8A5441D6-7FC1-C614-80FE-06DB891736E5}"/>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r>
              <a:rPr lang="en-GB" sz="1200" dirty="0"/>
              <a:t>12-May-26</a:t>
            </a:r>
          </a:p>
        </p:txBody>
      </p:sp>
      <p:sp>
        <p:nvSpPr>
          <p:cNvPr id="5" name="Slide Number Placeholder 4">
            <a:extLst>
              <a:ext uri="{FF2B5EF4-FFF2-40B4-BE49-F238E27FC236}">
                <a16:creationId xmlns:a16="http://schemas.microsoft.com/office/drawing/2014/main" id="{9F5962EB-D98D-F072-2C5C-E6461A84FC49}"/>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z="1800" smtClean="0"/>
              <a:pPr>
                <a:lnSpc>
                  <a:spcPct val="90000"/>
                </a:lnSpc>
                <a:spcAft>
                  <a:spcPts val="600"/>
                </a:spcAft>
              </a:pPr>
              <a:t>11</a:t>
            </a:fld>
            <a:endParaRPr lang="en-GB" sz="1800" dirty="0"/>
          </a:p>
        </p:txBody>
      </p:sp>
      <p:sp>
        <p:nvSpPr>
          <p:cNvPr id="6" name="Text Placeholder 5">
            <a:extLst>
              <a:ext uri="{FF2B5EF4-FFF2-40B4-BE49-F238E27FC236}">
                <a16:creationId xmlns:a16="http://schemas.microsoft.com/office/drawing/2014/main" id="{DC099B95-0E50-868C-2B9A-9019621E705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dirty="0"/>
              <a:t>Anastasija Zubkova</a:t>
            </a:r>
          </a:p>
        </p:txBody>
      </p:sp>
      <p:sp>
        <p:nvSpPr>
          <p:cNvPr id="11" name="TextBox 10">
            <a:extLst>
              <a:ext uri="{FF2B5EF4-FFF2-40B4-BE49-F238E27FC236}">
                <a16:creationId xmlns:a16="http://schemas.microsoft.com/office/drawing/2014/main" id="{B59C2DB8-5104-B633-38A8-948FD92CF925}"/>
              </a:ext>
            </a:extLst>
          </p:cNvPr>
          <p:cNvSpPr txBox="1"/>
          <p:nvPr/>
        </p:nvSpPr>
        <p:spPr>
          <a:xfrm>
            <a:off x="5394960" y="6597052"/>
            <a:ext cx="464664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331145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145F-EB99-7824-B67B-6BABB0DE6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BDF95-2A36-FC56-05A4-E1550DB0E692}"/>
              </a:ext>
            </a:extLst>
          </p:cNvPr>
          <p:cNvSpPr>
            <a:spLocks noGrp="1"/>
          </p:cNvSpPr>
          <p:nvPr>
            <p:ph type="title"/>
          </p:nvPr>
        </p:nvSpPr>
        <p:spPr>
          <a:xfrm>
            <a:off x="2" y="346273"/>
            <a:ext cx="9143998" cy="1072028"/>
          </a:xfrm>
        </p:spPr>
        <p:txBody>
          <a:bodyPr>
            <a:noAutofit/>
          </a:bodyPr>
          <a:lstStyle/>
          <a:p>
            <a:r>
              <a:rPr lang="en-GB" sz="4000" dirty="0"/>
              <a:t>Expected demand benchmark selection</a:t>
            </a:r>
            <a:endParaRPr lang="en-LV" sz="4000" dirty="0"/>
          </a:p>
        </p:txBody>
      </p:sp>
      <p:sp>
        <p:nvSpPr>
          <p:cNvPr id="3" name="Content Placeholder 2">
            <a:extLst>
              <a:ext uri="{FF2B5EF4-FFF2-40B4-BE49-F238E27FC236}">
                <a16:creationId xmlns:a16="http://schemas.microsoft.com/office/drawing/2014/main" id="{AA6D5316-08EE-2FB3-CE9F-163557D814E8}"/>
              </a:ext>
            </a:extLst>
          </p:cNvPr>
          <p:cNvSpPr>
            <a:spLocks noGrp="1"/>
          </p:cNvSpPr>
          <p:nvPr>
            <p:ph idx="1"/>
          </p:nvPr>
        </p:nvSpPr>
        <p:spPr>
          <a:xfrm>
            <a:off x="240048" y="1385695"/>
            <a:ext cx="4107286" cy="4698728"/>
          </a:xfrm>
        </p:spPr>
        <p:txBody>
          <a:bodyPr>
            <a:normAutofit/>
          </a:bodyPr>
          <a:lstStyle/>
          <a:p>
            <a:pPr>
              <a:lnSpc>
                <a:spcPct val="100000"/>
              </a:lnSpc>
            </a:pPr>
            <a:r>
              <a:rPr lang="en-GB" sz="2000" b="1" dirty="0"/>
              <a:t>Gradient Boosting + lags</a:t>
            </a:r>
          </a:p>
          <a:p>
            <a:pPr>
              <a:lnSpc>
                <a:spcPct val="100000"/>
              </a:lnSpc>
            </a:pPr>
            <a:r>
              <a:rPr lang="en-GB" sz="2000" dirty="0"/>
              <a:t>Final benchmark quality: </a:t>
            </a:r>
          </a:p>
          <a:p>
            <a:pPr lvl="1">
              <a:lnSpc>
                <a:spcPct val="100000"/>
              </a:lnSpc>
            </a:pPr>
            <a:r>
              <a:rPr lang="en-GB" sz="2000" b="1" dirty="0"/>
              <a:t>MAE = 115.06</a:t>
            </a:r>
          </a:p>
          <a:p>
            <a:pPr lvl="1">
              <a:lnSpc>
                <a:spcPct val="100000"/>
              </a:lnSpc>
            </a:pPr>
            <a:r>
              <a:rPr lang="en-GB" sz="2000" b="1" dirty="0"/>
              <a:t>RMSE = 161.79</a:t>
            </a:r>
          </a:p>
          <a:p>
            <a:pPr lvl="1">
              <a:lnSpc>
                <a:spcPct val="100000"/>
              </a:lnSpc>
            </a:pPr>
            <a:r>
              <a:rPr lang="en-GB" sz="2000" b="1" dirty="0"/>
              <a:t>R² = 0.9855</a:t>
            </a:r>
            <a:endParaRPr lang="en-LV" sz="2000" dirty="0"/>
          </a:p>
        </p:txBody>
      </p:sp>
      <p:sp>
        <p:nvSpPr>
          <p:cNvPr id="4" name="Date Placeholder 3">
            <a:extLst>
              <a:ext uri="{FF2B5EF4-FFF2-40B4-BE49-F238E27FC236}">
                <a16:creationId xmlns:a16="http://schemas.microsoft.com/office/drawing/2014/main" id="{F4A4BDCC-5BD9-E12E-F5F4-5719D5D2635C}"/>
              </a:ext>
            </a:extLst>
          </p:cNvPr>
          <p:cNvSpPr>
            <a:spLocks noGrp="1"/>
          </p:cNvSpPr>
          <p:nvPr>
            <p:ph type="dt" sz="half" idx="10"/>
          </p:nvPr>
        </p:nvSpPr>
        <p:spPr/>
        <p:txBody>
          <a:bodyPr/>
          <a:lstStyle/>
          <a:p>
            <a:r>
              <a:rPr lang="en-GB" sz="1400" dirty="0"/>
              <a:t>12-May-26</a:t>
            </a:r>
          </a:p>
        </p:txBody>
      </p:sp>
      <p:sp>
        <p:nvSpPr>
          <p:cNvPr id="5" name="Slide Number Placeholder 4">
            <a:extLst>
              <a:ext uri="{FF2B5EF4-FFF2-40B4-BE49-F238E27FC236}">
                <a16:creationId xmlns:a16="http://schemas.microsoft.com/office/drawing/2014/main" id="{8707080F-F732-7086-E602-AF0DC3B96FF5}"/>
              </a:ext>
            </a:extLst>
          </p:cNvPr>
          <p:cNvSpPr>
            <a:spLocks noGrp="1"/>
          </p:cNvSpPr>
          <p:nvPr>
            <p:ph type="sldNum" sz="quarter" idx="12"/>
          </p:nvPr>
        </p:nvSpPr>
        <p:spPr/>
        <p:txBody>
          <a:bodyPr/>
          <a:lstStyle/>
          <a:p>
            <a:fld id="{CC7D8618-F20C-406E-B464-04F15D14577A}" type="slidenum">
              <a:rPr lang="en-GB" smtClean="0"/>
              <a:pPr/>
              <a:t>12</a:t>
            </a:fld>
            <a:endParaRPr lang="en-GB" dirty="0"/>
          </a:p>
        </p:txBody>
      </p:sp>
      <p:sp>
        <p:nvSpPr>
          <p:cNvPr id="6" name="Text Placeholder 5">
            <a:extLst>
              <a:ext uri="{FF2B5EF4-FFF2-40B4-BE49-F238E27FC236}">
                <a16:creationId xmlns:a16="http://schemas.microsoft.com/office/drawing/2014/main" id="{2E4A4093-7639-7975-1997-AF2D791A63B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EF0EB281-C942-BAC2-DCC2-932586D0E0E3}"/>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AB465D15-53E0-5449-A56C-5873DA220F35}"/>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2E690512-67C6-4071-311D-EF8BA5A213B4}"/>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125710E9-6D6A-FB81-7951-EBA6F99B1A44}"/>
              </a:ext>
            </a:extLst>
          </p:cNvPr>
          <p:cNvPicPr>
            <a:picLocks noChangeAspect="1"/>
          </p:cNvPicPr>
          <p:nvPr/>
        </p:nvPicPr>
        <p:blipFill>
          <a:blip r:embed="rId3"/>
          <a:stretch>
            <a:fillRect/>
          </a:stretch>
        </p:blipFill>
        <p:spPr>
          <a:xfrm>
            <a:off x="3441370" y="1262066"/>
            <a:ext cx="5403527" cy="2679887"/>
          </a:xfrm>
          <a:prstGeom prst="rect">
            <a:avLst/>
          </a:prstGeom>
        </p:spPr>
      </p:pic>
      <p:pic>
        <p:nvPicPr>
          <p:cNvPr id="10" name="Picture 9">
            <a:extLst>
              <a:ext uri="{FF2B5EF4-FFF2-40B4-BE49-F238E27FC236}">
                <a16:creationId xmlns:a16="http://schemas.microsoft.com/office/drawing/2014/main" id="{D6D82B13-B487-39EF-5320-84F59B2A7781}"/>
              </a:ext>
            </a:extLst>
          </p:cNvPr>
          <p:cNvPicPr>
            <a:picLocks noChangeAspect="1"/>
          </p:cNvPicPr>
          <p:nvPr/>
        </p:nvPicPr>
        <p:blipFill>
          <a:blip r:embed="rId4"/>
          <a:stretch>
            <a:fillRect/>
          </a:stretch>
        </p:blipFill>
        <p:spPr>
          <a:xfrm>
            <a:off x="733929" y="3936272"/>
            <a:ext cx="7556500" cy="2476500"/>
          </a:xfrm>
          <a:prstGeom prst="rect">
            <a:avLst/>
          </a:prstGeom>
        </p:spPr>
      </p:pic>
      <p:sp>
        <p:nvSpPr>
          <p:cNvPr id="13" name="TextBox 12">
            <a:extLst>
              <a:ext uri="{FF2B5EF4-FFF2-40B4-BE49-F238E27FC236}">
                <a16:creationId xmlns:a16="http://schemas.microsoft.com/office/drawing/2014/main" id="{C3B420A1-1CBF-49C7-7315-047736375595}"/>
              </a:ext>
            </a:extLst>
          </p:cNvPr>
          <p:cNvSpPr txBox="1"/>
          <p:nvPr/>
        </p:nvSpPr>
        <p:spPr>
          <a:xfrm>
            <a:off x="5299788" y="659705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485864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969C1-1593-A0CA-B919-9D87D1EB1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D53C8-EDF7-46BF-1FF7-28A976A5C5D4}"/>
              </a:ext>
            </a:extLst>
          </p:cNvPr>
          <p:cNvSpPr>
            <a:spLocks noGrp="1"/>
          </p:cNvSpPr>
          <p:nvPr>
            <p:ph type="title"/>
          </p:nvPr>
        </p:nvSpPr>
        <p:spPr>
          <a:xfrm>
            <a:off x="2" y="346273"/>
            <a:ext cx="9143998" cy="1072028"/>
          </a:xfrm>
        </p:spPr>
        <p:txBody>
          <a:bodyPr>
            <a:normAutofit/>
          </a:bodyPr>
          <a:lstStyle/>
          <a:p>
            <a:r>
              <a:rPr lang="en-GB" sz="4000" dirty="0"/>
              <a:t>Most influential inputs in the analytical basis</a:t>
            </a:r>
          </a:p>
        </p:txBody>
      </p:sp>
      <p:sp>
        <p:nvSpPr>
          <p:cNvPr id="3" name="Content Placeholder 2">
            <a:extLst>
              <a:ext uri="{FF2B5EF4-FFF2-40B4-BE49-F238E27FC236}">
                <a16:creationId xmlns:a16="http://schemas.microsoft.com/office/drawing/2014/main" id="{9991BF5D-D1B7-06BA-7B1D-62833B067F8F}"/>
              </a:ext>
            </a:extLst>
          </p:cNvPr>
          <p:cNvSpPr>
            <a:spLocks noGrp="1"/>
          </p:cNvSpPr>
          <p:nvPr>
            <p:ph idx="1"/>
          </p:nvPr>
        </p:nvSpPr>
        <p:spPr>
          <a:xfrm>
            <a:off x="333544" y="1455671"/>
            <a:ext cx="8584996" cy="4698728"/>
          </a:xfrm>
        </p:spPr>
        <p:txBody>
          <a:bodyPr>
            <a:normAutofit/>
          </a:bodyPr>
          <a:lstStyle/>
          <a:p>
            <a:pPr>
              <a:lnSpc>
                <a:spcPct val="100000"/>
              </a:lnSpc>
            </a:pPr>
            <a:r>
              <a:rPr lang="en-GB" dirty="0"/>
              <a:t>Lagged history was the strongest predictor group</a:t>
            </a:r>
          </a:p>
          <a:p>
            <a:pPr>
              <a:lnSpc>
                <a:spcPct val="100000"/>
              </a:lnSpc>
            </a:pPr>
            <a:r>
              <a:rPr lang="en-GB" dirty="0"/>
              <a:t>Control-state design then added load proxy and thermal context for policy logic</a:t>
            </a:r>
          </a:p>
        </p:txBody>
      </p:sp>
      <p:sp>
        <p:nvSpPr>
          <p:cNvPr id="4" name="Date Placeholder 3">
            <a:extLst>
              <a:ext uri="{FF2B5EF4-FFF2-40B4-BE49-F238E27FC236}">
                <a16:creationId xmlns:a16="http://schemas.microsoft.com/office/drawing/2014/main" id="{34857148-11AE-C525-6081-476237EAC56E}"/>
              </a:ext>
            </a:extLst>
          </p:cNvPr>
          <p:cNvSpPr>
            <a:spLocks noGrp="1"/>
          </p:cNvSpPr>
          <p:nvPr>
            <p:ph type="dt" sz="half" idx="10"/>
          </p:nvPr>
        </p:nvSpPr>
        <p:spPr/>
        <p:txBody>
          <a:bodyPr/>
          <a:lstStyle/>
          <a:p>
            <a:r>
              <a:rPr lang="en-GB" sz="1400" dirty="0"/>
              <a:t>12-May-26</a:t>
            </a:r>
          </a:p>
        </p:txBody>
      </p:sp>
      <p:sp>
        <p:nvSpPr>
          <p:cNvPr id="5" name="Slide Number Placeholder 4">
            <a:extLst>
              <a:ext uri="{FF2B5EF4-FFF2-40B4-BE49-F238E27FC236}">
                <a16:creationId xmlns:a16="http://schemas.microsoft.com/office/drawing/2014/main" id="{2841A0B5-DCA7-D342-A468-909A00C24405}"/>
              </a:ext>
            </a:extLst>
          </p:cNvPr>
          <p:cNvSpPr>
            <a:spLocks noGrp="1"/>
          </p:cNvSpPr>
          <p:nvPr>
            <p:ph type="sldNum" sz="quarter" idx="12"/>
          </p:nvPr>
        </p:nvSpPr>
        <p:spPr/>
        <p:txBody>
          <a:bodyPr/>
          <a:lstStyle/>
          <a:p>
            <a:fld id="{CC7D8618-F20C-406E-B464-04F15D14577A}" type="slidenum">
              <a:rPr lang="en-GB" smtClean="0"/>
              <a:pPr/>
              <a:t>13</a:t>
            </a:fld>
            <a:endParaRPr lang="en-GB" dirty="0"/>
          </a:p>
        </p:txBody>
      </p:sp>
      <p:sp>
        <p:nvSpPr>
          <p:cNvPr id="6" name="Text Placeholder 5">
            <a:extLst>
              <a:ext uri="{FF2B5EF4-FFF2-40B4-BE49-F238E27FC236}">
                <a16:creationId xmlns:a16="http://schemas.microsoft.com/office/drawing/2014/main" id="{FBB160EE-17DE-6BB7-A24D-EBC9BA52AE1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55C5D67-B2BA-A16A-51AD-E28DD61A9CA4}"/>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725AC665-FDC3-9B5D-EA10-7A00A1FA1224}"/>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171A7363-2A73-DD8E-F199-73A42733872C}"/>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09D1D939-482E-A273-A4C9-BB9D7CE68D4C}"/>
              </a:ext>
            </a:extLst>
          </p:cNvPr>
          <p:cNvPicPr>
            <a:picLocks noChangeAspect="1"/>
          </p:cNvPicPr>
          <p:nvPr/>
        </p:nvPicPr>
        <p:blipFill>
          <a:blip r:embed="rId3"/>
          <a:stretch>
            <a:fillRect/>
          </a:stretch>
        </p:blipFill>
        <p:spPr>
          <a:xfrm>
            <a:off x="4159010" y="3429000"/>
            <a:ext cx="4850872" cy="2741797"/>
          </a:xfrm>
          <a:prstGeom prst="rect">
            <a:avLst/>
          </a:prstGeom>
        </p:spPr>
      </p:pic>
      <p:sp>
        <p:nvSpPr>
          <p:cNvPr id="14" name="TextBox 13">
            <a:extLst>
              <a:ext uri="{FF2B5EF4-FFF2-40B4-BE49-F238E27FC236}">
                <a16:creationId xmlns:a16="http://schemas.microsoft.com/office/drawing/2014/main" id="{597B2B89-0275-1DF9-BBA2-43DBBCA8F8B0}"/>
              </a:ext>
            </a:extLst>
          </p:cNvPr>
          <p:cNvSpPr txBox="1"/>
          <p:nvPr/>
        </p:nvSpPr>
        <p:spPr>
          <a:xfrm>
            <a:off x="5197152" y="6597185"/>
            <a:ext cx="468396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pic>
        <p:nvPicPr>
          <p:cNvPr id="16" name="Picture 15">
            <a:extLst>
              <a:ext uri="{FF2B5EF4-FFF2-40B4-BE49-F238E27FC236}">
                <a16:creationId xmlns:a16="http://schemas.microsoft.com/office/drawing/2014/main" id="{8C9444B5-1422-AC24-9636-B9E8830D409D}"/>
              </a:ext>
            </a:extLst>
          </p:cNvPr>
          <p:cNvPicPr>
            <a:picLocks noChangeAspect="1"/>
          </p:cNvPicPr>
          <p:nvPr/>
        </p:nvPicPr>
        <p:blipFill>
          <a:blip r:embed="rId4"/>
          <a:stretch>
            <a:fillRect/>
          </a:stretch>
        </p:blipFill>
        <p:spPr>
          <a:xfrm>
            <a:off x="225460" y="3429000"/>
            <a:ext cx="3807906" cy="2530027"/>
          </a:xfrm>
          <a:prstGeom prst="rect">
            <a:avLst/>
          </a:prstGeom>
        </p:spPr>
      </p:pic>
    </p:spTree>
    <p:extLst>
      <p:ext uri="{BB962C8B-B14F-4D97-AF65-F5344CB8AC3E}">
        <p14:creationId xmlns:p14="http://schemas.microsoft.com/office/powerpoint/2010/main" val="303967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09D2-1FEA-FC79-B6B0-66D3BE311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CAF68-C7DC-5557-1474-91F5B45B950B}"/>
              </a:ext>
            </a:extLst>
          </p:cNvPr>
          <p:cNvSpPr>
            <a:spLocks noGrp="1"/>
          </p:cNvSpPr>
          <p:nvPr>
            <p:ph type="title"/>
          </p:nvPr>
        </p:nvSpPr>
        <p:spPr>
          <a:xfrm>
            <a:off x="2" y="346273"/>
            <a:ext cx="9143998" cy="1072028"/>
          </a:xfrm>
        </p:spPr>
        <p:txBody>
          <a:bodyPr>
            <a:normAutofit/>
          </a:bodyPr>
          <a:lstStyle/>
          <a:p>
            <a:r>
              <a:rPr lang="en-GB" sz="4000" dirty="0"/>
              <a:t>Control outcome and validation</a:t>
            </a:r>
            <a:endParaRPr lang="en-LV" sz="4000" dirty="0"/>
          </a:p>
        </p:txBody>
      </p:sp>
      <p:sp>
        <p:nvSpPr>
          <p:cNvPr id="3" name="Content Placeholder 2">
            <a:extLst>
              <a:ext uri="{FF2B5EF4-FFF2-40B4-BE49-F238E27FC236}">
                <a16:creationId xmlns:a16="http://schemas.microsoft.com/office/drawing/2014/main" id="{FF1623DA-BC1E-1289-6A0C-C8A96B66379E}"/>
              </a:ext>
            </a:extLst>
          </p:cNvPr>
          <p:cNvSpPr>
            <a:spLocks noGrp="1"/>
          </p:cNvSpPr>
          <p:nvPr>
            <p:ph idx="1"/>
          </p:nvPr>
        </p:nvSpPr>
        <p:spPr>
          <a:xfrm>
            <a:off x="276028" y="1657858"/>
            <a:ext cx="8568869" cy="4698728"/>
          </a:xfrm>
        </p:spPr>
        <p:txBody>
          <a:bodyPr/>
          <a:lstStyle/>
          <a:p>
            <a:pPr marL="0" indent="0">
              <a:lnSpc>
                <a:spcPct val="100000"/>
              </a:lnSpc>
              <a:buNone/>
            </a:pPr>
            <a:endParaRPr lang="en-GB" dirty="0"/>
          </a:p>
          <a:p>
            <a:pPr>
              <a:lnSpc>
                <a:spcPct val="100000"/>
              </a:lnSpc>
            </a:pPr>
            <a:endParaRPr lang="en-GB" b="1" dirty="0"/>
          </a:p>
        </p:txBody>
      </p:sp>
      <p:sp>
        <p:nvSpPr>
          <p:cNvPr id="4" name="Date Placeholder 3">
            <a:extLst>
              <a:ext uri="{FF2B5EF4-FFF2-40B4-BE49-F238E27FC236}">
                <a16:creationId xmlns:a16="http://schemas.microsoft.com/office/drawing/2014/main" id="{C9C7BF82-E72E-0471-BFCA-78B80AE54240}"/>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D6B205A0-00D0-34A7-FEBC-486B74D90BD7}"/>
              </a:ext>
            </a:extLst>
          </p:cNvPr>
          <p:cNvSpPr>
            <a:spLocks noGrp="1"/>
          </p:cNvSpPr>
          <p:nvPr>
            <p:ph type="sldNum" sz="quarter" idx="12"/>
          </p:nvPr>
        </p:nvSpPr>
        <p:spPr/>
        <p:txBody>
          <a:bodyPr/>
          <a:lstStyle/>
          <a:p>
            <a:fld id="{CC7D8618-F20C-406E-B464-04F15D14577A}" type="slidenum">
              <a:rPr lang="en-GB" smtClean="0"/>
              <a:pPr/>
              <a:t>14</a:t>
            </a:fld>
            <a:endParaRPr lang="en-GB" dirty="0"/>
          </a:p>
        </p:txBody>
      </p:sp>
      <p:sp>
        <p:nvSpPr>
          <p:cNvPr id="6" name="Text Placeholder 5">
            <a:extLst>
              <a:ext uri="{FF2B5EF4-FFF2-40B4-BE49-F238E27FC236}">
                <a16:creationId xmlns:a16="http://schemas.microsoft.com/office/drawing/2014/main" id="{9447E2B6-7B68-5BA0-6BF9-338A9004D8F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73ABAFB-4304-E917-7026-57AC41B457A6}"/>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C8CACE77-7E10-1E1C-131E-8041F45108E4}"/>
              </a:ext>
            </a:extLst>
          </p:cNvPr>
          <p:cNvSpPr>
            <a:spLocks noGrp="1"/>
          </p:cNvSpPr>
          <p:nvPr>
            <p:ph type="body" sz="quarter" idx="15"/>
          </p:nvPr>
        </p:nvSpPr>
        <p:spPr/>
        <p:txBody>
          <a:bodyPr/>
          <a:lstStyle/>
          <a:p>
            <a:endParaRPr lang="en-LV" dirty="0"/>
          </a:p>
        </p:txBody>
      </p:sp>
      <p:sp>
        <p:nvSpPr>
          <p:cNvPr id="9" name="TextBox 8">
            <a:extLst>
              <a:ext uri="{FF2B5EF4-FFF2-40B4-BE49-F238E27FC236}">
                <a16:creationId xmlns:a16="http://schemas.microsoft.com/office/drawing/2014/main" id="{6C09D6D9-DF69-59DF-A49E-62461DDEF79A}"/>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4CCD2111-B1D3-7B2D-2C12-578A620B7A5E}"/>
              </a:ext>
            </a:extLst>
          </p:cNvPr>
          <p:cNvPicPr>
            <a:picLocks noChangeAspect="1"/>
          </p:cNvPicPr>
          <p:nvPr/>
        </p:nvPicPr>
        <p:blipFill>
          <a:blip r:embed="rId3"/>
          <a:stretch>
            <a:fillRect/>
          </a:stretch>
        </p:blipFill>
        <p:spPr>
          <a:xfrm>
            <a:off x="19966" y="3710278"/>
            <a:ext cx="9104328" cy="2773975"/>
          </a:xfrm>
          <a:prstGeom prst="rect">
            <a:avLst/>
          </a:prstGeom>
        </p:spPr>
      </p:pic>
      <p:sp>
        <p:nvSpPr>
          <p:cNvPr id="16" name="Content Placeholder 2">
            <a:extLst>
              <a:ext uri="{FF2B5EF4-FFF2-40B4-BE49-F238E27FC236}">
                <a16:creationId xmlns:a16="http://schemas.microsoft.com/office/drawing/2014/main" id="{F307CB57-2B7C-BA31-CBB2-DFED6D1C2477}"/>
              </a:ext>
            </a:extLst>
          </p:cNvPr>
          <p:cNvSpPr txBox="1">
            <a:spLocks/>
          </p:cNvSpPr>
          <p:nvPr/>
        </p:nvSpPr>
        <p:spPr>
          <a:xfrm>
            <a:off x="137737" y="1236039"/>
            <a:ext cx="3263155" cy="2699962"/>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endParaRPr lang="en-GB" sz="2000" b="1" dirty="0"/>
          </a:p>
        </p:txBody>
      </p:sp>
      <p:pic>
        <p:nvPicPr>
          <p:cNvPr id="11" name="Picture 10">
            <a:extLst>
              <a:ext uri="{FF2B5EF4-FFF2-40B4-BE49-F238E27FC236}">
                <a16:creationId xmlns:a16="http://schemas.microsoft.com/office/drawing/2014/main" id="{000C2095-2CC4-651B-C1E9-920543E9C5FE}"/>
              </a:ext>
            </a:extLst>
          </p:cNvPr>
          <p:cNvPicPr>
            <a:picLocks noChangeAspect="1"/>
          </p:cNvPicPr>
          <p:nvPr/>
        </p:nvPicPr>
        <p:blipFill>
          <a:blip r:embed="rId4"/>
          <a:stretch>
            <a:fillRect/>
          </a:stretch>
        </p:blipFill>
        <p:spPr>
          <a:xfrm>
            <a:off x="4328764" y="1092371"/>
            <a:ext cx="4795530" cy="2378350"/>
          </a:xfrm>
          <a:prstGeom prst="rect">
            <a:avLst/>
          </a:prstGeom>
        </p:spPr>
      </p:pic>
      <p:sp>
        <p:nvSpPr>
          <p:cNvPr id="12" name="Content Placeholder 2">
            <a:extLst>
              <a:ext uri="{FF2B5EF4-FFF2-40B4-BE49-F238E27FC236}">
                <a16:creationId xmlns:a16="http://schemas.microsoft.com/office/drawing/2014/main" id="{0AB7BFB9-BFCE-32B1-E46D-77B082543952}"/>
              </a:ext>
            </a:extLst>
          </p:cNvPr>
          <p:cNvSpPr txBox="1">
            <a:spLocks/>
          </p:cNvSpPr>
          <p:nvPr/>
        </p:nvSpPr>
        <p:spPr>
          <a:xfrm>
            <a:off x="221478" y="1092371"/>
            <a:ext cx="4107286" cy="4698728"/>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r>
              <a:rPr lang="en-GB" sz="2000" dirty="0"/>
              <a:t>More context led to fewer active control hours</a:t>
            </a:r>
          </a:p>
          <a:p>
            <a:pPr>
              <a:lnSpc>
                <a:spcPct val="100000"/>
              </a:lnSpc>
            </a:pPr>
            <a:r>
              <a:rPr lang="en-GB" sz="2000" dirty="0"/>
              <a:t>B0 identified 497 hours, while S3 retained only 6</a:t>
            </a:r>
          </a:p>
          <a:p>
            <a:pPr>
              <a:lnSpc>
                <a:spcPct val="100000"/>
              </a:lnSpc>
            </a:pPr>
            <a:r>
              <a:rPr lang="en-GB" sz="2000" dirty="0"/>
              <a:t>Estimated reduction fell from 0.631% in B0 to 0.010% in S3</a:t>
            </a:r>
          </a:p>
        </p:txBody>
      </p:sp>
      <p:sp>
        <p:nvSpPr>
          <p:cNvPr id="15" name="TextBox 14">
            <a:extLst>
              <a:ext uri="{FF2B5EF4-FFF2-40B4-BE49-F238E27FC236}">
                <a16:creationId xmlns:a16="http://schemas.microsoft.com/office/drawing/2014/main" id="{E553F576-F0A1-281A-52B7-1D871D2D2507}"/>
              </a:ext>
            </a:extLst>
          </p:cNvPr>
          <p:cNvSpPr txBox="1"/>
          <p:nvPr/>
        </p:nvSpPr>
        <p:spPr>
          <a:xfrm>
            <a:off x="5113176" y="6569921"/>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355245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0A1F-4BE7-1E38-26F8-86D42E9D5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B46E8-515B-A80A-3D93-1815FE8E5DF0}"/>
              </a:ext>
            </a:extLst>
          </p:cNvPr>
          <p:cNvSpPr>
            <a:spLocks noGrp="1"/>
          </p:cNvSpPr>
          <p:nvPr>
            <p:ph type="title"/>
          </p:nvPr>
        </p:nvSpPr>
        <p:spPr>
          <a:xfrm>
            <a:off x="2" y="346273"/>
            <a:ext cx="9143998" cy="1072028"/>
          </a:xfrm>
        </p:spPr>
        <p:txBody>
          <a:bodyPr>
            <a:normAutofit/>
          </a:bodyPr>
          <a:lstStyle/>
          <a:p>
            <a:r>
              <a:rPr lang="en-GB" sz="4000" dirty="0"/>
              <a:t>Example of control application</a:t>
            </a:r>
            <a:endParaRPr lang="en-LV" sz="4000" dirty="0"/>
          </a:p>
        </p:txBody>
      </p:sp>
      <p:sp>
        <p:nvSpPr>
          <p:cNvPr id="3" name="Content Placeholder 2">
            <a:extLst>
              <a:ext uri="{FF2B5EF4-FFF2-40B4-BE49-F238E27FC236}">
                <a16:creationId xmlns:a16="http://schemas.microsoft.com/office/drawing/2014/main" id="{5BA0D1B7-650C-3ECD-5AEA-712CE95E392B}"/>
              </a:ext>
            </a:extLst>
          </p:cNvPr>
          <p:cNvSpPr>
            <a:spLocks noGrp="1"/>
          </p:cNvSpPr>
          <p:nvPr>
            <p:ph idx="1"/>
          </p:nvPr>
        </p:nvSpPr>
        <p:spPr>
          <a:xfrm>
            <a:off x="261486" y="1079645"/>
            <a:ext cx="8568869" cy="4698728"/>
          </a:xfrm>
        </p:spPr>
        <p:txBody>
          <a:bodyPr>
            <a:normAutofit/>
          </a:bodyPr>
          <a:lstStyle/>
          <a:p>
            <a:pPr>
              <a:lnSpc>
                <a:spcPct val="100000"/>
              </a:lnSpc>
            </a:pPr>
            <a:r>
              <a:rPr lang="en-GB" dirty="0"/>
              <a:t>Historical cooling exceeded the expected-demand benchmark</a:t>
            </a:r>
          </a:p>
          <a:p>
            <a:pPr>
              <a:lnSpc>
                <a:spcPct val="100000"/>
              </a:lnSpc>
            </a:pPr>
            <a:r>
              <a:rPr lang="en-GB" dirty="0"/>
              <a:t>Control was applied only when eligibility conditions were met</a:t>
            </a:r>
          </a:p>
          <a:p>
            <a:pPr>
              <a:lnSpc>
                <a:spcPct val="100000"/>
              </a:lnSpc>
            </a:pPr>
            <a:r>
              <a:rPr lang="en-GB" dirty="0"/>
              <a:t>Simulated cooling was reduced in a bounded way</a:t>
            </a:r>
          </a:p>
          <a:p>
            <a:pPr>
              <a:lnSpc>
                <a:spcPct val="100000"/>
              </a:lnSpc>
            </a:pPr>
            <a:r>
              <a:rPr lang="en-GB" dirty="0"/>
              <a:t>The 24h window makes persistence and activation context visible</a:t>
            </a:r>
          </a:p>
        </p:txBody>
      </p:sp>
      <p:sp>
        <p:nvSpPr>
          <p:cNvPr id="4" name="Date Placeholder 3">
            <a:extLst>
              <a:ext uri="{FF2B5EF4-FFF2-40B4-BE49-F238E27FC236}">
                <a16:creationId xmlns:a16="http://schemas.microsoft.com/office/drawing/2014/main" id="{33D5DF33-C6E5-B852-C25E-AF1294E91B25}"/>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C415FEE0-93C9-1191-B311-5E4E5EED0AE0}"/>
              </a:ext>
            </a:extLst>
          </p:cNvPr>
          <p:cNvSpPr>
            <a:spLocks noGrp="1"/>
          </p:cNvSpPr>
          <p:nvPr>
            <p:ph type="sldNum" sz="quarter" idx="12"/>
          </p:nvPr>
        </p:nvSpPr>
        <p:spPr/>
        <p:txBody>
          <a:bodyPr/>
          <a:lstStyle/>
          <a:p>
            <a:fld id="{CC7D8618-F20C-406E-B464-04F15D14577A}" type="slidenum">
              <a:rPr lang="en-GB" smtClean="0"/>
              <a:pPr/>
              <a:t>15</a:t>
            </a:fld>
            <a:endParaRPr lang="en-GB" dirty="0"/>
          </a:p>
        </p:txBody>
      </p:sp>
      <p:sp>
        <p:nvSpPr>
          <p:cNvPr id="6" name="Text Placeholder 5">
            <a:extLst>
              <a:ext uri="{FF2B5EF4-FFF2-40B4-BE49-F238E27FC236}">
                <a16:creationId xmlns:a16="http://schemas.microsoft.com/office/drawing/2014/main" id="{0D6DFD61-7244-60D5-3295-41010771974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4D9D337-0B02-DE9A-2E3B-482F5EBA3EA5}"/>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49478B35-BE30-1B92-46B2-1AF1CC89A1A3}"/>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DE4852AE-24F9-B99F-2B2D-C82816194B7F}"/>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53CCBE4D-0391-F99A-389C-A77DCAF8657D}"/>
              </a:ext>
            </a:extLst>
          </p:cNvPr>
          <p:cNvPicPr>
            <a:picLocks noChangeAspect="1"/>
          </p:cNvPicPr>
          <p:nvPr/>
        </p:nvPicPr>
        <p:blipFill>
          <a:blip r:embed="rId3"/>
          <a:stretch>
            <a:fillRect/>
          </a:stretch>
        </p:blipFill>
        <p:spPr>
          <a:xfrm>
            <a:off x="141844" y="3359989"/>
            <a:ext cx="8740670" cy="2869412"/>
          </a:xfrm>
          <a:prstGeom prst="rect">
            <a:avLst/>
          </a:prstGeom>
        </p:spPr>
      </p:pic>
      <p:sp>
        <p:nvSpPr>
          <p:cNvPr id="13" name="TextBox 12">
            <a:extLst>
              <a:ext uri="{FF2B5EF4-FFF2-40B4-BE49-F238E27FC236}">
                <a16:creationId xmlns:a16="http://schemas.microsoft.com/office/drawing/2014/main" id="{BD2C195C-8727-3438-B011-F89AE125AF47}"/>
              </a:ext>
            </a:extLst>
          </p:cNvPr>
          <p:cNvSpPr txBox="1"/>
          <p:nvPr/>
        </p:nvSpPr>
        <p:spPr>
          <a:xfrm>
            <a:off x="5225144" y="659498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3884001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25A9-4415-BA6F-2E49-CB195ED1BFBD}"/>
              </a:ext>
            </a:extLst>
          </p:cNvPr>
          <p:cNvSpPr>
            <a:spLocks noGrp="1"/>
          </p:cNvSpPr>
          <p:nvPr>
            <p:ph type="title"/>
          </p:nvPr>
        </p:nvSpPr>
        <p:spPr/>
        <p:txBody>
          <a:bodyPr>
            <a:normAutofit/>
          </a:bodyPr>
          <a:lstStyle/>
          <a:p>
            <a:r>
              <a:rPr lang="en-GB" sz="4000" dirty="0"/>
              <a:t>Discussion and limitations</a:t>
            </a:r>
            <a:endParaRPr lang="en-LV" sz="4000" dirty="0"/>
          </a:p>
        </p:txBody>
      </p:sp>
      <p:sp>
        <p:nvSpPr>
          <p:cNvPr id="3" name="Content Placeholder 2">
            <a:extLst>
              <a:ext uri="{FF2B5EF4-FFF2-40B4-BE49-F238E27FC236}">
                <a16:creationId xmlns:a16="http://schemas.microsoft.com/office/drawing/2014/main" id="{D906F8AF-C245-4BE2-D959-01C86577CF5A}"/>
              </a:ext>
            </a:extLst>
          </p:cNvPr>
          <p:cNvSpPr>
            <a:spLocks noGrp="1"/>
          </p:cNvSpPr>
          <p:nvPr>
            <p:ph idx="1"/>
          </p:nvPr>
        </p:nvSpPr>
        <p:spPr>
          <a:xfrm>
            <a:off x="276028" y="1321278"/>
            <a:ext cx="8568869" cy="5033773"/>
          </a:xfrm>
        </p:spPr>
        <p:txBody>
          <a:bodyPr>
            <a:normAutofit/>
          </a:bodyPr>
          <a:lstStyle/>
          <a:p>
            <a:pPr marL="457200" indent="-457200">
              <a:lnSpc>
                <a:spcPct val="120000"/>
              </a:lnSpc>
              <a:buFont typeface="+mj-lt"/>
              <a:buAutoNum type="arabicPeriod"/>
            </a:pPr>
            <a:r>
              <a:rPr lang="en-GB" dirty="0"/>
              <a:t>The method found small and selective control opportunities, not large general savings</a:t>
            </a:r>
          </a:p>
          <a:p>
            <a:pPr marL="457200" indent="-457200">
              <a:lnSpc>
                <a:spcPct val="120000"/>
              </a:lnSpc>
              <a:buFont typeface="+mj-lt"/>
              <a:buAutoNum type="arabicPeriod"/>
            </a:pPr>
            <a:r>
              <a:rPr lang="en-GB" dirty="0"/>
              <a:t>The main value of the thesis is the framework which shows how control can be analysed with limited telecom data</a:t>
            </a:r>
          </a:p>
          <a:p>
            <a:pPr marL="457200" indent="-457200">
              <a:lnSpc>
                <a:spcPct val="120000"/>
              </a:lnSpc>
              <a:buFont typeface="+mj-lt"/>
              <a:buAutoNum type="arabicPeriod"/>
            </a:pPr>
            <a:r>
              <a:rPr lang="en-GB" dirty="0"/>
              <a:t>The results are based on a benchmark model, not on direct measurement of full indoor thermal conditions</a:t>
            </a:r>
          </a:p>
          <a:p>
            <a:pPr marL="457200" indent="-457200">
              <a:lnSpc>
                <a:spcPct val="120000"/>
              </a:lnSpc>
              <a:buFont typeface="+mj-lt"/>
              <a:buAutoNum type="arabicPeriod"/>
            </a:pPr>
            <a:r>
              <a:rPr lang="en-GB" dirty="0"/>
              <a:t>The study used one site and historical data only, so real-time testing is still needed</a:t>
            </a:r>
            <a:endParaRPr lang="en-LV" dirty="0"/>
          </a:p>
        </p:txBody>
      </p:sp>
      <p:sp>
        <p:nvSpPr>
          <p:cNvPr id="4" name="Date Placeholder 3">
            <a:extLst>
              <a:ext uri="{FF2B5EF4-FFF2-40B4-BE49-F238E27FC236}">
                <a16:creationId xmlns:a16="http://schemas.microsoft.com/office/drawing/2014/main" id="{BF3F36E0-E244-D992-5FE8-09A68EF466C4}"/>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BF7EAEB4-AD23-672F-25DC-115DD78A0959}"/>
              </a:ext>
            </a:extLst>
          </p:cNvPr>
          <p:cNvSpPr>
            <a:spLocks noGrp="1"/>
          </p:cNvSpPr>
          <p:nvPr>
            <p:ph type="sldNum" sz="quarter" idx="12"/>
          </p:nvPr>
        </p:nvSpPr>
        <p:spPr/>
        <p:txBody>
          <a:bodyPr/>
          <a:lstStyle/>
          <a:p>
            <a:fld id="{CC7D8618-F20C-406E-B464-04F15D14577A}" type="slidenum">
              <a:rPr lang="en-GB" smtClean="0"/>
              <a:pPr/>
              <a:t>16</a:t>
            </a:fld>
            <a:endParaRPr lang="en-GB" dirty="0"/>
          </a:p>
        </p:txBody>
      </p:sp>
      <p:sp>
        <p:nvSpPr>
          <p:cNvPr id="6" name="Text Placeholder 5">
            <a:extLst>
              <a:ext uri="{FF2B5EF4-FFF2-40B4-BE49-F238E27FC236}">
                <a16:creationId xmlns:a16="http://schemas.microsoft.com/office/drawing/2014/main" id="{2F2E4864-A0D7-688A-721B-DA6290A39ECE}"/>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DC83106-88A7-42A1-A134-3B7F72472C63}"/>
              </a:ext>
            </a:extLst>
          </p:cNvPr>
          <p:cNvSpPr>
            <a:spLocks noGrp="1"/>
          </p:cNvSpPr>
          <p:nvPr>
            <p:ph type="body" sz="quarter" idx="14"/>
          </p:nvPr>
        </p:nvSpPr>
        <p:spPr/>
        <p:txBody>
          <a:bodyPr/>
          <a:lstStyle/>
          <a:p>
            <a:r>
              <a:rPr lang="en-LV" dirty="0"/>
              <a:t>DISCUSSION</a:t>
            </a:r>
          </a:p>
        </p:txBody>
      </p:sp>
      <p:sp>
        <p:nvSpPr>
          <p:cNvPr id="8" name="Text Placeholder 7">
            <a:extLst>
              <a:ext uri="{FF2B5EF4-FFF2-40B4-BE49-F238E27FC236}">
                <a16:creationId xmlns:a16="http://schemas.microsoft.com/office/drawing/2014/main" id="{74B10B43-C74C-A55C-ED38-9EC857ECACDD}"/>
              </a:ext>
            </a:extLst>
          </p:cNvPr>
          <p:cNvSpPr>
            <a:spLocks noGrp="1"/>
          </p:cNvSpPr>
          <p:nvPr>
            <p:ph type="body" sz="quarter" idx="15"/>
          </p:nvPr>
        </p:nvSpPr>
        <p:spPr/>
        <p:txBody>
          <a:bodyPr/>
          <a:lstStyle/>
          <a:p>
            <a:endParaRPr lang="en-LV"/>
          </a:p>
        </p:txBody>
      </p:sp>
      <p:sp>
        <p:nvSpPr>
          <p:cNvPr id="12" name="TextBox 11">
            <a:extLst>
              <a:ext uri="{FF2B5EF4-FFF2-40B4-BE49-F238E27FC236}">
                <a16:creationId xmlns:a16="http://schemas.microsoft.com/office/drawing/2014/main" id="{3887A8F4-36A5-BBED-9996-347AFA4A7E76}"/>
              </a:ext>
            </a:extLst>
          </p:cNvPr>
          <p:cNvSpPr txBox="1"/>
          <p:nvPr/>
        </p:nvSpPr>
        <p:spPr>
          <a:xfrm>
            <a:off x="5094514"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4184974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7EAB-0D58-CAB9-4055-F3F47C0C7985}"/>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583DBC77-A46B-72BE-9EB2-CFE56DA12D08}"/>
              </a:ext>
            </a:extLst>
          </p:cNvPr>
          <p:cNvSpPr>
            <a:spLocks noGrp="1"/>
          </p:cNvSpPr>
          <p:nvPr>
            <p:ph idx="1"/>
          </p:nvPr>
        </p:nvSpPr>
        <p:spPr>
          <a:xfrm>
            <a:off x="276028" y="1088644"/>
            <a:ext cx="8568869" cy="5033773"/>
          </a:xfrm>
        </p:spPr>
        <p:txBody>
          <a:bodyPr>
            <a:normAutofit lnSpcReduction="10000"/>
          </a:bodyPr>
          <a:lstStyle/>
          <a:p>
            <a:pPr>
              <a:lnSpc>
                <a:spcPct val="110000"/>
              </a:lnSpc>
            </a:pPr>
            <a:r>
              <a:rPr lang="en-GB" dirty="0"/>
              <a:t>The thesis achieved its aim by showing that intelligent cooling control can be analysed in a telecom central office under real telemetry constraints</a:t>
            </a:r>
          </a:p>
          <a:p>
            <a:pPr>
              <a:lnSpc>
                <a:spcPct val="110000"/>
              </a:lnSpc>
            </a:pPr>
            <a:r>
              <a:rPr lang="en-GB" dirty="0"/>
              <a:t>In the present case, intelligent control was formulated as a bounded and context-aware analytical framework rather than as direct live control</a:t>
            </a:r>
          </a:p>
          <a:p>
            <a:pPr>
              <a:lnSpc>
                <a:spcPct val="110000"/>
              </a:lnSpc>
            </a:pPr>
            <a:r>
              <a:rPr lang="en-GB" dirty="0"/>
              <a:t>All main tasks were completed: literature review, construction of the analytical basis, expected-demand benchmark development, control-strategy design, and historical evaluation</a:t>
            </a:r>
          </a:p>
          <a:p>
            <a:pPr>
              <a:lnSpc>
                <a:spcPct val="110000"/>
              </a:lnSpc>
            </a:pPr>
            <a:r>
              <a:rPr lang="en-GB" dirty="0"/>
              <a:t>The study produced a framework linking fragmented telemetry, expected-demand benchmarking, and context-aware intelligent control assessment</a:t>
            </a:r>
            <a:endParaRPr lang="en-LV" dirty="0"/>
          </a:p>
        </p:txBody>
      </p:sp>
      <p:sp>
        <p:nvSpPr>
          <p:cNvPr id="4" name="Date Placeholder 3">
            <a:extLst>
              <a:ext uri="{FF2B5EF4-FFF2-40B4-BE49-F238E27FC236}">
                <a16:creationId xmlns:a16="http://schemas.microsoft.com/office/drawing/2014/main" id="{704243EC-36A6-8967-2963-F7A9BEBF91CA}"/>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B23F9DE6-2650-1707-1AB5-4BDBABB0A96D}"/>
              </a:ext>
            </a:extLst>
          </p:cNvPr>
          <p:cNvSpPr>
            <a:spLocks noGrp="1"/>
          </p:cNvSpPr>
          <p:nvPr>
            <p:ph type="sldNum" sz="quarter" idx="12"/>
          </p:nvPr>
        </p:nvSpPr>
        <p:spPr/>
        <p:txBody>
          <a:bodyPr/>
          <a:lstStyle/>
          <a:p>
            <a:fld id="{CC7D8618-F20C-406E-B464-04F15D14577A}" type="slidenum">
              <a:rPr lang="en-GB" smtClean="0"/>
              <a:pPr/>
              <a:t>17</a:t>
            </a:fld>
            <a:endParaRPr lang="en-GB" dirty="0"/>
          </a:p>
        </p:txBody>
      </p:sp>
      <p:sp>
        <p:nvSpPr>
          <p:cNvPr id="7" name="Text Placeholder 6">
            <a:extLst>
              <a:ext uri="{FF2B5EF4-FFF2-40B4-BE49-F238E27FC236}">
                <a16:creationId xmlns:a16="http://schemas.microsoft.com/office/drawing/2014/main" id="{27431FC5-1A00-2EBA-D193-642D8936055B}"/>
              </a:ext>
            </a:extLst>
          </p:cNvPr>
          <p:cNvSpPr>
            <a:spLocks noGrp="1"/>
          </p:cNvSpPr>
          <p:nvPr>
            <p:ph type="body" sz="quarter" idx="14"/>
          </p:nvPr>
        </p:nvSpPr>
        <p:spPr/>
        <p:txBody>
          <a:bodyPr/>
          <a:lstStyle/>
          <a:p>
            <a:r>
              <a:rPr lang="en-LV" dirty="0"/>
              <a:t>CONCLUSIONS</a:t>
            </a:r>
          </a:p>
        </p:txBody>
      </p:sp>
      <p:sp>
        <p:nvSpPr>
          <p:cNvPr id="8" name="Text Placeholder 7">
            <a:extLst>
              <a:ext uri="{FF2B5EF4-FFF2-40B4-BE49-F238E27FC236}">
                <a16:creationId xmlns:a16="http://schemas.microsoft.com/office/drawing/2014/main" id="{770E421C-65C8-A6A2-837A-2F0ABE4400FE}"/>
              </a:ext>
            </a:extLst>
          </p:cNvPr>
          <p:cNvSpPr>
            <a:spLocks noGrp="1"/>
          </p:cNvSpPr>
          <p:nvPr>
            <p:ph type="body" sz="quarter" idx="15"/>
          </p:nvPr>
        </p:nvSpPr>
        <p:spPr/>
        <p:txBody>
          <a:bodyPr/>
          <a:lstStyle/>
          <a:p>
            <a:endParaRPr lang="en-LV"/>
          </a:p>
        </p:txBody>
      </p:sp>
      <p:sp>
        <p:nvSpPr>
          <p:cNvPr id="10" name="Text Placeholder 9">
            <a:extLst>
              <a:ext uri="{FF2B5EF4-FFF2-40B4-BE49-F238E27FC236}">
                <a16:creationId xmlns:a16="http://schemas.microsoft.com/office/drawing/2014/main" id="{E4057FA9-2DC2-E4A3-2E9C-C366D47D47BD}"/>
              </a:ext>
            </a:extLst>
          </p:cNvPr>
          <p:cNvSpPr>
            <a:spLocks noGrp="1"/>
          </p:cNvSpPr>
          <p:nvPr>
            <p:ph type="body" sz="quarter" idx="13"/>
          </p:nvPr>
        </p:nvSpPr>
        <p:spPr/>
        <p:txBody>
          <a:bodyPr/>
          <a:lstStyle/>
          <a:p>
            <a:r>
              <a:rPr lang="en-GB" dirty="0"/>
              <a:t>Anastasija Zubkova</a:t>
            </a:r>
          </a:p>
        </p:txBody>
      </p:sp>
      <p:sp>
        <p:nvSpPr>
          <p:cNvPr id="12" name="TextBox 11">
            <a:extLst>
              <a:ext uri="{FF2B5EF4-FFF2-40B4-BE49-F238E27FC236}">
                <a16:creationId xmlns:a16="http://schemas.microsoft.com/office/drawing/2014/main" id="{AAF938D1-4514-FBEB-6370-31C5A7F90672}"/>
              </a:ext>
            </a:extLst>
          </p:cNvPr>
          <p:cNvSpPr txBox="1"/>
          <p:nvPr/>
        </p:nvSpPr>
        <p:spPr>
          <a:xfrm>
            <a:off x="5075854" y="658531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68016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44EF-9713-0FD5-859F-7D326A8A6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362AB-A829-D833-2030-BDC33C1A0064}"/>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F927C66B-A4C2-700E-CBEA-2E3C06B91AAD}"/>
              </a:ext>
            </a:extLst>
          </p:cNvPr>
          <p:cNvSpPr>
            <a:spLocks noGrp="1"/>
          </p:cNvSpPr>
          <p:nvPr>
            <p:ph idx="1"/>
          </p:nvPr>
        </p:nvSpPr>
        <p:spPr>
          <a:xfrm>
            <a:off x="276028" y="1201131"/>
            <a:ext cx="8568869" cy="5033773"/>
          </a:xfrm>
        </p:spPr>
        <p:txBody>
          <a:bodyPr>
            <a:normAutofit fontScale="92500" lnSpcReduction="10000"/>
          </a:bodyPr>
          <a:lstStyle/>
          <a:p>
            <a:pPr>
              <a:lnSpc>
                <a:spcPct val="110000"/>
              </a:lnSpc>
            </a:pPr>
            <a:r>
              <a:rPr lang="en-GB" b="1" dirty="0"/>
              <a:t>RQ1</a:t>
            </a:r>
            <a:r>
              <a:rPr lang="en-GB" dirty="0"/>
              <a:t>: Intelligent cooling control identified a small but defensible set of control opportunities, which became much narrower when persistence, load context, and risk-state conditions were added</a:t>
            </a:r>
          </a:p>
          <a:p>
            <a:pPr>
              <a:lnSpc>
                <a:spcPct val="110000"/>
              </a:lnSpc>
            </a:pPr>
            <a:r>
              <a:rPr lang="en-GB" b="1" dirty="0"/>
              <a:t>RQ2</a:t>
            </a:r>
            <a:r>
              <a:rPr lang="en-GB" dirty="0"/>
              <a:t>: The most reliable estimate of expected cooling demand was provided by a lagged nonlinear tree-based benchmark, with Gradient Boosting selected as the final model</a:t>
            </a:r>
          </a:p>
          <a:p>
            <a:r>
              <a:rPr lang="en-GB" b="1" dirty="0"/>
              <a:t>RQ3</a:t>
            </a:r>
            <a:r>
              <a:rPr lang="en-GB" dirty="0"/>
              <a:t>: The analytical basis depended most on the engineered cooling target, lagged demand history, and the contextual control-state variables: weather context, load proxy, and thermal context</a:t>
            </a:r>
          </a:p>
          <a:p>
            <a:pPr>
              <a:lnSpc>
                <a:spcPct val="110000"/>
              </a:lnSpc>
            </a:pPr>
            <a:r>
              <a:rPr lang="en-GB" dirty="0"/>
              <a:t>The thesis supports a benchmark-based and context-aware approach to intelligent cooling control in telecom environments</a:t>
            </a:r>
            <a:endParaRPr lang="en-LV" dirty="0"/>
          </a:p>
        </p:txBody>
      </p:sp>
      <p:sp>
        <p:nvSpPr>
          <p:cNvPr id="4" name="Date Placeholder 3">
            <a:extLst>
              <a:ext uri="{FF2B5EF4-FFF2-40B4-BE49-F238E27FC236}">
                <a16:creationId xmlns:a16="http://schemas.microsoft.com/office/drawing/2014/main" id="{DF07B70E-7902-118C-4F87-3CF7C5D9E446}"/>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8F79DFB7-B65E-27C8-96D3-C89633AB7B94}"/>
              </a:ext>
            </a:extLst>
          </p:cNvPr>
          <p:cNvSpPr>
            <a:spLocks noGrp="1"/>
          </p:cNvSpPr>
          <p:nvPr>
            <p:ph type="sldNum" sz="quarter" idx="12"/>
          </p:nvPr>
        </p:nvSpPr>
        <p:spPr/>
        <p:txBody>
          <a:bodyPr/>
          <a:lstStyle/>
          <a:p>
            <a:fld id="{CC7D8618-F20C-406E-B464-04F15D14577A}" type="slidenum">
              <a:rPr lang="en-GB" smtClean="0"/>
              <a:pPr/>
              <a:t>18</a:t>
            </a:fld>
            <a:endParaRPr lang="en-GB" dirty="0"/>
          </a:p>
        </p:txBody>
      </p:sp>
      <p:sp>
        <p:nvSpPr>
          <p:cNvPr id="6" name="Text Placeholder 5">
            <a:extLst>
              <a:ext uri="{FF2B5EF4-FFF2-40B4-BE49-F238E27FC236}">
                <a16:creationId xmlns:a16="http://schemas.microsoft.com/office/drawing/2014/main" id="{C0357886-0D64-AB34-E024-98295930B3A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7F455099-1067-7869-9C81-1CE7ABDA30A9}"/>
              </a:ext>
            </a:extLst>
          </p:cNvPr>
          <p:cNvSpPr>
            <a:spLocks noGrp="1"/>
          </p:cNvSpPr>
          <p:nvPr>
            <p:ph type="body" sz="quarter" idx="14"/>
          </p:nvPr>
        </p:nvSpPr>
        <p:spPr/>
        <p:txBody>
          <a:bodyPr/>
          <a:lstStyle/>
          <a:p>
            <a:r>
              <a:rPr lang="en-LV" dirty="0"/>
              <a:t>CONCLUSIONS</a:t>
            </a:r>
          </a:p>
        </p:txBody>
      </p:sp>
      <p:sp>
        <p:nvSpPr>
          <p:cNvPr id="8" name="Text Placeholder 7">
            <a:extLst>
              <a:ext uri="{FF2B5EF4-FFF2-40B4-BE49-F238E27FC236}">
                <a16:creationId xmlns:a16="http://schemas.microsoft.com/office/drawing/2014/main" id="{A8D4135C-3988-EE0A-0DFF-4A670B151D99}"/>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DFD657C7-320C-3021-85D1-7FC623B60C12}"/>
              </a:ext>
            </a:extLst>
          </p:cNvPr>
          <p:cNvSpPr txBox="1"/>
          <p:nvPr/>
        </p:nvSpPr>
        <p:spPr>
          <a:xfrm>
            <a:off x="5355772"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3445438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3FC5-9A2C-3B95-E4DC-0698972928DE}"/>
              </a:ext>
            </a:extLst>
          </p:cNvPr>
          <p:cNvSpPr>
            <a:spLocks noGrp="1"/>
          </p:cNvSpPr>
          <p:nvPr>
            <p:ph type="title"/>
          </p:nvPr>
        </p:nvSpPr>
        <p:spPr/>
        <p:txBody>
          <a:bodyPr/>
          <a:lstStyle/>
          <a:p>
            <a:r>
              <a:rPr lang="en-LV" dirty="0"/>
              <a:t>Thank you, any questions?</a:t>
            </a:r>
          </a:p>
        </p:txBody>
      </p:sp>
      <p:sp>
        <p:nvSpPr>
          <p:cNvPr id="3" name="Date Placeholder 2">
            <a:extLst>
              <a:ext uri="{FF2B5EF4-FFF2-40B4-BE49-F238E27FC236}">
                <a16:creationId xmlns:a16="http://schemas.microsoft.com/office/drawing/2014/main" id="{665D8CBA-3795-3C4B-0C23-48E1D2242A3E}"/>
              </a:ext>
            </a:extLst>
          </p:cNvPr>
          <p:cNvSpPr>
            <a:spLocks noGrp="1"/>
          </p:cNvSpPr>
          <p:nvPr>
            <p:ph type="dt" sz="half" idx="10"/>
          </p:nvPr>
        </p:nvSpPr>
        <p:spPr/>
        <p:txBody>
          <a:bodyPr/>
          <a:lstStyle/>
          <a:p>
            <a:r>
              <a:rPr lang="en-GB" dirty="0"/>
              <a:t>12-May-26</a:t>
            </a:r>
          </a:p>
        </p:txBody>
      </p:sp>
      <p:sp>
        <p:nvSpPr>
          <p:cNvPr id="4" name="Text Placeholder 3">
            <a:extLst>
              <a:ext uri="{FF2B5EF4-FFF2-40B4-BE49-F238E27FC236}">
                <a16:creationId xmlns:a16="http://schemas.microsoft.com/office/drawing/2014/main" id="{ACD5B63D-3E6D-A166-ED50-F6153BA0BB9B}"/>
              </a:ext>
            </a:extLst>
          </p:cNvPr>
          <p:cNvSpPr>
            <a:spLocks noGrp="1"/>
          </p:cNvSpPr>
          <p:nvPr>
            <p:ph type="body" idx="11"/>
          </p:nvPr>
        </p:nvSpPr>
        <p:spPr/>
        <p:txBody>
          <a:bodyPr/>
          <a:lstStyle/>
          <a:p>
            <a:r>
              <a:rPr lang="en-LV" dirty="0"/>
              <a:t>anastasijazubkovaa@gmail.com</a:t>
            </a:r>
          </a:p>
        </p:txBody>
      </p:sp>
      <p:sp>
        <p:nvSpPr>
          <p:cNvPr id="5" name="Text Placeholder 4">
            <a:extLst>
              <a:ext uri="{FF2B5EF4-FFF2-40B4-BE49-F238E27FC236}">
                <a16:creationId xmlns:a16="http://schemas.microsoft.com/office/drawing/2014/main" id="{C1028FA6-4E68-6F6B-264C-4BF2D0C931F7}"/>
              </a:ext>
            </a:extLst>
          </p:cNvPr>
          <p:cNvSpPr>
            <a:spLocks noGrp="1"/>
          </p:cNvSpPr>
          <p:nvPr>
            <p:ph type="body" idx="1"/>
          </p:nvPr>
        </p:nvSpPr>
        <p:spPr/>
        <p:txBody>
          <a:bodyPr>
            <a:normAutofit fontScale="92500" lnSpcReduction="10000"/>
          </a:bodyPr>
          <a:lstStyle/>
          <a:p>
            <a:r>
              <a:rPr lang="en-LV" dirty="0"/>
              <a:t>Anastasija Zubkova</a:t>
            </a:r>
          </a:p>
        </p:txBody>
      </p:sp>
      <p:sp>
        <p:nvSpPr>
          <p:cNvPr id="7" name="TextBox 6">
            <a:extLst>
              <a:ext uri="{FF2B5EF4-FFF2-40B4-BE49-F238E27FC236}">
                <a16:creationId xmlns:a16="http://schemas.microsoft.com/office/drawing/2014/main" id="{FFE15B96-1150-5DD4-8B7D-85D1D200745A}"/>
              </a:ext>
            </a:extLst>
          </p:cNvPr>
          <p:cNvSpPr txBox="1"/>
          <p:nvPr/>
        </p:nvSpPr>
        <p:spPr>
          <a:xfrm>
            <a:off x="5677211" y="6569267"/>
            <a:ext cx="459066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352015503"/>
      </p:ext>
    </p:extLst>
  </p:cSld>
  <p:clrMapOvr>
    <a:masterClrMapping/>
  </p:clrMapOvr>
</p:sld>
</file>

<file path=ppt/theme/theme1.xml><?xml version="1.0" encoding="utf-8"?>
<a:theme xmlns:a="http://schemas.openxmlformats.org/drawingml/2006/main" name="RelStat-Title">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2.xml><?xml version="1.0" encoding="utf-8"?>
<a:theme xmlns:a="http://schemas.openxmlformats.org/drawingml/2006/main" name="RelStat-Conten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3D1476-F4DE-B442-86AE-C811C716B51B}">
  <we:reference id="f5f369e5-aa35-49d7-ad7b-638152ddb008" version="1.0.0.1" store="EXCatalog" storeType="EXCatalog"/>
  <we:alternateReferences>
    <we:reference id="WA200010001" version="1.0.0.1" store="en-US" storeType="OMEX"/>
  </we:alternateReferences>
  <we:properties>
    <we:property name="claude.fileId" value="&quot;1309175e-c131-4962-9dbe-a7b7aa9b34b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Theme1</Template>
  <TotalTime>2790</TotalTime>
  <Words>3243</Words>
  <Application>Microsoft Macintosh PowerPoint</Application>
  <PresentationFormat>On-screen Show (4:3)</PresentationFormat>
  <Paragraphs>235</Paragraphs>
  <Slides>19</Slides>
  <Notes>16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Arial</vt:lpstr>
      <vt:lpstr>Calibri</vt:lpstr>
      <vt:lpstr>Calibri Light</vt:lpstr>
      <vt:lpstr>RelStat-Title</vt:lpstr>
      <vt:lpstr>RelStat-Content</vt:lpstr>
      <vt:lpstr>DATA-DRIVEN PREDICTION AND ANALYSIS OF COOLING ENERGY USE IN TELECOM CENTRAL OFFICE ENVIRONMENTS</vt:lpstr>
      <vt:lpstr>Outline</vt:lpstr>
      <vt:lpstr>Problem and motivation</vt:lpstr>
      <vt:lpstr>Research gap and literature background</vt:lpstr>
      <vt:lpstr>Research aim and objectives</vt:lpstr>
      <vt:lpstr>Research questions</vt:lpstr>
      <vt:lpstr>Object and subject of research</vt:lpstr>
      <vt:lpstr>Analytical framework</vt:lpstr>
      <vt:lpstr>Intelligent control strategy</vt:lpstr>
      <vt:lpstr>From telecom telemetry to cooling target</vt:lpstr>
      <vt:lpstr>Forecasting and validation</vt:lpstr>
      <vt:lpstr>Expected demand benchmark selection</vt:lpstr>
      <vt:lpstr>Most influential inputs in the analytical basis</vt:lpstr>
      <vt:lpstr>Control outcome and validation</vt:lpstr>
      <vt:lpstr>Example of control application</vt:lpstr>
      <vt:lpstr>Discussion and limitations</vt:lpstr>
      <vt:lpstr>Conclusions</vt:lpstr>
      <vt:lpstr>Conclusions</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Pavlyuk</dc:creator>
  <cp:lastModifiedBy>Anastasija Zubkova</cp:lastModifiedBy>
  <cp:revision>64</cp:revision>
  <dcterms:created xsi:type="dcterms:W3CDTF">2018-07-20T13:43:23Z</dcterms:created>
  <dcterms:modified xsi:type="dcterms:W3CDTF">2026-05-12T14:56:11Z</dcterms:modified>
</cp:coreProperties>
</file>